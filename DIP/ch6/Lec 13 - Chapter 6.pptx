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A0669-EB23-40DC-B208-BECF2111AFE5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63456-7C1D-47F4-B3DC-E62207DF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3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63456-7C1D-47F4-B3DC-E62207DF78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73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Chromaticity</a:t>
            </a:r>
            <a:r>
              <a:rPr lang="en-US" dirty="0"/>
              <a:t> refers to the </a:t>
            </a:r>
            <a:r>
              <a:rPr lang="en-US" i="1" dirty="0"/>
              <a:t>quality of a color independent of its brightness</a:t>
            </a:r>
            <a:r>
              <a:rPr lang="en-US" dirty="0"/>
              <a:t>. It describes </a:t>
            </a:r>
            <a:r>
              <a:rPr lang="en-US" b="1" dirty="0"/>
              <a:t>what color looks like</a:t>
            </a:r>
            <a:r>
              <a:rPr lang="en-US" dirty="0"/>
              <a:t> in terms of:</a:t>
            </a:r>
          </a:p>
          <a:p>
            <a:r>
              <a:rPr lang="en-US" b="1" dirty="0"/>
              <a:t>Hue</a:t>
            </a:r>
            <a:r>
              <a:rPr lang="en-US" dirty="0"/>
              <a:t> (red, green, blue, etc.) </a:t>
            </a:r>
          </a:p>
          <a:p>
            <a:r>
              <a:rPr lang="en-US" b="1" dirty="0"/>
              <a:t>Saturation</a:t>
            </a:r>
            <a:r>
              <a:rPr lang="en-US" dirty="0"/>
              <a:t> (how pure or intense the color is) </a:t>
            </a:r>
          </a:p>
          <a:p>
            <a:r>
              <a:rPr lang="en-US" dirty="0"/>
              <a:t>…but </a:t>
            </a:r>
            <a:r>
              <a:rPr lang="en-US" b="1" dirty="0"/>
              <a:t>not</a:t>
            </a:r>
            <a:r>
              <a:rPr lang="en-US" dirty="0"/>
              <a:t> how light or dark it 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363456-7C1D-47F4-B3DC-E62207DF78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40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65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70" dirty="0"/>
              <a:t> </a:t>
            </a:r>
            <a:r>
              <a:rPr spc="-25" dirty="0"/>
              <a:t>Ikramullah</a:t>
            </a:r>
            <a:r>
              <a:rPr spc="-35" dirty="0"/>
              <a:t> </a:t>
            </a:r>
            <a:r>
              <a:rPr spc="-10" dirty="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65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70" dirty="0"/>
              <a:t> </a:t>
            </a:r>
            <a:r>
              <a:rPr spc="-25" dirty="0"/>
              <a:t>Ikramullah</a:t>
            </a:r>
            <a:r>
              <a:rPr spc="-35" dirty="0"/>
              <a:t> </a:t>
            </a:r>
            <a:r>
              <a:rPr spc="-10" dirty="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65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70" dirty="0"/>
              <a:t> </a:t>
            </a:r>
            <a:r>
              <a:rPr spc="-25" dirty="0"/>
              <a:t>Ikramullah</a:t>
            </a:r>
            <a:r>
              <a:rPr spc="-35" dirty="0"/>
              <a:t> </a:t>
            </a:r>
            <a:r>
              <a:rPr spc="-10" dirty="0"/>
              <a:t>Khosa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65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70" dirty="0"/>
              <a:t> </a:t>
            </a:r>
            <a:r>
              <a:rPr spc="-25" dirty="0"/>
              <a:t>Ikramullah</a:t>
            </a:r>
            <a:r>
              <a:rPr spc="-35" dirty="0"/>
              <a:t> </a:t>
            </a:r>
            <a:r>
              <a:rPr spc="-10" dirty="0"/>
              <a:t>Khosa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31791" y="2034285"/>
            <a:ext cx="3327400" cy="17145"/>
          </a:xfrm>
          <a:custGeom>
            <a:avLst/>
            <a:gdLst/>
            <a:ahLst/>
            <a:cxnLst/>
            <a:rect l="l" t="t" r="r" b="b"/>
            <a:pathLst>
              <a:path w="3327400" h="17144">
                <a:moveTo>
                  <a:pt x="3326891" y="0"/>
                </a:moveTo>
                <a:lnTo>
                  <a:pt x="0" y="0"/>
                </a:lnTo>
                <a:lnTo>
                  <a:pt x="0" y="16763"/>
                </a:lnTo>
                <a:lnTo>
                  <a:pt x="3326891" y="16763"/>
                </a:lnTo>
                <a:lnTo>
                  <a:pt x="33268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65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70" dirty="0"/>
              <a:t> </a:t>
            </a:r>
            <a:r>
              <a:rPr spc="-25" dirty="0"/>
              <a:t>Ikramullah</a:t>
            </a:r>
            <a:r>
              <a:rPr spc="-35" dirty="0"/>
              <a:t> </a:t>
            </a:r>
            <a:r>
              <a:rPr spc="-10" dirty="0"/>
              <a:t>Khosa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68935"/>
            <a:ext cx="789368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77721" y="1788922"/>
            <a:ext cx="7908925" cy="3776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7961" y="6433082"/>
            <a:ext cx="3658234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65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70" dirty="0"/>
              <a:t> </a:t>
            </a:r>
            <a:r>
              <a:rPr spc="-25" dirty="0"/>
              <a:t>Ikramullah</a:t>
            </a:r>
            <a:r>
              <a:rPr spc="-35" dirty="0"/>
              <a:t> </a:t>
            </a:r>
            <a:r>
              <a:rPr spc="-10" dirty="0"/>
              <a:t>Khosa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3233" y="6433082"/>
            <a:ext cx="170815" cy="212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jpg"/><Relationship Id="rId7" Type="http://schemas.openxmlformats.org/officeDocument/2006/relationships/image" Target="../media/image46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5977" y="1302765"/>
            <a:ext cx="8481695" cy="3811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5400" spc="-290" dirty="0">
                <a:latin typeface="Trebuchet MS"/>
                <a:cs typeface="Trebuchet MS"/>
              </a:rPr>
              <a:t>Lecture</a:t>
            </a:r>
            <a:r>
              <a:rPr sz="5400" spc="-600" dirty="0">
                <a:latin typeface="Trebuchet MS"/>
                <a:cs typeface="Trebuchet MS"/>
              </a:rPr>
              <a:t> </a:t>
            </a:r>
            <a:r>
              <a:rPr sz="5400" spc="-125" dirty="0">
                <a:latin typeface="Trebuchet MS"/>
                <a:cs typeface="Trebuchet MS"/>
              </a:rPr>
              <a:t>-</a:t>
            </a:r>
            <a:r>
              <a:rPr sz="5400" spc="-570" dirty="0">
                <a:latin typeface="Trebuchet MS"/>
                <a:cs typeface="Trebuchet MS"/>
              </a:rPr>
              <a:t> </a:t>
            </a:r>
            <a:r>
              <a:rPr sz="5400" spc="-25" dirty="0">
                <a:latin typeface="Trebuchet MS"/>
                <a:cs typeface="Trebuchet MS"/>
              </a:rPr>
              <a:t>13</a:t>
            </a:r>
            <a:endParaRPr sz="54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sz="5400" b="1" spc="-235" dirty="0">
                <a:latin typeface="Trebuchet MS"/>
                <a:cs typeface="Trebuchet MS"/>
              </a:rPr>
              <a:t>Chapter</a:t>
            </a:r>
            <a:r>
              <a:rPr sz="5400" b="1" spc="-555" dirty="0">
                <a:latin typeface="Trebuchet MS"/>
                <a:cs typeface="Trebuchet MS"/>
              </a:rPr>
              <a:t> </a:t>
            </a:r>
            <a:r>
              <a:rPr sz="5400" b="1" spc="-305" dirty="0">
                <a:latin typeface="Trebuchet MS"/>
                <a:cs typeface="Trebuchet MS"/>
              </a:rPr>
              <a:t>6</a:t>
            </a:r>
            <a:endParaRPr sz="54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185"/>
              </a:spcBef>
            </a:pPr>
            <a:r>
              <a:rPr sz="5400" b="1" spc="-50" dirty="0">
                <a:solidFill>
                  <a:srgbClr val="FF0000"/>
                </a:solidFill>
                <a:latin typeface="Trebuchet MS"/>
                <a:cs typeface="Trebuchet MS"/>
              </a:rPr>
              <a:t>COLOR</a:t>
            </a:r>
            <a:r>
              <a:rPr sz="5400" b="1" spc="-5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5400" b="1" spc="-40" dirty="0">
                <a:solidFill>
                  <a:srgbClr val="00AF50"/>
                </a:solidFill>
                <a:latin typeface="Trebuchet MS"/>
                <a:cs typeface="Trebuchet MS"/>
              </a:rPr>
              <a:t>IMAGE</a:t>
            </a:r>
            <a:r>
              <a:rPr sz="5400" b="1" spc="-55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5400" b="1" spc="75" dirty="0">
                <a:solidFill>
                  <a:srgbClr val="1709CD"/>
                </a:solidFill>
                <a:latin typeface="Trebuchet MS"/>
                <a:cs typeface="Trebuchet MS"/>
              </a:rPr>
              <a:t>PROCESSING</a:t>
            </a:r>
            <a:endParaRPr sz="5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Color</a:t>
            </a:r>
            <a:r>
              <a:rPr spc="-465" dirty="0"/>
              <a:t> </a:t>
            </a:r>
            <a:r>
              <a:rPr spc="-145" dirty="0"/>
              <a:t>Fundamentals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2238" y="1133068"/>
            <a:ext cx="8619490" cy="267906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665" algn="l"/>
              </a:tabLst>
            </a:pPr>
            <a:r>
              <a:rPr sz="2300" spc="-10" dirty="0">
                <a:latin typeface="Trebuchet MS"/>
                <a:cs typeface="Trebuchet MS"/>
              </a:rPr>
              <a:t>Why</a:t>
            </a:r>
            <a:r>
              <a:rPr sz="2300" spc="-225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use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color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in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35" dirty="0">
                <a:latin typeface="Trebuchet MS"/>
                <a:cs typeface="Trebuchet MS"/>
              </a:rPr>
              <a:t>image</a:t>
            </a:r>
            <a:r>
              <a:rPr sz="2300" spc="-2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processing?</a:t>
            </a:r>
            <a:endParaRPr sz="2300" dirty="0">
              <a:latin typeface="Trebuchet MS"/>
              <a:cs typeface="Trebuchet MS"/>
            </a:endParaRPr>
          </a:p>
          <a:p>
            <a:pPr marL="697865" lvl="1" indent="-2279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865" algn="l"/>
              </a:tabLst>
            </a:pPr>
            <a:r>
              <a:rPr sz="2300" dirty="0">
                <a:latin typeface="Trebuchet MS"/>
                <a:cs typeface="Trebuchet MS"/>
              </a:rPr>
              <a:t>Color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70" dirty="0">
                <a:solidFill>
                  <a:srgbClr val="1709CD"/>
                </a:solidFill>
                <a:latin typeface="Trebuchet MS"/>
                <a:cs typeface="Trebuchet MS"/>
              </a:rPr>
              <a:t>powerful</a:t>
            </a:r>
            <a:r>
              <a:rPr sz="2300" spc="-18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1709CD"/>
                </a:solidFill>
                <a:latin typeface="Trebuchet MS"/>
                <a:cs typeface="Trebuchet MS"/>
              </a:rPr>
              <a:t>descriptor</a:t>
            </a:r>
            <a:endParaRPr sz="2300" dirty="0">
              <a:latin typeface="Trebuchet MS"/>
              <a:cs typeface="Trebuchet MS"/>
            </a:endParaRPr>
          </a:p>
          <a:p>
            <a:pPr marL="1155065" lvl="2" indent="-2279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1155065" algn="l"/>
              </a:tabLst>
            </a:pPr>
            <a:r>
              <a:rPr sz="2300" spc="-60" dirty="0">
                <a:latin typeface="Trebuchet MS"/>
                <a:cs typeface="Trebuchet MS"/>
              </a:rPr>
              <a:t>Object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70" dirty="0">
                <a:latin typeface="Trebuchet MS"/>
                <a:cs typeface="Trebuchet MS"/>
              </a:rPr>
              <a:t>identification</a:t>
            </a:r>
            <a:r>
              <a:rPr sz="2300" spc="-2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extraction</a:t>
            </a:r>
            <a:endParaRPr sz="2300" dirty="0">
              <a:latin typeface="Trebuchet MS"/>
              <a:cs typeface="Trebuchet MS"/>
            </a:endParaRPr>
          </a:p>
          <a:p>
            <a:pPr marL="1155065" lvl="2" indent="-2279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1155065" algn="l"/>
              </a:tabLst>
            </a:pPr>
            <a:r>
              <a:rPr sz="2300" spc="-110" dirty="0">
                <a:latin typeface="Trebuchet MS"/>
                <a:cs typeface="Trebuchet MS"/>
              </a:rPr>
              <a:t>E.g.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Face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60" dirty="0">
                <a:latin typeface="Trebuchet MS"/>
                <a:cs typeface="Trebuchet MS"/>
              </a:rPr>
              <a:t>detection</a:t>
            </a:r>
            <a:r>
              <a:rPr sz="2300" spc="-20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using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skin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colors</a:t>
            </a:r>
            <a:endParaRPr sz="23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545"/>
              </a:spcBef>
              <a:buFont typeface="Arial MT"/>
              <a:buChar char="•"/>
            </a:pPr>
            <a:endParaRPr sz="2300" dirty="0">
              <a:latin typeface="Trebuchet MS"/>
              <a:cs typeface="Trebuchet MS"/>
            </a:endParaRPr>
          </a:p>
          <a:p>
            <a:pPr marL="697865" lvl="1" indent="-227965">
              <a:lnSpc>
                <a:spcPct val="100000"/>
              </a:lnSpc>
              <a:buFont typeface="Arial MT"/>
              <a:buChar char="•"/>
              <a:tabLst>
                <a:tab pos="697865" algn="l"/>
              </a:tabLst>
            </a:pPr>
            <a:r>
              <a:rPr sz="2300" spc="65" dirty="0">
                <a:latin typeface="Trebuchet MS"/>
                <a:cs typeface="Trebuchet MS"/>
              </a:rPr>
              <a:t>Humans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-180" dirty="0">
                <a:latin typeface="Trebuchet MS"/>
                <a:cs typeface="Trebuchet MS"/>
              </a:rPr>
              <a:t> </a:t>
            </a:r>
            <a:r>
              <a:rPr sz="2300" spc="-10" dirty="0">
                <a:solidFill>
                  <a:srgbClr val="1709CD"/>
                </a:solidFill>
                <a:latin typeface="Trebuchet MS"/>
                <a:cs typeface="Trebuchet MS"/>
              </a:rPr>
              <a:t>detect</a:t>
            </a:r>
            <a:r>
              <a:rPr sz="2300" spc="-18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3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thousands</a:t>
            </a:r>
            <a:r>
              <a:rPr sz="2300" spc="-215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-30" dirty="0">
                <a:latin typeface="Trebuchet MS"/>
                <a:cs typeface="Trebuchet MS"/>
              </a:rPr>
              <a:t>color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shades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intensities</a:t>
            </a:r>
            <a:endParaRPr sz="2300" dirty="0">
              <a:latin typeface="Trebuchet MS"/>
              <a:cs typeface="Trebuchet MS"/>
            </a:endParaRPr>
          </a:p>
          <a:p>
            <a:pPr marL="1154430" lvl="2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154430" algn="l"/>
              </a:tabLst>
            </a:pPr>
            <a:r>
              <a:rPr sz="2300" dirty="0">
                <a:latin typeface="Trebuchet MS"/>
                <a:cs typeface="Trebuchet MS"/>
              </a:rPr>
              <a:t>Human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detect</a:t>
            </a:r>
            <a:r>
              <a:rPr sz="2300" spc="-210" dirty="0">
                <a:latin typeface="Trebuchet MS"/>
                <a:cs typeface="Trebuchet MS"/>
              </a:rPr>
              <a:t> </a:t>
            </a:r>
            <a:r>
              <a:rPr sz="2300" spc="-45" dirty="0">
                <a:latin typeface="Trebuchet MS"/>
                <a:cs typeface="Trebuchet MS"/>
              </a:rPr>
              <a:t>only</a:t>
            </a:r>
            <a:r>
              <a:rPr sz="2300" spc="-170" dirty="0">
                <a:latin typeface="Trebuchet MS"/>
                <a:cs typeface="Trebuchet MS"/>
              </a:rPr>
              <a:t> </a:t>
            </a:r>
            <a:r>
              <a:rPr sz="2300" u="sng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two</a:t>
            </a:r>
            <a:r>
              <a:rPr sz="2300" u="sng" spc="-1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300" u="sng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dozen</a:t>
            </a:r>
            <a:r>
              <a:rPr sz="2300" spc="-185" dirty="0">
                <a:latin typeface="Trebuchet MS"/>
                <a:cs typeface="Trebuchet MS"/>
              </a:rPr>
              <a:t> </a:t>
            </a:r>
            <a:r>
              <a:rPr sz="2300" spc="55" dirty="0">
                <a:latin typeface="Trebuchet MS"/>
                <a:cs typeface="Trebuchet MS"/>
              </a:rPr>
              <a:t>shades</a:t>
            </a:r>
            <a:r>
              <a:rPr sz="2300" spc="-229" dirty="0">
                <a:latin typeface="Trebuchet MS"/>
                <a:cs typeface="Trebuchet MS"/>
              </a:rPr>
              <a:t> </a:t>
            </a:r>
            <a:r>
              <a:rPr sz="2300" spc="-75" dirty="0">
                <a:latin typeface="Trebuchet MS"/>
                <a:cs typeface="Trebuchet MS"/>
              </a:rPr>
              <a:t>of</a:t>
            </a:r>
            <a:r>
              <a:rPr sz="2300" spc="-19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grays</a:t>
            </a:r>
            <a:endParaRPr sz="23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7223" y="4163567"/>
            <a:ext cx="5059680" cy="24795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267961" y="6433082"/>
            <a:ext cx="3658234" cy="188513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Color</a:t>
            </a:r>
            <a:r>
              <a:rPr spc="-465" dirty="0"/>
              <a:t> </a:t>
            </a:r>
            <a:r>
              <a:rPr spc="-145" dirty="0"/>
              <a:t>Fundamentals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2238" y="1150747"/>
            <a:ext cx="9766935" cy="31002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65" dirty="0">
                <a:latin typeface="Trebuchet MS"/>
                <a:cs typeface="Trebuchet MS"/>
              </a:rPr>
              <a:t>Two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category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color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image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processing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2800" dirty="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spc="-60" dirty="0">
                <a:solidFill>
                  <a:srgbClr val="1709CD"/>
                </a:solidFill>
                <a:latin typeface="Trebuchet MS"/>
                <a:cs typeface="Trebuchet MS"/>
              </a:rPr>
              <a:t>Full</a:t>
            </a:r>
            <a:r>
              <a:rPr sz="2400" spc="-204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1709CD"/>
                </a:solidFill>
                <a:latin typeface="Trebuchet MS"/>
                <a:cs typeface="Trebuchet MS"/>
              </a:rPr>
              <a:t>color</a:t>
            </a:r>
            <a:r>
              <a:rPr sz="2400" spc="-18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1709CD"/>
                </a:solidFill>
                <a:latin typeface="Trebuchet MS"/>
                <a:cs typeface="Trebuchet MS"/>
              </a:rPr>
              <a:t>processing</a:t>
            </a:r>
            <a:endParaRPr sz="24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3795" algn="l"/>
              </a:tabLst>
            </a:pPr>
            <a:r>
              <a:rPr sz="2000" dirty="0">
                <a:latin typeface="Trebuchet MS"/>
                <a:cs typeface="Trebuchet MS"/>
              </a:rPr>
              <a:t>Images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are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30" dirty="0">
                <a:latin typeface="Trebuchet MS"/>
                <a:cs typeface="Trebuchet MS"/>
              </a:rPr>
              <a:t>developed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from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full-</a:t>
            </a:r>
            <a:r>
              <a:rPr sz="2000" spc="-20" dirty="0">
                <a:latin typeface="Trebuchet MS"/>
                <a:cs typeface="Trebuchet MS"/>
              </a:rPr>
              <a:t>color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sensor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or</a:t>
            </a:r>
            <a:r>
              <a:rPr sz="2000" spc="-11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equipments</a:t>
            </a:r>
            <a:endParaRPr sz="2000" dirty="0">
              <a:latin typeface="Trebuchet MS"/>
              <a:cs typeface="Trebuchet MS"/>
            </a:endParaRPr>
          </a:p>
          <a:p>
            <a:pPr lvl="2">
              <a:lnSpc>
                <a:spcPct val="100000"/>
              </a:lnSpc>
              <a:spcBef>
                <a:spcPts val="950"/>
              </a:spcBef>
              <a:buFont typeface="Arial MT"/>
              <a:buChar char="•"/>
            </a:pPr>
            <a:endParaRPr sz="2000" dirty="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1709CD"/>
                </a:solidFill>
                <a:latin typeface="Trebuchet MS"/>
                <a:cs typeface="Trebuchet MS"/>
              </a:rPr>
              <a:t>Pseudo-</a:t>
            </a:r>
            <a:r>
              <a:rPr sz="2400" spc="-30" dirty="0">
                <a:solidFill>
                  <a:srgbClr val="1709CD"/>
                </a:solidFill>
                <a:latin typeface="Trebuchet MS"/>
                <a:cs typeface="Trebuchet MS"/>
              </a:rPr>
              <a:t>color</a:t>
            </a:r>
            <a:r>
              <a:rPr sz="2400" spc="-140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1709CD"/>
                </a:solidFill>
                <a:latin typeface="Trebuchet MS"/>
                <a:cs typeface="Trebuchet MS"/>
              </a:rPr>
              <a:t>processing</a:t>
            </a:r>
            <a:endParaRPr sz="24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3795" algn="l"/>
              </a:tabLst>
            </a:pPr>
            <a:r>
              <a:rPr sz="2000" spc="-25" dirty="0">
                <a:latin typeface="Trebuchet MS"/>
                <a:cs typeface="Trebuchet MS"/>
              </a:rPr>
              <a:t>In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the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past</a:t>
            </a:r>
            <a:r>
              <a:rPr sz="2000" spc="-1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decades,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color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sensors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processing</a:t>
            </a:r>
            <a:r>
              <a:rPr sz="2000" spc="-16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hardware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were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not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available</a:t>
            </a:r>
            <a:endParaRPr sz="2000" dirty="0">
              <a:latin typeface="Trebuchet MS"/>
              <a:cs typeface="Trebuchet MS"/>
            </a:endParaRPr>
          </a:p>
          <a:p>
            <a:pPr marL="1153795" lvl="2" indent="-22669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53795" algn="l"/>
              </a:tabLst>
            </a:pPr>
            <a:r>
              <a:rPr sz="2000" dirty="0">
                <a:latin typeface="Trebuchet MS"/>
                <a:cs typeface="Trebuchet MS"/>
              </a:rPr>
              <a:t>Colors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Trebuchet MS"/>
                <a:cs typeface="Trebuchet MS"/>
              </a:rPr>
              <a:t>were</a:t>
            </a:r>
            <a:r>
              <a:rPr sz="2000" u="sng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assigned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to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range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monochrome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intensities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Color</a:t>
            </a:r>
            <a:r>
              <a:rPr spc="-465" dirty="0"/>
              <a:t> </a:t>
            </a:r>
            <a:r>
              <a:rPr spc="-145" dirty="0"/>
              <a:t>Fundamentals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311" y="1267716"/>
            <a:ext cx="7113090" cy="22653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5978" y="1306605"/>
            <a:ext cx="1197706" cy="13867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6063" y="4387596"/>
            <a:ext cx="8750068" cy="22727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03960" y="4503449"/>
            <a:ext cx="1718796" cy="134706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0661" y="6445782"/>
            <a:ext cx="3630295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sz="1200" spc="-9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767676"/>
                </a:solidFill>
                <a:latin typeface="Trebuchet MS"/>
                <a:cs typeface="Trebuchet MS"/>
              </a:rPr>
              <a:t>Image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Processing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10" dirty="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sz="1200" spc="-6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sz="1200" spc="-7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sz="1200" spc="-3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Color</a:t>
            </a:r>
            <a:r>
              <a:rPr spc="-465" dirty="0"/>
              <a:t> </a:t>
            </a:r>
            <a:r>
              <a:rPr spc="-145" dirty="0"/>
              <a:t>Fundamentals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0727" y="2874272"/>
            <a:ext cx="5103838" cy="37581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2265" y="3187868"/>
            <a:ext cx="1162230" cy="131556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1472" y="1338198"/>
            <a:ext cx="85223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709CD"/>
                </a:solidFill>
                <a:latin typeface="Trebuchet MS"/>
                <a:cs typeface="Trebuchet MS"/>
              </a:rPr>
              <a:t>6~7M</a:t>
            </a:r>
            <a:r>
              <a:rPr sz="1800" spc="-9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1800" spc="55" dirty="0">
                <a:solidFill>
                  <a:srgbClr val="1709CD"/>
                </a:solidFill>
                <a:latin typeface="Trebuchet MS"/>
                <a:cs typeface="Trebuchet MS"/>
              </a:rPr>
              <a:t>Cones</a:t>
            </a:r>
            <a:r>
              <a:rPr sz="1800" spc="-114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are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sensors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the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eye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3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40" dirty="0">
                <a:latin typeface="Trebuchet MS"/>
                <a:cs typeface="Trebuchet MS"/>
              </a:rPr>
              <a:t>principal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sensing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categories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55" dirty="0">
                <a:latin typeface="Trebuchet MS"/>
                <a:cs typeface="Trebuchet MS"/>
              </a:rPr>
              <a:t>in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eyes:</a:t>
            </a:r>
            <a:r>
              <a:rPr sz="1800" spc="-15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0000"/>
                </a:solidFill>
                <a:latin typeface="Trebuchet MS"/>
                <a:cs typeface="Trebuchet MS"/>
              </a:rPr>
              <a:t>Red</a:t>
            </a:r>
            <a:r>
              <a:rPr sz="1800" spc="-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light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65%,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00AF50"/>
                </a:solidFill>
                <a:latin typeface="Trebuchet MS"/>
                <a:cs typeface="Trebuchet MS"/>
              </a:rPr>
              <a:t>green</a:t>
            </a:r>
            <a:r>
              <a:rPr sz="1800" spc="-14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light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60" dirty="0">
                <a:latin typeface="Trebuchet MS"/>
                <a:cs typeface="Trebuchet MS"/>
              </a:rPr>
              <a:t>33%,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1709CD"/>
                </a:solidFill>
                <a:latin typeface="Trebuchet MS"/>
                <a:cs typeface="Trebuchet MS"/>
              </a:rPr>
              <a:t>blue</a:t>
            </a:r>
            <a:r>
              <a:rPr sz="1800" spc="-16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latin typeface="Trebuchet MS"/>
                <a:cs typeface="Trebuchet MS"/>
              </a:rPr>
              <a:t>light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170" dirty="0">
                <a:latin typeface="Trebuchet MS"/>
                <a:cs typeface="Trebuchet MS"/>
              </a:rPr>
              <a:t>2%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67961" y="6423761"/>
            <a:ext cx="3658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sz="1200" spc="-9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767676"/>
                </a:solidFill>
                <a:latin typeface="Trebuchet MS"/>
                <a:cs typeface="Trebuchet MS"/>
              </a:rPr>
              <a:t>Image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Processing</a:t>
            </a:r>
            <a:r>
              <a:rPr sz="1200" spc="-7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10" dirty="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sz="1200" spc="-6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sz="1200" spc="-3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68633" y="6423761"/>
            <a:ext cx="1073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Color</a:t>
            </a:r>
            <a:r>
              <a:rPr spc="-465" dirty="0"/>
              <a:t> </a:t>
            </a:r>
            <a:r>
              <a:rPr spc="-145" dirty="0"/>
              <a:t>Fundamentals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4580" y="1293622"/>
            <a:ext cx="7569834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color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human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perceive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object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=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spc="-105" dirty="0">
                <a:latin typeface="Trebuchet MS"/>
                <a:cs typeface="Trebuchet MS"/>
              </a:rPr>
              <a:t>light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1709CD"/>
                </a:solidFill>
                <a:latin typeface="Trebuchet MS"/>
                <a:cs typeface="Trebuchet MS"/>
              </a:rPr>
              <a:t>reflected</a:t>
            </a:r>
            <a:r>
              <a:rPr sz="2800" spc="-22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from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object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49077" y="2999041"/>
            <a:ext cx="2854960" cy="1833880"/>
            <a:chOff x="4049077" y="2999041"/>
            <a:chExt cx="2854960" cy="1833880"/>
          </a:xfrm>
        </p:grpSpPr>
        <p:sp>
          <p:nvSpPr>
            <p:cNvPr id="7" name="object 7"/>
            <p:cNvSpPr/>
            <p:nvPr/>
          </p:nvSpPr>
          <p:spPr>
            <a:xfrm>
              <a:off x="4053840" y="3003804"/>
              <a:ext cx="1685925" cy="1676400"/>
            </a:xfrm>
            <a:custGeom>
              <a:avLst/>
              <a:gdLst/>
              <a:ahLst/>
              <a:cxnLst/>
              <a:rect l="l" t="t" r="r" b="b"/>
              <a:pathLst>
                <a:path w="1685925" h="1676400">
                  <a:moveTo>
                    <a:pt x="533400" y="838200"/>
                  </a:moveTo>
                  <a:lnTo>
                    <a:pt x="536368" y="790404"/>
                  </a:lnTo>
                  <a:lnTo>
                    <a:pt x="545034" y="744381"/>
                  </a:lnTo>
                  <a:lnTo>
                    <a:pt x="559043" y="700488"/>
                  </a:lnTo>
                  <a:lnTo>
                    <a:pt x="578036" y="659081"/>
                  </a:lnTo>
                  <a:lnTo>
                    <a:pt x="601657" y="620518"/>
                  </a:lnTo>
                  <a:lnTo>
                    <a:pt x="629549" y="585155"/>
                  </a:lnTo>
                  <a:lnTo>
                    <a:pt x="661355" y="553349"/>
                  </a:lnTo>
                  <a:lnTo>
                    <a:pt x="696718" y="525457"/>
                  </a:lnTo>
                  <a:lnTo>
                    <a:pt x="735281" y="501836"/>
                  </a:lnTo>
                  <a:lnTo>
                    <a:pt x="776688" y="482843"/>
                  </a:lnTo>
                  <a:lnTo>
                    <a:pt x="820581" y="468834"/>
                  </a:lnTo>
                  <a:lnTo>
                    <a:pt x="866604" y="460168"/>
                  </a:lnTo>
                  <a:lnTo>
                    <a:pt x="914400" y="457200"/>
                  </a:lnTo>
                  <a:lnTo>
                    <a:pt x="962195" y="460168"/>
                  </a:lnTo>
                  <a:lnTo>
                    <a:pt x="1008218" y="468834"/>
                  </a:lnTo>
                  <a:lnTo>
                    <a:pt x="1052111" y="482843"/>
                  </a:lnTo>
                  <a:lnTo>
                    <a:pt x="1093518" y="501836"/>
                  </a:lnTo>
                  <a:lnTo>
                    <a:pt x="1132081" y="525457"/>
                  </a:lnTo>
                  <a:lnTo>
                    <a:pt x="1167444" y="553349"/>
                  </a:lnTo>
                  <a:lnTo>
                    <a:pt x="1199250" y="585155"/>
                  </a:lnTo>
                  <a:lnTo>
                    <a:pt x="1227142" y="620518"/>
                  </a:lnTo>
                  <a:lnTo>
                    <a:pt x="1250763" y="659081"/>
                  </a:lnTo>
                  <a:lnTo>
                    <a:pt x="1269756" y="700488"/>
                  </a:lnTo>
                  <a:lnTo>
                    <a:pt x="1283765" y="744381"/>
                  </a:lnTo>
                  <a:lnTo>
                    <a:pt x="1292431" y="790404"/>
                  </a:lnTo>
                  <a:lnTo>
                    <a:pt x="1295400" y="838200"/>
                  </a:lnTo>
                  <a:lnTo>
                    <a:pt x="1292431" y="885995"/>
                  </a:lnTo>
                  <a:lnTo>
                    <a:pt x="1283765" y="932018"/>
                  </a:lnTo>
                  <a:lnTo>
                    <a:pt x="1269756" y="975911"/>
                  </a:lnTo>
                  <a:lnTo>
                    <a:pt x="1250763" y="1017318"/>
                  </a:lnTo>
                  <a:lnTo>
                    <a:pt x="1227142" y="1055881"/>
                  </a:lnTo>
                  <a:lnTo>
                    <a:pt x="1199250" y="1091244"/>
                  </a:lnTo>
                  <a:lnTo>
                    <a:pt x="1167444" y="1123050"/>
                  </a:lnTo>
                  <a:lnTo>
                    <a:pt x="1132081" y="1150942"/>
                  </a:lnTo>
                  <a:lnTo>
                    <a:pt x="1093518" y="1174563"/>
                  </a:lnTo>
                  <a:lnTo>
                    <a:pt x="1052111" y="1193556"/>
                  </a:lnTo>
                  <a:lnTo>
                    <a:pt x="1008218" y="1207565"/>
                  </a:lnTo>
                  <a:lnTo>
                    <a:pt x="962195" y="1216231"/>
                  </a:lnTo>
                  <a:lnTo>
                    <a:pt x="914400" y="1219200"/>
                  </a:lnTo>
                  <a:lnTo>
                    <a:pt x="866604" y="1216231"/>
                  </a:lnTo>
                  <a:lnTo>
                    <a:pt x="820581" y="1207565"/>
                  </a:lnTo>
                  <a:lnTo>
                    <a:pt x="776688" y="1193556"/>
                  </a:lnTo>
                  <a:lnTo>
                    <a:pt x="735281" y="1174563"/>
                  </a:lnTo>
                  <a:lnTo>
                    <a:pt x="696718" y="1150942"/>
                  </a:lnTo>
                  <a:lnTo>
                    <a:pt x="661355" y="1123050"/>
                  </a:lnTo>
                  <a:lnTo>
                    <a:pt x="629549" y="1091244"/>
                  </a:lnTo>
                  <a:lnTo>
                    <a:pt x="601657" y="1055881"/>
                  </a:lnTo>
                  <a:lnTo>
                    <a:pt x="578036" y="1017318"/>
                  </a:lnTo>
                  <a:lnTo>
                    <a:pt x="559043" y="975911"/>
                  </a:lnTo>
                  <a:lnTo>
                    <a:pt x="545034" y="932018"/>
                  </a:lnTo>
                  <a:lnTo>
                    <a:pt x="536368" y="885995"/>
                  </a:lnTo>
                  <a:lnTo>
                    <a:pt x="533400" y="838200"/>
                  </a:lnTo>
                  <a:close/>
                </a:path>
                <a:path w="1685925" h="1676400">
                  <a:moveTo>
                    <a:pt x="1210056" y="609600"/>
                  </a:moveTo>
                  <a:lnTo>
                    <a:pt x="1600200" y="304800"/>
                  </a:lnTo>
                </a:path>
                <a:path w="1685925" h="1676400">
                  <a:moveTo>
                    <a:pt x="1295400" y="896112"/>
                  </a:moveTo>
                  <a:lnTo>
                    <a:pt x="1685544" y="932688"/>
                  </a:lnTo>
                </a:path>
                <a:path w="1685925" h="1676400">
                  <a:moveTo>
                    <a:pt x="1196339" y="1103376"/>
                  </a:moveTo>
                  <a:lnTo>
                    <a:pt x="1519427" y="1470660"/>
                  </a:lnTo>
                </a:path>
                <a:path w="1685925" h="1676400">
                  <a:moveTo>
                    <a:pt x="928115" y="1219200"/>
                  </a:moveTo>
                  <a:lnTo>
                    <a:pt x="928115" y="1676400"/>
                  </a:lnTo>
                </a:path>
                <a:path w="1685925" h="1676400">
                  <a:moveTo>
                    <a:pt x="623315" y="1106424"/>
                  </a:moveTo>
                  <a:lnTo>
                    <a:pt x="300227" y="1371600"/>
                  </a:lnTo>
                </a:path>
                <a:path w="1685925" h="1676400">
                  <a:moveTo>
                    <a:pt x="533400" y="762000"/>
                  </a:moveTo>
                  <a:lnTo>
                    <a:pt x="0" y="685800"/>
                  </a:lnTo>
                </a:path>
                <a:path w="1685925" h="1676400">
                  <a:moveTo>
                    <a:pt x="661415" y="533400"/>
                  </a:moveTo>
                  <a:lnTo>
                    <a:pt x="304800" y="228600"/>
                  </a:lnTo>
                </a:path>
                <a:path w="1685925" h="1676400">
                  <a:moveTo>
                    <a:pt x="928115" y="455675"/>
                  </a:moveTo>
                  <a:lnTo>
                    <a:pt x="9144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57672" y="4217416"/>
              <a:ext cx="1146175" cy="615315"/>
            </a:xfrm>
            <a:custGeom>
              <a:avLst/>
              <a:gdLst/>
              <a:ahLst/>
              <a:cxnLst/>
              <a:rect l="l" t="t" r="r" b="b"/>
              <a:pathLst>
                <a:path w="1146175" h="615314">
                  <a:moveTo>
                    <a:pt x="1075783" y="584952"/>
                  </a:moveTo>
                  <a:lnTo>
                    <a:pt x="1060830" y="612901"/>
                  </a:lnTo>
                  <a:lnTo>
                    <a:pt x="1146048" y="615187"/>
                  </a:lnTo>
                  <a:lnTo>
                    <a:pt x="1128841" y="590930"/>
                  </a:lnTo>
                  <a:lnTo>
                    <a:pt x="1086993" y="590930"/>
                  </a:lnTo>
                  <a:lnTo>
                    <a:pt x="1075783" y="584952"/>
                  </a:lnTo>
                  <a:close/>
                </a:path>
                <a:path w="1146175" h="615314">
                  <a:moveTo>
                    <a:pt x="1081760" y="573779"/>
                  </a:moveTo>
                  <a:lnTo>
                    <a:pt x="1075783" y="584952"/>
                  </a:lnTo>
                  <a:lnTo>
                    <a:pt x="1086993" y="590930"/>
                  </a:lnTo>
                  <a:lnTo>
                    <a:pt x="1092961" y="579754"/>
                  </a:lnTo>
                  <a:lnTo>
                    <a:pt x="1081760" y="573779"/>
                  </a:lnTo>
                  <a:close/>
                </a:path>
                <a:path w="1146175" h="615314">
                  <a:moveTo>
                    <a:pt x="1096772" y="545718"/>
                  </a:moveTo>
                  <a:lnTo>
                    <a:pt x="1081760" y="573779"/>
                  </a:lnTo>
                  <a:lnTo>
                    <a:pt x="1092961" y="579754"/>
                  </a:lnTo>
                  <a:lnTo>
                    <a:pt x="1086993" y="590930"/>
                  </a:lnTo>
                  <a:lnTo>
                    <a:pt x="1128841" y="590930"/>
                  </a:lnTo>
                  <a:lnTo>
                    <a:pt x="1096772" y="545718"/>
                  </a:lnTo>
                  <a:close/>
                </a:path>
                <a:path w="1146175" h="615314">
                  <a:moveTo>
                    <a:pt x="6095" y="0"/>
                  </a:moveTo>
                  <a:lnTo>
                    <a:pt x="0" y="11175"/>
                  </a:lnTo>
                  <a:lnTo>
                    <a:pt x="1075783" y="584952"/>
                  </a:lnTo>
                  <a:lnTo>
                    <a:pt x="1081760" y="573779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4580" y="3721430"/>
            <a:ext cx="2590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Illumination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source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6716" y="4069148"/>
            <a:ext cx="1489265" cy="16868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272019" y="3450463"/>
            <a:ext cx="791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scene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04082" y="5195696"/>
            <a:ext cx="3128645" cy="735965"/>
          </a:xfrm>
          <a:custGeom>
            <a:avLst/>
            <a:gdLst/>
            <a:ahLst/>
            <a:cxnLst/>
            <a:rect l="l" t="t" r="r" b="b"/>
            <a:pathLst>
              <a:path w="3128645" h="735964">
                <a:moveTo>
                  <a:pt x="99440" y="624141"/>
                </a:moveTo>
                <a:lnTo>
                  <a:pt x="0" y="704468"/>
                </a:lnTo>
                <a:lnTo>
                  <a:pt x="123951" y="735787"/>
                </a:lnTo>
                <a:lnTo>
                  <a:pt x="116677" y="702652"/>
                </a:lnTo>
                <a:lnTo>
                  <a:pt x="97154" y="702652"/>
                </a:lnTo>
                <a:lnTo>
                  <a:pt x="94360" y="690244"/>
                </a:lnTo>
                <a:lnTo>
                  <a:pt x="113052" y="686142"/>
                </a:lnTo>
                <a:lnTo>
                  <a:pt x="111232" y="677849"/>
                </a:lnTo>
                <a:lnTo>
                  <a:pt x="91693" y="677849"/>
                </a:lnTo>
                <a:lnTo>
                  <a:pt x="88900" y="665441"/>
                </a:lnTo>
                <a:lnTo>
                  <a:pt x="107606" y="661335"/>
                </a:lnTo>
                <a:lnTo>
                  <a:pt x="99440" y="624141"/>
                </a:lnTo>
                <a:close/>
              </a:path>
              <a:path w="3128645" h="735964">
                <a:moveTo>
                  <a:pt x="113052" y="686142"/>
                </a:moveTo>
                <a:lnTo>
                  <a:pt x="94360" y="690244"/>
                </a:lnTo>
                <a:lnTo>
                  <a:pt x="97154" y="702652"/>
                </a:lnTo>
                <a:lnTo>
                  <a:pt x="115780" y="698564"/>
                </a:lnTo>
                <a:lnTo>
                  <a:pt x="113052" y="686142"/>
                </a:lnTo>
                <a:close/>
              </a:path>
              <a:path w="3128645" h="735964">
                <a:moveTo>
                  <a:pt x="115780" y="698564"/>
                </a:moveTo>
                <a:lnTo>
                  <a:pt x="97154" y="702652"/>
                </a:lnTo>
                <a:lnTo>
                  <a:pt x="116677" y="702652"/>
                </a:lnTo>
                <a:lnTo>
                  <a:pt x="115780" y="698564"/>
                </a:lnTo>
                <a:close/>
              </a:path>
              <a:path w="3128645" h="735964">
                <a:moveTo>
                  <a:pt x="3125596" y="24891"/>
                </a:moveTo>
                <a:lnTo>
                  <a:pt x="113052" y="686142"/>
                </a:lnTo>
                <a:lnTo>
                  <a:pt x="115780" y="698564"/>
                </a:lnTo>
                <a:lnTo>
                  <a:pt x="3128264" y="37337"/>
                </a:lnTo>
                <a:lnTo>
                  <a:pt x="3125596" y="24891"/>
                </a:lnTo>
                <a:close/>
              </a:path>
              <a:path w="3128645" h="735964">
                <a:moveTo>
                  <a:pt x="107606" y="661335"/>
                </a:moveTo>
                <a:lnTo>
                  <a:pt x="88900" y="665441"/>
                </a:lnTo>
                <a:lnTo>
                  <a:pt x="91693" y="677849"/>
                </a:lnTo>
                <a:lnTo>
                  <a:pt x="110333" y="673757"/>
                </a:lnTo>
                <a:lnTo>
                  <a:pt x="107606" y="661335"/>
                </a:lnTo>
                <a:close/>
              </a:path>
              <a:path w="3128645" h="735964">
                <a:moveTo>
                  <a:pt x="110333" y="673757"/>
                </a:moveTo>
                <a:lnTo>
                  <a:pt x="91693" y="677849"/>
                </a:lnTo>
                <a:lnTo>
                  <a:pt x="111232" y="677849"/>
                </a:lnTo>
                <a:lnTo>
                  <a:pt x="110333" y="673757"/>
                </a:lnTo>
                <a:close/>
              </a:path>
              <a:path w="3128645" h="735964">
                <a:moveTo>
                  <a:pt x="3120136" y="0"/>
                </a:moveTo>
                <a:lnTo>
                  <a:pt x="107606" y="661335"/>
                </a:lnTo>
                <a:lnTo>
                  <a:pt x="110333" y="673757"/>
                </a:lnTo>
                <a:lnTo>
                  <a:pt x="3122802" y="12445"/>
                </a:lnTo>
                <a:lnTo>
                  <a:pt x="31201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61965" y="5660237"/>
            <a:ext cx="12712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reflection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58439" y="5670803"/>
            <a:ext cx="914400" cy="609600"/>
          </a:xfrm>
          <a:custGeom>
            <a:avLst/>
            <a:gdLst/>
            <a:ahLst/>
            <a:cxnLst/>
            <a:rect l="l" t="t" r="r" b="b"/>
            <a:pathLst>
              <a:path w="914400" h="609600">
                <a:moveTo>
                  <a:pt x="533400" y="0"/>
                </a:moveTo>
                <a:lnTo>
                  <a:pt x="76200" y="609600"/>
                </a:lnTo>
              </a:path>
              <a:path w="914400" h="609600">
                <a:moveTo>
                  <a:pt x="0" y="609600"/>
                </a:moveTo>
                <a:lnTo>
                  <a:pt x="914400" y="609600"/>
                </a:lnTo>
              </a:path>
              <a:path w="914400" h="609600">
                <a:moveTo>
                  <a:pt x="304800" y="304800"/>
                </a:moveTo>
                <a:lnTo>
                  <a:pt x="357835" y="312724"/>
                </a:lnTo>
                <a:lnTo>
                  <a:pt x="409041" y="322478"/>
                </a:lnTo>
                <a:lnTo>
                  <a:pt x="456590" y="335889"/>
                </a:lnTo>
                <a:lnTo>
                  <a:pt x="498652" y="354787"/>
                </a:lnTo>
                <a:lnTo>
                  <a:pt x="533400" y="381000"/>
                </a:lnTo>
                <a:lnTo>
                  <a:pt x="559612" y="415747"/>
                </a:lnTo>
                <a:lnTo>
                  <a:pt x="578510" y="457809"/>
                </a:lnTo>
                <a:lnTo>
                  <a:pt x="591921" y="505358"/>
                </a:lnTo>
                <a:lnTo>
                  <a:pt x="601675" y="556564"/>
                </a:lnTo>
                <a:lnTo>
                  <a:pt x="60960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99233" y="5932119"/>
            <a:ext cx="495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eye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32511"/>
            <a:ext cx="953198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50" dirty="0"/>
              <a:t>Primary</a:t>
            </a:r>
            <a:r>
              <a:rPr spc="-480" dirty="0"/>
              <a:t> </a:t>
            </a:r>
            <a:r>
              <a:rPr spc="-110" dirty="0"/>
              <a:t>colors</a:t>
            </a:r>
            <a:r>
              <a:rPr spc="-450" dirty="0"/>
              <a:t> </a:t>
            </a:r>
            <a:r>
              <a:rPr spc="-265" dirty="0"/>
              <a:t>of</a:t>
            </a:r>
            <a:r>
              <a:rPr spc="-470" dirty="0"/>
              <a:t> </a:t>
            </a:r>
            <a:r>
              <a:rPr spc="-290" dirty="0"/>
              <a:t>light</a:t>
            </a:r>
            <a:r>
              <a:rPr spc="-434" dirty="0"/>
              <a:t> </a:t>
            </a:r>
            <a:r>
              <a:rPr spc="-215" dirty="0">
                <a:solidFill>
                  <a:srgbClr val="1709CD"/>
                </a:solidFill>
              </a:rPr>
              <a:t>vs.</a:t>
            </a:r>
            <a:r>
              <a:rPr spc="-455" dirty="0">
                <a:solidFill>
                  <a:srgbClr val="1709CD"/>
                </a:solidFill>
              </a:rPr>
              <a:t> </a:t>
            </a:r>
            <a:r>
              <a:rPr spc="-260" dirty="0"/>
              <a:t>primary</a:t>
            </a:r>
            <a:r>
              <a:rPr spc="-475" dirty="0"/>
              <a:t> </a:t>
            </a:r>
            <a:r>
              <a:rPr spc="-110" dirty="0"/>
              <a:t>colors</a:t>
            </a:r>
            <a:r>
              <a:rPr spc="-470" dirty="0"/>
              <a:t> </a:t>
            </a:r>
            <a:r>
              <a:rPr spc="-290" dirty="0"/>
              <a:t>of </a:t>
            </a:r>
            <a:r>
              <a:rPr spc="-70" dirty="0"/>
              <a:t>pigments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490" y="1919452"/>
            <a:ext cx="5211445" cy="125095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39395" indent="-226695" algn="just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60" dirty="0">
                <a:latin typeface="Trebuchet MS"/>
                <a:cs typeface="Trebuchet MS"/>
              </a:rPr>
              <a:t>Primary</a:t>
            </a:r>
            <a:r>
              <a:rPr sz="2000" spc="-18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color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of</a:t>
            </a:r>
            <a:r>
              <a:rPr sz="2000" spc="-1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pigments</a:t>
            </a:r>
            <a:endParaRPr sz="2000" dirty="0">
              <a:latin typeface="Trebuchet MS"/>
              <a:cs typeface="Trebuchet MS"/>
            </a:endParaRPr>
          </a:p>
          <a:p>
            <a:pPr marL="696595" marR="5080" lvl="1" indent="-226695" algn="just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spc="5" dirty="0">
                <a:latin typeface="Trebuchet MS"/>
                <a:cs typeface="Trebuchet MS"/>
              </a:rPr>
              <a:t>Color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that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subtracts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or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35" dirty="0">
                <a:latin typeface="Trebuchet MS"/>
                <a:cs typeface="Trebuchet MS"/>
              </a:rPr>
              <a:t>absorbs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10" dirty="0">
                <a:latin typeface="Trebuchet MS"/>
                <a:cs typeface="Trebuchet MS"/>
              </a:rPr>
              <a:t>a</a:t>
            </a:r>
            <a:r>
              <a:rPr sz="2000" spc="-19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primary</a:t>
            </a:r>
            <a:r>
              <a:rPr sz="2000" spc="-55" dirty="0">
                <a:latin typeface="Trebuchet MS"/>
                <a:cs typeface="Trebuchet MS"/>
              </a:rPr>
              <a:t> 	</a:t>
            </a:r>
            <a:r>
              <a:rPr sz="2000" spc="-15" dirty="0">
                <a:latin typeface="Trebuchet MS"/>
                <a:cs typeface="Trebuchet MS"/>
              </a:rPr>
              <a:t>color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of</a:t>
            </a:r>
            <a:r>
              <a:rPr sz="2000" spc="-204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light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10" dirty="0">
                <a:latin typeface="Trebuchet MS"/>
                <a:cs typeface="Trebuchet MS"/>
              </a:rPr>
              <a:t>and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reflects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or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transmits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the</a:t>
            </a:r>
            <a:r>
              <a:rPr sz="2000" spc="-40" dirty="0">
                <a:latin typeface="Trebuchet MS"/>
                <a:cs typeface="Trebuchet MS"/>
              </a:rPr>
              <a:t> 	</a:t>
            </a:r>
            <a:r>
              <a:rPr sz="2000" spc="-55" dirty="0">
                <a:latin typeface="Trebuchet MS"/>
                <a:cs typeface="Trebuchet MS"/>
              </a:rPr>
              <a:t>other</a:t>
            </a:r>
            <a:r>
              <a:rPr sz="2000" spc="-200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two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112" y="4412742"/>
            <a:ext cx="1399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Color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10" dirty="0">
                <a:latin typeface="Tahoma"/>
                <a:cs typeface="Tahoma"/>
              </a:rPr>
              <a:t> light: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5946" y="4412742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8897" y="4412742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2822" y="4412742"/>
            <a:ext cx="160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B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34009" y="5382656"/>
          <a:ext cx="5832472" cy="549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955">
                <a:tc>
                  <a:txBody>
                    <a:bodyPr/>
                    <a:lstStyle/>
                    <a:p>
                      <a:pPr marL="31750">
                        <a:lnSpc>
                          <a:spcPts val="206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Color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 pigments: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6375" algn="r">
                        <a:lnSpc>
                          <a:spcPts val="206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absorb</a:t>
                      </a:r>
                      <a:r>
                        <a:rPr sz="1800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R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ts val="206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absorb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G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7804" algn="ctr">
                        <a:lnSpc>
                          <a:spcPts val="206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absorb</a:t>
                      </a:r>
                      <a:r>
                        <a:rPr sz="1800" spc="-50" dirty="0">
                          <a:latin typeface="Tahoma"/>
                          <a:cs typeface="Tahoma"/>
                        </a:rPr>
                        <a:t> 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5904" algn="r">
                        <a:lnSpc>
                          <a:spcPts val="2070"/>
                        </a:lnSpc>
                      </a:pPr>
                      <a:r>
                        <a:rPr sz="1800" spc="-20" dirty="0">
                          <a:solidFill>
                            <a:srgbClr val="1709CD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yan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1709CD"/>
                          </a:solidFill>
                          <a:latin typeface="Tahoma"/>
                          <a:cs typeface="Tahoma"/>
                        </a:rPr>
                        <a:t>M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agenta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075" algn="ctr">
                        <a:lnSpc>
                          <a:spcPts val="2070"/>
                        </a:lnSpc>
                      </a:pPr>
                      <a:r>
                        <a:rPr sz="1800" spc="-10" dirty="0">
                          <a:solidFill>
                            <a:srgbClr val="1709CD"/>
                          </a:solidFill>
                          <a:latin typeface="Tahoma"/>
                          <a:cs typeface="Tahoma"/>
                        </a:rPr>
                        <a:t>Y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ellow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279647" y="4748784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31750" y="457200"/>
                </a:moveTo>
                <a:lnTo>
                  <a:pt x="0" y="457200"/>
                </a:lnTo>
                <a:lnTo>
                  <a:pt x="38100" y="533400"/>
                </a:lnTo>
                <a:lnTo>
                  <a:pt x="69850" y="469900"/>
                </a:lnTo>
                <a:lnTo>
                  <a:pt x="31750" y="469900"/>
                </a:lnTo>
                <a:lnTo>
                  <a:pt x="31750" y="457200"/>
                </a:lnTo>
                <a:close/>
              </a:path>
              <a:path w="76200" h="533400">
                <a:moveTo>
                  <a:pt x="44450" y="0"/>
                </a:moveTo>
                <a:lnTo>
                  <a:pt x="31750" y="0"/>
                </a:lnTo>
                <a:lnTo>
                  <a:pt x="31750" y="469900"/>
                </a:lnTo>
                <a:lnTo>
                  <a:pt x="44450" y="469900"/>
                </a:lnTo>
                <a:lnTo>
                  <a:pt x="44450" y="0"/>
                </a:lnTo>
                <a:close/>
              </a:path>
              <a:path w="76200" h="533400">
                <a:moveTo>
                  <a:pt x="76200" y="457200"/>
                </a:moveTo>
                <a:lnTo>
                  <a:pt x="44450" y="457200"/>
                </a:lnTo>
                <a:lnTo>
                  <a:pt x="44450" y="469900"/>
                </a:lnTo>
                <a:lnTo>
                  <a:pt x="69850" y="469900"/>
                </a:lnTo>
                <a:lnTo>
                  <a:pt x="76200" y="45720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86655" y="4748784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31750" y="457200"/>
                </a:moveTo>
                <a:lnTo>
                  <a:pt x="0" y="457200"/>
                </a:lnTo>
                <a:lnTo>
                  <a:pt x="38100" y="533400"/>
                </a:lnTo>
                <a:lnTo>
                  <a:pt x="69850" y="469900"/>
                </a:lnTo>
                <a:lnTo>
                  <a:pt x="31750" y="469900"/>
                </a:lnTo>
                <a:lnTo>
                  <a:pt x="31750" y="457200"/>
                </a:lnTo>
                <a:close/>
              </a:path>
              <a:path w="76200" h="533400">
                <a:moveTo>
                  <a:pt x="44450" y="0"/>
                </a:moveTo>
                <a:lnTo>
                  <a:pt x="31750" y="0"/>
                </a:lnTo>
                <a:lnTo>
                  <a:pt x="31750" y="469900"/>
                </a:lnTo>
                <a:lnTo>
                  <a:pt x="44450" y="469900"/>
                </a:lnTo>
                <a:lnTo>
                  <a:pt x="44450" y="0"/>
                </a:lnTo>
                <a:close/>
              </a:path>
              <a:path w="76200" h="533400">
                <a:moveTo>
                  <a:pt x="76200" y="457200"/>
                </a:moveTo>
                <a:lnTo>
                  <a:pt x="44450" y="457200"/>
                </a:lnTo>
                <a:lnTo>
                  <a:pt x="44450" y="469900"/>
                </a:lnTo>
                <a:lnTo>
                  <a:pt x="69850" y="469900"/>
                </a:lnTo>
                <a:lnTo>
                  <a:pt x="76200" y="45720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95188" y="4748784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31750" y="457200"/>
                </a:moveTo>
                <a:lnTo>
                  <a:pt x="0" y="457200"/>
                </a:lnTo>
                <a:lnTo>
                  <a:pt x="38100" y="533400"/>
                </a:lnTo>
                <a:lnTo>
                  <a:pt x="69850" y="469900"/>
                </a:lnTo>
                <a:lnTo>
                  <a:pt x="31750" y="469900"/>
                </a:lnTo>
                <a:lnTo>
                  <a:pt x="31750" y="457200"/>
                </a:lnTo>
                <a:close/>
              </a:path>
              <a:path w="76200" h="533400">
                <a:moveTo>
                  <a:pt x="44450" y="0"/>
                </a:moveTo>
                <a:lnTo>
                  <a:pt x="31750" y="0"/>
                </a:lnTo>
                <a:lnTo>
                  <a:pt x="31750" y="469900"/>
                </a:lnTo>
                <a:lnTo>
                  <a:pt x="44450" y="469900"/>
                </a:lnTo>
                <a:lnTo>
                  <a:pt x="44450" y="0"/>
                </a:lnTo>
                <a:close/>
              </a:path>
              <a:path w="76200" h="533400">
                <a:moveTo>
                  <a:pt x="76200" y="457200"/>
                </a:moveTo>
                <a:lnTo>
                  <a:pt x="44450" y="457200"/>
                </a:lnTo>
                <a:lnTo>
                  <a:pt x="44450" y="469900"/>
                </a:lnTo>
                <a:lnTo>
                  <a:pt x="69850" y="469900"/>
                </a:lnTo>
                <a:lnTo>
                  <a:pt x="76200" y="45720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267961" y="6423761"/>
            <a:ext cx="3658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sz="1200" spc="-9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767676"/>
                </a:solidFill>
                <a:latin typeface="Trebuchet MS"/>
                <a:cs typeface="Trebuchet MS"/>
              </a:rPr>
              <a:t>Image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Processing</a:t>
            </a:r>
            <a:r>
              <a:rPr sz="1200" spc="-7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10" dirty="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sz="1200" spc="-6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sz="1200" spc="-3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0735" y="931238"/>
            <a:ext cx="1458378" cy="23655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7394" y="871727"/>
            <a:ext cx="3705489" cy="56499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Chromaticity</a:t>
            </a:r>
            <a:r>
              <a:rPr spc="-405" dirty="0"/>
              <a:t> </a:t>
            </a:r>
            <a:r>
              <a:rPr spc="-165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0661" y="6445782"/>
            <a:ext cx="3632835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sz="1200" spc="-9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767676"/>
                </a:solidFill>
                <a:latin typeface="Trebuchet MS"/>
                <a:cs typeface="Trebuchet MS"/>
              </a:rPr>
              <a:t>Image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Processing</a:t>
            </a:r>
            <a:r>
              <a:rPr sz="1200" spc="-7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10" dirty="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sz="1200" spc="-6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sz="1200" spc="-3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61556" y="460102"/>
            <a:ext cx="4182495" cy="57014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200" y="4506646"/>
            <a:ext cx="1523129" cy="17085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8993" y="2076450"/>
            <a:ext cx="2963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1709CD"/>
                </a:solidFill>
                <a:latin typeface="Trebuchet MS"/>
                <a:cs typeface="Trebuchet MS"/>
              </a:rPr>
              <a:t>Normalized</a:t>
            </a:r>
            <a:r>
              <a:rPr sz="1800" spc="-12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1709CD"/>
                </a:solidFill>
                <a:latin typeface="Trebuchet MS"/>
                <a:cs typeface="Trebuchet MS"/>
              </a:rPr>
              <a:t>tristimulus</a:t>
            </a:r>
            <a:r>
              <a:rPr sz="1800" spc="-110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1709CD"/>
                </a:solidFill>
                <a:latin typeface="Trebuchet MS"/>
                <a:cs typeface="Trebuchet MS"/>
              </a:rPr>
              <a:t>values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5926" y="2892204"/>
            <a:ext cx="778510" cy="0"/>
          </a:xfrm>
          <a:custGeom>
            <a:avLst/>
            <a:gdLst/>
            <a:ahLst/>
            <a:cxnLst/>
            <a:rect l="l" t="t" r="r" b="b"/>
            <a:pathLst>
              <a:path w="778510">
                <a:moveTo>
                  <a:pt x="0" y="0"/>
                </a:moveTo>
                <a:lnTo>
                  <a:pt x="778024" y="0"/>
                </a:lnTo>
              </a:path>
            </a:pathLst>
          </a:custGeom>
          <a:ln w="8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7593" y="2614427"/>
            <a:ext cx="14414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spc="-50" dirty="0">
                <a:latin typeface="Times New Roman"/>
                <a:cs typeface="Times New Roman"/>
              </a:rPr>
              <a:t>X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340" y="2735379"/>
            <a:ext cx="26416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latin typeface="Times New Roman"/>
                <a:cs typeface="Times New Roman"/>
              </a:rPr>
              <a:t>x</a:t>
            </a:r>
            <a:r>
              <a:rPr sz="1500" i="1" spc="-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Symbol"/>
                <a:cs typeface="Symbol"/>
              </a:rPr>
              <a:t>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0532" y="3474372"/>
            <a:ext cx="785495" cy="0"/>
          </a:xfrm>
          <a:custGeom>
            <a:avLst/>
            <a:gdLst/>
            <a:ahLst/>
            <a:cxnLst/>
            <a:rect l="l" t="t" r="r" b="b"/>
            <a:pathLst>
              <a:path w="785494">
                <a:moveTo>
                  <a:pt x="0" y="0"/>
                </a:moveTo>
                <a:lnTo>
                  <a:pt x="785030" y="0"/>
                </a:lnTo>
              </a:path>
            </a:pathLst>
          </a:custGeom>
          <a:ln w="8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1105" y="2803834"/>
            <a:ext cx="748030" cy="648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 marR="5080" indent="-309880">
              <a:lnSpc>
                <a:spcPct val="136300"/>
              </a:lnSpc>
              <a:spcBef>
                <a:spcPts val="95"/>
              </a:spcBef>
            </a:pPr>
            <a:r>
              <a:rPr sz="1500" i="1" dirty="0">
                <a:latin typeface="Times New Roman"/>
                <a:cs typeface="Times New Roman"/>
              </a:rPr>
              <a:t>X</a:t>
            </a:r>
            <a:r>
              <a:rPr sz="1500" i="1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Symbol"/>
                <a:cs typeface="Symbol"/>
              </a:rPr>
              <a:t></a:t>
            </a:r>
            <a:r>
              <a:rPr sz="1500" spc="-200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Y</a:t>
            </a:r>
            <a:r>
              <a:rPr sz="1500" i="1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Symbol"/>
                <a:cs typeface="Symbol"/>
              </a:rPr>
              <a:t>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i="1" spc="-50" dirty="0">
                <a:latin typeface="Times New Roman"/>
                <a:cs typeface="Times New Roman"/>
              </a:rPr>
              <a:t>Z Y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5957" y="3412881"/>
            <a:ext cx="753110" cy="5994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1500" i="1" dirty="0">
                <a:latin typeface="Times New Roman"/>
                <a:cs typeface="Times New Roman"/>
              </a:rPr>
              <a:t>X</a:t>
            </a:r>
            <a:r>
              <a:rPr sz="1500" i="1" spc="1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Symbol"/>
                <a:cs typeface="Symbol"/>
              </a:rPr>
              <a:t></a:t>
            </a:r>
            <a:r>
              <a:rPr sz="1500" spc="-180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Y</a:t>
            </a:r>
            <a:r>
              <a:rPr sz="1500" i="1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Symbol"/>
                <a:cs typeface="Symbol"/>
              </a:rPr>
              <a:t>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i="1" spc="-50" dirty="0">
                <a:latin typeface="Times New Roman"/>
                <a:cs typeface="Times New Roman"/>
              </a:rPr>
              <a:t>Z</a:t>
            </a:r>
            <a:endParaRPr sz="1500" dirty="0">
              <a:latin typeface="Times New Roman"/>
              <a:cs typeface="Times New Roman"/>
            </a:endParaRPr>
          </a:p>
          <a:p>
            <a:pPr marR="63500" algn="ctr">
              <a:lnSpc>
                <a:spcPct val="100000"/>
              </a:lnSpc>
              <a:spcBef>
                <a:spcPts val="470"/>
              </a:spcBef>
            </a:pPr>
            <a:r>
              <a:rPr sz="1500" i="1" spc="-50" dirty="0">
                <a:latin typeface="Times New Roman"/>
                <a:cs typeface="Times New Roman"/>
              </a:rPr>
              <a:t>Z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787" y="3317547"/>
            <a:ext cx="267335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i="1" dirty="0">
                <a:latin typeface="Times New Roman"/>
                <a:cs typeface="Times New Roman"/>
              </a:rPr>
              <a:t>y</a:t>
            </a:r>
            <a:r>
              <a:rPr sz="1500" i="1" spc="2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Symbol"/>
                <a:cs typeface="Symbol"/>
              </a:rPr>
              <a:t>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7614" y="4034543"/>
            <a:ext cx="789940" cy="0"/>
          </a:xfrm>
          <a:custGeom>
            <a:avLst/>
            <a:gdLst/>
            <a:ahLst/>
            <a:cxnLst/>
            <a:rect l="l" t="t" r="r" b="b"/>
            <a:pathLst>
              <a:path w="789940">
                <a:moveTo>
                  <a:pt x="0" y="0"/>
                </a:moveTo>
                <a:lnTo>
                  <a:pt x="789834" y="0"/>
                </a:lnTo>
              </a:path>
            </a:pathLst>
          </a:custGeom>
          <a:ln w="81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3203" y="4027455"/>
            <a:ext cx="7588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dirty="0">
                <a:latin typeface="Times New Roman"/>
                <a:cs typeface="Times New Roman"/>
              </a:rPr>
              <a:t>X</a:t>
            </a:r>
            <a:r>
              <a:rPr sz="1500" i="1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Symbol"/>
                <a:cs typeface="Symbol"/>
              </a:rPr>
              <a:t></a:t>
            </a:r>
            <a:r>
              <a:rPr sz="1500" spc="-190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Y</a:t>
            </a:r>
            <a:r>
              <a:rPr sz="1500" i="1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Symbol"/>
                <a:cs typeface="Symbol"/>
              </a:rPr>
              <a:t>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i="1" spc="-50" dirty="0">
                <a:latin typeface="Times New Roman"/>
                <a:cs typeface="Times New Roman"/>
              </a:rPr>
              <a:t>Z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133" y="3875516"/>
            <a:ext cx="26162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i="1" dirty="0">
                <a:latin typeface="Times New Roman"/>
                <a:cs typeface="Times New Roman"/>
              </a:rPr>
              <a:t>z</a:t>
            </a:r>
            <a:r>
              <a:rPr sz="1500" i="1" spc="3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Symbol"/>
                <a:cs typeface="Symbol"/>
              </a:rPr>
              <a:t>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793" y="4792167"/>
            <a:ext cx="30873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x+y+z=1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140" dirty="0">
                <a:latin typeface="Trebuchet MS"/>
                <a:cs typeface="Trebuchet MS"/>
              </a:rPr>
              <a:t>x,</a:t>
            </a:r>
            <a:r>
              <a:rPr sz="1800" spc="-12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y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(</a:t>
            </a:r>
            <a:r>
              <a:rPr sz="1800" spc="-60" dirty="0">
                <a:solidFill>
                  <a:srgbClr val="1709CD"/>
                </a:solidFill>
                <a:latin typeface="Trebuchet MS"/>
                <a:cs typeface="Trebuchet MS"/>
              </a:rPr>
              <a:t>chromaticity</a:t>
            </a:r>
            <a:r>
              <a:rPr sz="1800" spc="-12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1709CD"/>
                </a:solidFill>
                <a:latin typeface="Trebuchet MS"/>
                <a:cs typeface="Trebuchet MS"/>
              </a:rPr>
              <a:t>coordinate</a:t>
            </a:r>
            <a:r>
              <a:rPr sz="1800" spc="-50" dirty="0">
                <a:latin typeface="Trebuchet MS"/>
                <a:cs typeface="Trebuchet MS"/>
              </a:rPr>
              <a:t>)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 </a:t>
            </a:r>
            <a:r>
              <a:rPr sz="1800" spc="-10" dirty="0">
                <a:latin typeface="Trebuchet MS"/>
                <a:cs typeface="Trebuchet MS"/>
              </a:rPr>
              <a:t>enough</a:t>
            </a:r>
            <a:r>
              <a:rPr sz="1800" spc="-210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to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describe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all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colors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75" dirty="0">
                <a:latin typeface="Trebuchet MS"/>
                <a:cs typeface="Trebuchet MS"/>
              </a:rPr>
              <a:t>z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-18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1</a:t>
            </a:r>
            <a:r>
              <a:rPr sz="1800" spc="-165" dirty="0">
                <a:latin typeface="Trebuchet MS"/>
                <a:cs typeface="Trebuchet MS"/>
              </a:rPr>
              <a:t> </a:t>
            </a:r>
            <a:r>
              <a:rPr sz="1800" spc="155" dirty="0">
                <a:latin typeface="Trebuchet MS"/>
                <a:cs typeface="Trebuchet MS"/>
              </a:rPr>
              <a:t>–</a:t>
            </a:r>
            <a:r>
              <a:rPr sz="1800" spc="-1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(x+y)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EA08C-4B9A-F635-48F6-5755BACDB4D7}"/>
              </a:ext>
            </a:extLst>
          </p:cNvPr>
          <p:cNvSpPr txBox="1"/>
          <p:nvPr/>
        </p:nvSpPr>
        <p:spPr>
          <a:xfrm>
            <a:off x="3305015" y="1143000"/>
            <a:ext cx="44125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Chromaticity</a:t>
            </a:r>
            <a:r>
              <a:rPr lang="en-US" dirty="0"/>
              <a:t> refers to the </a:t>
            </a:r>
            <a:r>
              <a:rPr lang="en-US" i="1" dirty="0"/>
              <a:t>quality of a color independent of its brightness</a:t>
            </a:r>
            <a:r>
              <a:rPr lang="en-US" dirty="0"/>
              <a:t>. It describes </a:t>
            </a:r>
            <a:r>
              <a:rPr lang="en-US" b="1" dirty="0"/>
              <a:t>what color looks like</a:t>
            </a:r>
            <a:r>
              <a:rPr lang="en-US" dirty="0"/>
              <a:t> in terms of:</a:t>
            </a:r>
          </a:p>
          <a:p>
            <a:r>
              <a:rPr lang="en-US" b="1" dirty="0"/>
              <a:t>Hue</a:t>
            </a:r>
            <a:r>
              <a:rPr lang="en-US" dirty="0"/>
              <a:t> (red, green, blue, etc.) </a:t>
            </a:r>
          </a:p>
          <a:p>
            <a:r>
              <a:rPr lang="en-US" b="1" dirty="0"/>
              <a:t>Saturation</a:t>
            </a:r>
            <a:r>
              <a:rPr lang="en-US" dirty="0"/>
              <a:t> (how pure or intense the color is) but </a:t>
            </a:r>
            <a:r>
              <a:rPr lang="en-US" b="1" dirty="0"/>
              <a:t>not</a:t>
            </a:r>
            <a:r>
              <a:rPr lang="en-US" dirty="0"/>
              <a:t> how light or dark it is.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Chromaticity</a:t>
            </a:r>
            <a:r>
              <a:rPr spc="-405" dirty="0"/>
              <a:t> </a:t>
            </a:r>
            <a:r>
              <a:rPr spc="-165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80661" y="6445782"/>
            <a:ext cx="3632835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sz="1200" spc="-9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767676"/>
                </a:solidFill>
                <a:latin typeface="Trebuchet MS"/>
                <a:cs typeface="Trebuchet MS"/>
              </a:rPr>
              <a:t>Image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Processing</a:t>
            </a:r>
            <a:r>
              <a:rPr sz="1200" spc="-7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10" dirty="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sz="1200" spc="-6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sz="1200" spc="-3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4680" y="1169324"/>
            <a:ext cx="1320658" cy="148440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578608" y="1101852"/>
            <a:ext cx="5622290" cy="5471160"/>
            <a:chOff x="3578608" y="1101852"/>
            <a:chExt cx="5622290" cy="54711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8608" y="1101852"/>
              <a:ext cx="5053327" cy="54706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378956" y="4271771"/>
              <a:ext cx="2821940" cy="1116965"/>
            </a:xfrm>
            <a:custGeom>
              <a:avLst/>
              <a:gdLst/>
              <a:ahLst/>
              <a:cxnLst/>
              <a:rect l="l" t="t" r="r" b="b"/>
              <a:pathLst>
                <a:path w="2821940" h="1116964">
                  <a:moveTo>
                    <a:pt x="2745232" y="1104900"/>
                  </a:moveTo>
                  <a:lnTo>
                    <a:pt x="2731135" y="1090803"/>
                  </a:lnTo>
                  <a:lnTo>
                    <a:pt x="2685034" y="1044702"/>
                  </a:lnTo>
                  <a:lnTo>
                    <a:pt x="2674988" y="1074762"/>
                  </a:lnTo>
                  <a:lnTo>
                    <a:pt x="4064" y="184531"/>
                  </a:lnTo>
                  <a:lnTo>
                    <a:pt x="0" y="196469"/>
                  </a:lnTo>
                  <a:lnTo>
                    <a:pt x="2670975" y="1086802"/>
                  </a:lnTo>
                  <a:lnTo>
                    <a:pt x="2660904" y="1116965"/>
                  </a:lnTo>
                  <a:lnTo>
                    <a:pt x="2745232" y="1104900"/>
                  </a:lnTo>
                  <a:close/>
                </a:path>
                <a:path w="2821940" h="1116964">
                  <a:moveTo>
                    <a:pt x="2821432" y="38100"/>
                  </a:moveTo>
                  <a:lnTo>
                    <a:pt x="2808732" y="31750"/>
                  </a:lnTo>
                  <a:lnTo>
                    <a:pt x="2745232" y="0"/>
                  </a:lnTo>
                  <a:lnTo>
                    <a:pt x="2745232" y="31750"/>
                  </a:lnTo>
                  <a:lnTo>
                    <a:pt x="992632" y="31750"/>
                  </a:lnTo>
                  <a:lnTo>
                    <a:pt x="992632" y="44450"/>
                  </a:lnTo>
                  <a:lnTo>
                    <a:pt x="2745232" y="44450"/>
                  </a:lnTo>
                  <a:lnTo>
                    <a:pt x="2745232" y="76200"/>
                  </a:lnTo>
                  <a:lnTo>
                    <a:pt x="2808732" y="44450"/>
                  </a:lnTo>
                  <a:lnTo>
                    <a:pt x="2821432" y="38100"/>
                  </a:lnTo>
                  <a:close/>
                </a:path>
              </a:pathLst>
            </a:custGeom>
            <a:solidFill>
              <a:srgbClr val="467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64522" y="4071365"/>
            <a:ext cx="1711960" cy="160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573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709CD"/>
                </a:solidFill>
                <a:latin typeface="Tahoma"/>
                <a:cs typeface="Tahoma"/>
              </a:rPr>
              <a:t>RGB</a:t>
            </a:r>
            <a:r>
              <a:rPr sz="2000" spc="-3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1709CD"/>
                </a:solidFill>
                <a:latin typeface="Tahoma"/>
                <a:cs typeface="Tahoma"/>
              </a:rPr>
              <a:t>gamut</a:t>
            </a:r>
            <a:r>
              <a:rPr sz="2000" spc="-4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1709CD"/>
                </a:solidFill>
                <a:latin typeface="Tahoma"/>
                <a:cs typeface="Tahoma"/>
              </a:rPr>
              <a:t>of </a:t>
            </a:r>
            <a:r>
              <a:rPr sz="2000" spc="-10" dirty="0">
                <a:solidFill>
                  <a:srgbClr val="1709CD"/>
                </a:solidFill>
                <a:latin typeface="Tahoma"/>
                <a:cs typeface="Tahoma"/>
              </a:rPr>
              <a:t>monitors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0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</a:pPr>
            <a:r>
              <a:rPr sz="2000" dirty="0">
                <a:solidFill>
                  <a:srgbClr val="1709CD"/>
                </a:solidFill>
                <a:latin typeface="Tahoma"/>
                <a:cs typeface="Tahoma"/>
              </a:rPr>
              <a:t>Color</a:t>
            </a:r>
            <a:r>
              <a:rPr sz="2000" spc="-4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1709CD"/>
                </a:solidFill>
                <a:latin typeface="Tahoma"/>
                <a:cs typeface="Tahoma"/>
              </a:rPr>
              <a:t>gamut</a:t>
            </a:r>
            <a:r>
              <a:rPr sz="2000" spc="-4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000" spc="-35" dirty="0">
                <a:solidFill>
                  <a:srgbClr val="1709CD"/>
                </a:solidFill>
                <a:latin typeface="Tahoma"/>
                <a:cs typeface="Tahoma"/>
              </a:rPr>
              <a:t>of</a:t>
            </a:r>
            <a:endParaRPr sz="20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1709CD"/>
                </a:solidFill>
                <a:latin typeface="Tahoma"/>
                <a:cs typeface="Tahoma"/>
              </a:rPr>
              <a:t>printers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2800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5" dirty="0"/>
              <a:t>Color</a:t>
            </a:r>
            <a:r>
              <a:rPr spc="-440" dirty="0"/>
              <a:t> </a:t>
            </a:r>
            <a:r>
              <a:rPr spc="-7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7961" y="6423761"/>
            <a:ext cx="3658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sz="1200" spc="-9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767676"/>
                </a:solidFill>
                <a:latin typeface="Trebuchet MS"/>
                <a:cs typeface="Trebuchet MS"/>
              </a:rPr>
              <a:t>Image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Processing</a:t>
            </a:r>
            <a:r>
              <a:rPr sz="1200" spc="-7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10" dirty="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sz="1200" spc="-6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sz="1200" spc="-5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sz="1200" spc="-3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3472" y="1455877"/>
            <a:ext cx="7948295" cy="1458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ts val="333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rebuchet MS"/>
                <a:cs typeface="Trebuchet MS"/>
              </a:rPr>
              <a:t>Color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model,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color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space,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color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system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ts val="281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spc="-30" dirty="0">
                <a:latin typeface="Trebuchet MS"/>
                <a:cs typeface="Trebuchet MS"/>
              </a:rPr>
              <a:t>Specify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colors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in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standard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way</a:t>
            </a:r>
            <a:endParaRPr sz="2400">
              <a:latin typeface="Trebuchet MS"/>
              <a:cs typeface="Trebuchet MS"/>
            </a:endParaRPr>
          </a:p>
          <a:p>
            <a:pPr marL="697230" marR="5080" lvl="1" indent="-227329">
              <a:lnSpc>
                <a:spcPct val="8000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1709CD"/>
                </a:solidFill>
                <a:latin typeface="Trebuchet MS"/>
                <a:cs typeface="Trebuchet MS"/>
              </a:rPr>
              <a:t>coordinate</a:t>
            </a:r>
            <a:r>
              <a:rPr sz="2400" spc="-190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1709CD"/>
                </a:solidFill>
                <a:latin typeface="Trebuchet MS"/>
                <a:cs typeface="Trebuchet MS"/>
              </a:rPr>
              <a:t>system</a:t>
            </a:r>
            <a:r>
              <a:rPr sz="2400" spc="-204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that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color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represented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by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	</a:t>
            </a:r>
            <a:r>
              <a:rPr sz="2400" spc="-30" dirty="0">
                <a:latin typeface="Trebuchet MS"/>
                <a:cs typeface="Trebuchet MS"/>
              </a:rPr>
              <a:t>single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point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3472" y="3242208"/>
            <a:ext cx="2218690" cy="14325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65" dirty="0">
                <a:latin typeface="Trebuchet MS"/>
                <a:cs typeface="Trebuchet MS"/>
              </a:rPr>
              <a:t>RGB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95" dirty="0">
                <a:latin typeface="Trebuchet MS"/>
                <a:cs typeface="Trebuchet MS"/>
              </a:rPr>
              <a:t>CYM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70" dirty="0">
                <a:latin typeface="Trebuchet MS"/>
                <a:cs typeface="Trebuchet MS"/>
              </a:rPr>
              <a:t>CYMK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63472" y="5160086"/>
            <a:ext cx="18503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100" dirty="0">
                <a:latin typeface="Trebuchet MS"/>
                <a:cs typeface="Trebuchet MS"/>
              </a:rPr>
              <a:t>HSI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9571" y="3722623"/>
            <a:ext cx="3952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Suitable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display/hardware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2275" y="5217921"/>
            <a:ext cx="7200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-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Software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processing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(match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human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description)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24300" y="3429000"/>
            <a:ext cx="228600" cy="1219200"/>
          </a:xfrm>
          <a:custGeom>
            <a:avLst/>
            <a:gdLst/>
            <a:ahLst/>
            <a:cxnLst/>
            <a:rect l="l" t="t" r="r" b="b"/>
            <a:pathLst>
              <a:path w="228600" h="1219200">
                <a:moveTo>
                  <a:pt x="0" y="0"/>
                </a:moveTo>
                <a:lnTo>
                  <a:pt x="44487" y="7981"/>
                </a:lnTo>
                <a:lnTo>
                  <a:pt x="80819" y="29749"/>
                </a:lnTo>
                <a:lnTo>
                  <a:pt x="105316" y="62043"/>
                </a:lnTo>
                <a:lnTo>
                  <a:pt x="114300" y="101600"/>
                </a:lnTo>
                <a:lnTo>
                  <a:pt x="114300" y="508000"/>
                </a:lnTo>
                <a:lnTo>
                  <a:pt x="123283" y="547556"/>
                </a:lnTo>
                <a:lnTo>
                  <a:pt x="147780" y="579850"/>
                </a:lnTo>
                <a:lnTo>
                  <a:pt x="184112" y="601618"/>
                </a:lnTo>
                <a:lnTo>
                  <a:pt x="228600" y="609600"/>
                </a:lnTo>
                <a:lnTo>
                  <a:pt x="184112" y="617581"/>
                </a:lnTo>
                <a:lnTo>
                  <a:pt x="147780" y="639349"/>
                </a:lnTo>
                <a:lnTo>
                  <a:pt x="123283" y="671643"/>
                </a:lnTo>
                <a:lnTo>
                  <a:pt x="114300" y="711200"/>
                </a:lnTo>
                <a:lnTo>
                  <a:pt x="114300" y="1117600"/>
                </a:lnTo>
                <a:lnTo>
                  <a:pt x="105316" y="1157156"/>
                </a:lnTo>
                <a:lnTo>
                  <a:pt x="80819" y="1189450"/>
                </a:lnTo>
                <a:lnTo>
                  <a:pt x="44487" y="1211218"/>
                </a:lnTo>
                <a:lnTo>
                  <a:pt x="0" y="1219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4865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The</a:t>
            </a:r>
            <a:r>
              <a:rPr spc="-465" dirty="0"/>
              <a:t> </a:t>
            </a:r>
            <a:r>
              <a:rPr dirty="0"/>
              <a:t>RGB</a:t>
            </a:r>
            <a:r>
              <a:rPr spc="-470" dirty="0"/>
              <a:t> </a:t>
            </a:r>
            <a:r>
              <a:rPr spc="-135" dirty="0"/>
              <a:t>Color</a:t>
            </a:r>
            <a:r>
              <a:rPr spc="-455" dirty="0"/>
              <a:t> </a:t>
            </a:r>
            <a:r>
              <a:rPr spc="-5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7961" y="6423761"/>
            <a:ext cx="192023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CPE415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5" dirty="0">
                <a:solidFill>
                  <a:srgbClr val="767676"/>
                </a:solidFill>
                <a:latin typeface="Trebuchet MS"/>
                <a:cs typeface="Trebuchet MS"/>
              </a:rPr>
              <a:t>Digital</a:t>
            </a:r>
            <a:r>
              <a:rPr sz="1200" spc="-20" dirty="0">
                <a:solidFill>
                  <a:srgbClr val="767676"/>
                </a:solidFill>
                <a:latin typeface="Trebuchet MS"/>
                <a:cs typeface="Trebuchet MS"/>
              </a:rPr>
              <a:t> Image</a:t>
            </a:r>
            <a:r>
              <a:rPr sz="1200" spc="1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767676"/>
                </a:solidFill>
                <a:latin typeface="Trebuchet MS"/>
                <a:cs typeface="Trebuchet MS"/>
              </a:rPr>
              <a:t>Proces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5866" y="6445782"/>
            <a:ext cx="173736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0"/>
              </a:lnSpc>
            </a:pPr>
            <a:r>
              <a:rPr sz="1200" dirty="0">
                <a:solidFill>
                  <a:srgbClr val="767676"/>
                </a:solidFill>
                <a:latin typeface="Trebuchet MS"/>
                <a:cs typeface="Trebuchet MS"/>
              </a:rPr>
              <a:t>sing</a:t>
            </a:r>
            <a:r>
              <a:rPr sz="1200" spc="-10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310" dirty="0">
                <a:solidFill>
                  <a:srgbClr val="767676"/>
                </a:solidFill>
                <a:latin typeface="Trebuchet MS"/>
                <a:cs typeface="Trebuchet MS"/>
              </a:rPr>
              <a:t>|</a:t>
            </a:r>
            <a:r>
              <a:rPr sz="1200" spc="-9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Dr.</a:t>
            </a:r>
            <a:r>
              <a:rPr sz="1200" spc="-80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767676"/>
                </a:solidFill>
                <a:latin typeface="Trebuchet MS"/>
                <a:cs typeface="Trebuchet MS"/>
              </a:rPr>
              <a:t>Ikramullah</a:t>
            </a:r>
            <a:r>
              <a:rPr sz="1200" spc="-65" dirty="0">
                <a:solidFill>
                  <a:srgbClr val="767676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767676"/>
                </a:solidFill>
                <a:latin typeface="Trebuchet MS"/>
                <a:cs typeface="Trebuchet MS"/>
              </a:rPr>
              <a:t>Khosa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858097"/>
            <a:ext cx="3332988" cy="29121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95063" y="1385556"/>
            <a:ext cx="1164145" cy="14720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3723" y="3835908"/>
            <a:ext cx="3148520" cy="27977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73657" y="3950490"/>
            <a:ext cx="1240979" cy="5563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3085" y="1915795"/>
            <a:ext cx="5039360" cy="23558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39395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spc="-95" dirty="0">
                <a:solidFill>
                  <a:srgbClr val="1709CD"/>
                </a:solidFill>
                <a:latin typeface="Trebuchet MS"/>
                <a:cs typeface="Trebuchet MS"/>
              </a:rPr>
              <a:t>Pixel</a:t>
            </a:r>
            <a:r>
              <a:rPr sz="2400" spc="-19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1709CD"/>
                </a:solidFill>
                <a:latin typeface="Trebuchet MS"/>
                <a:cs typeface="Trebuchet MS"/>
              </a:rPr>
              <a:t>depth</a:t>
            </a:r>
            <a:r>
              <a:rPr sz="2400" spc="-85" dirty="0">
                <a:latin typeface="Trebuchet MS"/>
                <a:cs typeface="Trebuchet MS"/>
              </a:rPr>
              <a:t>: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the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number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of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1709CD"/>
                </a:solidFill>
                <a:latin typeface="Trebuchet MS"/>
                <a:cs typeface="Trebuchet MS"/>
              </a:rPr>
              <a:t>bits</a:t>
            </a:r>
            <a:r>
              <a:rPr sz="2400" spc="-210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used 	</a:t>
            </a:r>
            <a:r>
              <a:rPr sz="2400" spc="-85" dirty="0">
                <a:latin typeface="Trebuchet MS"/>
                <a:cs typeface="Trebuchet MS"/>
              </a:rPr>
              <a:t>to</a:t>
            </a:r>
            <a:r>
              <a:rPr sz="2400" spc="-229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represent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100" dirty="0">
                <a:latin typeface="Trebuchet MS"/>
                <a:cs typeface="Trebuchet MS"/>
              </a:rPr>
              <a:t>pixel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in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RGB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space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14"/>
              </a:spcBef>
              <a:buClr>
                <a:srgbClr val="1709CD"/>
              </a:buClr>
              <a:buFont typeface="Arial MT"/>
              <a:buChar char="•"/>
            </a:pPr>
            <a:endParaRPr sz="2400" dirty="0">
              <a:latin typeface="Trebuchet MS"/>
              <a:cs typeface="Trebuchet MS"/>
            </a:endParaRPr>
          </a:p>
          <a:p>
            <a:pPr marL="239395" marR="354965" indent="-227329">
              <a:lnSpc>
                <a:spcPts val="2590"/>
              </a:lnSpc>
              <a:buFont typeface="Arial MT"/>
              <a:buChar char="•"/>
              <a:tabLst>
                <a:tab pos="240665" algn="l"/>
              </a:tabLst>
            </a:pPr>
            <a:r>
              <a:rPr sz="2400" spc="-65" dirty="0">
                <a:solidFill>
                  <a:srgbClr val="1709CD"/>
                </a:solidFill>
                <a:latin typeface="Trebuchet MS"/>
                <a:cs typeface="Trebuchet MS"/>
              </a:rPr>
              <a:t>Full-</a:t>
            </a:r>
            <a:r>
              <a:rPr sz="2400" spc="-30" dirty="0">
                <a:solidFill>
                  <a:srgbClr val="1709CD"/>
                </a:solidFill>
                <a:latin typeface="Trebuchet MS"/>
                <a:cs typeface="Trebuchet MS"/>
              </a:rPr>
              <a:t>color</a:t>
            </a:r>
            <a:r>
              <a:rPr sz="2400" spc="-190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image: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24-</a:t>
            </a:r>
            <a:r>
              <a:rPr sz="2400" spc="-110" dirty="0">
                <a:latin typeface="Trebuchet MS"/>
                <a:cs typeface="Trebuchet MS"/>
              </a:rPr>
              <a:t>bit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50" dirty="0">
                <a:latin typeface="Trebuchet MS"/>
                <a:cs typeface="Trebuchet MS"/>
              </a:rPr>
              <a:t>RGB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color 	image</a:t>
            </a:r>
            <a:endParaRPr sz="2400" dirty="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25" dirty="0">
                <a:latin typeface="Trebuchet MS"/>
                <a:cs typeface="Trebuchet MS"/>
              </a:rPr>
              <a:t>(R,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G,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B)</a:t>
            </a:r>
            <a:r>
              <a:rPr sz="2400" spc="-2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22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(8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bits,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8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bits,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8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bits)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4865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The</a:t>
            </a:r>
            <a:r>
              <a:rPr spc="-465" dirty="0"/>
              <a:t> </a:t>
            </a:r>
            <a:r>
              <a:rPr dirty="0"/>
              <a:t>RGB</a:t>
            </a:r>
            <a:r>
              <a:rPr spc="-470" dirty="0"/>
              <a:t> </a:t>
            </a:r>
            <a:r>
              <a:rPr spc="-135" dirty="0"/>
              <a:t>Color</a:t>
            </a:r>
            <a:r>
              <a:rPr spc="-455" dirty="0"/>
              <a:t> </a:t>
            </a:r>
            <a:r>
              <a:rPr spc="-55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3108" y="1074418"/>
            <a:ext cx="4789932" cy="57073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2162" y="1069394"/>
            <a:ext cx="1096630" cy="19241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37738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Safe</a:t>
            </a:r>
            <a:r>
              <a:rPr spc="-455" dirty="0"/>
              <a:t> </a:t>
            </a:r>
            <a:r>
              <a:rPr dirty="0"/>
              <a:t>RGB</a:t>
            </a:r>
            <a:r>
              <a:rPr spc="-475" dirty="0"/>
              <a:t> </a:t>
            </a:r>
            <a:r>
              <a:rPr spc="-40" dirty="0"/>
              <a:t>Colors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0591" y="1251483"/>
            <a:ext cx="8622665" cy="104775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1709CD"/>
                </a:solidFill>
                <a:latin typeface="Trebuchet MS"/>
                <a:cs typeface="Trebuchet MS"/>
              </a:rPr>
              <a:t>Subset</a:t>
            </a:r>
            <a:r>
              <a:rPr sz="2800" spc="-204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1709CD"/>
                </a:solidFill>
                <a:latin typeface="Trebuchet MS"/>
                <a:cs typeface="Trebuchet MS"/>
              </a:rPr>
              <a:t>of</a:t>
            </a:r>
            <a:r>
              <a:rPr sz="2800" spc="-21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1709CD"/>
                </a:solidFill>
                <a:latin typeface="Trebuchet MS"/>
                <a:cs typeface="Trebuchet MS"/>
              </a:rPr>
              <a:t>colors</a:t>
            </a:r>
            <a:r>
              <a:rPr sz="2800" spc="-190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enough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some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application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solidFill>
                  <a:srgbClr val="1709CD"/>
                </a:solidFill>
                <a:latin typeface="Trebuchet MS"/>
                <a:cs typeface="Trebuchet MS"/>
              </a:rPr>
              <a:t>Safe</a:t>
            </a:r>
            <a:r>
              <a:rPr sz="2800" spc="-229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800" spc="65" dirty="0">
                <a:solidFill>
                  <a:srgbClr val="1709CD"/>
                </a:solidFill>
                <a:latin typeface="Trebuchet MS"/>
                <a:cs typeface="Trebuchet MS"/>
              </a:rPr>
              <a:t>RGB</a:t>
            </a:r>
            <a:r>
              <a:rPr sz="2800" spc="-215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1709CD"/>
                </a:solidFill>
                <a:latin typeface="Trebuchet MS"/>
                <a:cs typeface="Trebuchet MS"/>
              </a:rPr>
              <a:t>colors</a:t>
            </a:r>
            <a:r>
              <a:rPr sz="2800" spc="-204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(safe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Web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colors,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safe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browser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colors)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3033" y="3486275"/>
            <a:ext cx="8885678" cy="15080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42488" y="5244210"/>
            <a:ext cx="1501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(6)</a:t>
            </a:r>
            <a:r>
              <a:rPr sz="2400" baseline="24305" dirty="0">
                <a:latin typeface="Tahoma"/>
                <a:cs typeface="Tahoma"/>
              </a:rPr>
              <a:t>3</a:t>
            </a:r>
            <a:r>
              <a:rPr sz="2400" spc="337" baseline="243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5" dirty="0">
                <a:latin typeface="Tahoma"/>
                <a:cs typeface="Tahoma"/>
              </a:rPr>
              <a:t> 216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37738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45" dirty="0"/>
              <a:t>Safe</a:t>
            </a:r>
            <a:r>
              <a:rPr spc="-455" dirty="0"/>
              <a:t> </a:t>
            </a:r>
            <a:r>
              <a:rPr dirty="0"/>
              <a:t>RGB</a:t>
            </a:r>
            <a:r>
              <a:rPr spc="-475" dirty="0"/>
              <a:t> </a:t>
            </a:r>
            <a:r>
              <a:rPr spc="-40" dirty="0"/>
              <a:t>Colors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8568" y="1733652"/>
            <a:ext cx="4127062" cy="37015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0595" y="1738883"/>
            <a:ext cx="4191000" cy="37002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88860" y="5539536"/>
            <a:ext cx="2092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Safe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color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cube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35607" y="5539536"/>
            <a:ext cx="1976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Full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color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cube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CMY</a:t>
            </a:r>
            <a:r>
              <a:rPr spc="-484" dirty="0"/>
              <a:t> </a:t>
            </a:r>
            <a:r>
              <a:rPr spc="-155" dirty="0"/>
              <a:t>(+Black</a:t>
            </a:r>
            <a:r>
              <a:rPr spc="-480" dirty="0"/>
              <a:t> </a:t>
            </a:r>
            <a:r>
              <a:rPr spc="-30" dirty="0"/>
              <a:t>=</a:t>
            </a:r>
            <a:r>
              <a:rPr spc="-450" dirty="0"/>
              <a:t> </a:t>
            </a:r>
            <a:r>
              <a:rPr spc="-35" dirty="0"/>
              <a:t>CMYK)</a:t>
            </a:r>
            <a:r>
              <a:rPr spc="-470" dirty="0"/>
              <a:t> </a:t>
            </a:r>
            <a:r>
              <a:rPr spc="-135" dirty="0"/>
              <a:t>Color</a:t>
            </a:r>
            <a:r>
              <a:rPr spc="-475" dirty="0"/>
              <a:t> </a:t>
            </a:r>
            <a:r>
              <a:rPr spc="-2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8402" y="1392428"/>
            <a:ext cx="8026400" cy="1346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solidFill>
                  <a:srgbClr val="1709CD"/>
                </a:solidFill>
                <a:latin typeface="Trebuchet MS"/>
                <a:cs typeface="Trebuchet MS"/>
              </a:rPr>
              <a:t>CMY</a:t>
            </a:r>
            <a:r>
              <a:rPr sz="2800" spc="-25" dirty="0">
                <a:latin typeface="Trebuchet MS"/>
                <a:cs typeface="Trebuchet MS"/>
              </a:rPr>
              <a:t>: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secondary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colors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light,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primary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colors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of 	</a:t>
            </a:r>
            <a:r>
              <a:rPr sz="2800" spc="-10" dirty="0">
                <a:latin typeface="Trebuchet MS"/>
                <a:cs typeface="Trebuchet MS"/>
              </a:rPr>
              <a:t>pigments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60" dirty="0">
                <a:latin typeface="Trebuchet MS"/>
                <a:cs typeface="Trebuchet MS"/>
              </a:rPr>
              <a:t>Used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generate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hardcopy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output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2424" y="5398656"/>
            <a:ext cx="78359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600" spc="-455" dirty="0">
                <a:latin typeface="Symbol"/>
                <a:cs typeface="Symbol"/>
              </a:rPr>
              <a:t></a:t>
            </a:r>
            <a:r>
              <a:rPr sz="5400" spc="-682" baseline="-17746" dirty="0">
                <a:latin typeface="Symbol"/>
                <a:cs typeface="Symbol"/>
              </a:rPr>
              <a:t></a:t>
            </a:r>
            <a:r>
              <a:rPr sz="5400" i="1" spc="-682" baseline="-3086" dirty="0">
                <a:latin typeface="Times New Roman"/>
                <a:cs typeface="Times New Roman"/>
              </a:rPr>
              <a:t>B</a:t>
            </a:r>
            <a:r>
              <a:rPr sz="3600" spc="-455" dirty="0">
                <a:latin typeface="Symbol"/>
                <a:cs typeface="Symbol"/>
              </a:rPr>
              <a:t></a:t>
            </a:r>
            <a:r>
              <a:rPr sz="5400" spc="-682" baseline="-17746" dirty="0">
                <a:latin typeface="Symbol"/>
                <a:cs typeface="Symbol"/>
              </a:rPr>
              <a:t></a:t>
            </a:r>
            <a:endParaRPr sz="5400" baseline="-17746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3171" y="5398656"/>
            <a:ext cx="91186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600" spc="-690" dirty="0">
                <a:latin typeface="Symbol"/>
                <a:cs typeface="Symbol"/>
              </a:rPr>
              <a:t></a:t>
            </a:r>
            <a:r>
              <a:rPr sz="5400" spc="-1035" baseline="-17746" dirty="0">
                <a:latin typeface="Symbol"/>
                <a:cs typeface="Symbol"/>
              </a:rPr>
              <a:t></a:t>
            </a:r>
            <a:r>
              <a:rPr sz="5400" spc="-547" baseline="-17746" dirty="0">
                <a:latin typeface="Times New Roman"/>
                <a:cs typeface="Times New Roman"/>
              </a:rPr>
              <a:t> </a:t>
            </a:r>
            <a:r>
              <a:rPr sz="5400" i="1" baseline="-3086" dirty="0">
                <a:latin typeface="Times New Roman"/>
                <a:cs typeface="Times New Roman"/>
              </a:rPr>
              <a:t>Y</a:t>
            </a:r>
            <a:r>
              <a:rPr sz="5400" i="1" spc="465" baseline="-3086" dirty="0">
                <a:latin typeface="Times New Roman"/>
                <a:cs typeface="Times New Roman"/>
              </a:rPr>
              <a:t> </a:t>
            </a:r>
            <a:r>
              <a:rPr sz="3600" spc="-725" dirty="0">
                <a:latin typeface="Symbol"/>
                <a:cs typeface="Symbol"/>
              </a:rPr>
              <a:t></a:t>
            </a:r>
            <a:r>
              <a:rPr sz="5400" spc="-1087" baseline="-17746" dirty="0">
                <a:latin typeface="Symbol"/>
                <a:cs typeface="Symbol"/>
              </a:rPr>
              <a:t></a:t>
            </a:r>
            <a:endParaRPr sz="5400" baseline="-17746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3171" y="4957605"/>
            <a:ext cx="3045460" cy="10191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ts val="3895"/>
              </a:lnSpc>
              <a:spcBef>
                <a:spcPts val="125"/>
              </a:spcBef>
              <a:tabLst>
                <a:tab pos="694690" algn="l"/>
                <a:tab pos="1351280" algn="l"/>
                <a:tab pos="2287270" algn="l"/>
                <a:tab pos="2815590" algn="l"/>
              </a:tabLst>
            </a:pPr>
            <a:r>
              <a:rPr sz="3600" spc="-50" dirty="0">
                <a:latin typeface="Symbol"/>
                <a:cs typeface="Symbol"/>
              </a:rPr>
              <a:t>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50" dirty="0">
                <a:latin typeface="Symbol"/>
                <a:cs typeface="Symbol"/>
              </a:rPr>
              <a:t>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dirty="0">
                <a:latin typeface="Symbol"/>
                <a:cs typeface="Symbol"/>
              </a:rPr>
              <a:t></a:t>
            </a:r>
            <a:r>
              <a:rPr sz="3600" spc="340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Symbol"/>
                <a:cs typeface="Symbol"/>
              </a:rPr>
              <a:t>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50" dirty="0">
                <a:latin typeface="Symbol"/>
                <a:cs typeface="Symbol"/>
              </a:rPr>
              <a:t>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50" dirty="0">
                <a:latin typeface="Symbol"/>
                <a:cs typeface="Symbol"/>
              </a:rPr>
              <a:t></a:t>
            </a:r>
            <a:endParaRPr sz="3600">
              <a:latin typeface="Symbol"/>
              <a:cs typeface="Symbol"/>
            </a:endParaRPr>
          </a:p>
          <a:p>
            <a:pPr marL="172085" algn="ctr">
              <a:lnSpc>
                <a:spcPts val="3895"/>
              </a:lnSpc>
            </a:pPr>
            <a:r>
              <a:rPr sz="3600" spc="-690" dirty="0">
                <a:latin typeface="Symbol"/>
                <a:cs typeface="Symbol"/>
              </a:rPr>
              <a:t></a:t>
            </a:r>
            <a:r>
              <a:rPr sz="5400" spc="-1035" baseline="-17746" dirty="0">
                <a:latin typeface="Symbol"/>
                <a:cs typeface="Symbol"/>
              </a:rPr>
              <a:t></a:t>
            </a:r>
            <a:r>
              <a:rPr sz="5400" spc="-1035" baseline="-3086" dirty="0">
                <a:latin typeface="Times New Roman"/>
                <a:cs typeface="Times New Roman"/>
              </a:rPr>
              <a:t>1</a:t>
            </a:r>
            <a:r>
              <a:rPr sz="3600" spc="-690" dirty="0">
                <a:latin typeface="Symbol"/>
                <a:cs typeface="Symbol"/>
              </a:rPr>
              <a:t></a:t>
            </a:r>
            <a:r>
              <a:rPr sz="5400" spc="-1035" baseline="-17746" dirty="0">
                <a:latin typeface="Symbol"/>
                <a:cs typeface="Symbol"/>
              </a:rPr>
              <a:t></a:t>
            </a:r>
            <a:endParaRPr sz="5400" baseline="-17746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0471" y="4075533"/>
            <a:ext cx="3058160" cy="10191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3895"/>
              </a:lnSpc>
              <a:spcBef>
                <a:spcPts val="125"/>
              </a:spcBef>
              <a:tabLst>
                <a:tab pos="1363980" algn="l"/>
                <a:tab pos="2299970" algn="l"/>
              </a:tabLst>
            </a:pPr>
            <a:r>
              <a:rPr sz="3600" dirty="0">
                <a:latin typeface="Symbol"/>
                <a:cs typeface="Symbol"/>
              </a:rPr>
              <a:t></a:t>
            </a:r>
            <a:r>
              <a:rPr sz="3600" spc="-385" dirty="0">
                <a:latin typeface="Times New Roman"/>
                <a:cs typeface="Times New Roman"/>
              </a:rPr>
              <a:t> </a:t>
            </a:r>
            <a:r>
              <a:rPr sz="5400" i="1" baseline="3858" dirty="0">
                <a:latin typeface="Times New Roman"/>
                <a:cs typeface="Times New Roman"/>
              </a:rPr>
              <a:t>C</a:t>
            </a:r>
            <a:r>
              <a:rPr sz="5400" i="1" spc="-89" baseline="3858" dirty="0">
                <a:latin typeface="Times New Roman"/>
                <a:cs typeface="Times New Roman"/>
              </a:rPr>
              <a:t> </a:t>
            </a:r>
            <a:r>
              <a:rPr sz="3600" spc="-50" dirty="0">
                <a:latin typeface="Symbol"/>
                <a:cs typeface="Symbol"/>
              </a:rPr>
              <a:t>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-25" dirty="0">
                <a:latin typeface="Symbol"/>
                <a:cs typeface="Symbol"/>
              </a:rPr>
              <a:t></a:t>
            </a:r>
            <a:r>
              <a:rPr sz="5400" spc="-37" baseline="3858" dirty="0">
                <a:latin typeface="Times New Roman"/>
                <a:cs typeface="Times New Roman"/>
              </a:rPr>
              <a:t>1</a:t>
            </a:r>
            <a:r>
              <a:rPr sz="3600" spc="-25" dirty="0">
                <a:latin typeface="Symbol"/>
                <a:cs typeface="Symbol"/>
              </a:rPr>
              <a:t>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160" dirty="0">
                <a:latin typeface="Symbol"/>
                <a:cs typeface="Symbol"/>
              </a:rPr>
              <a:t></a:t>
            </a:r>
            <a:r>
              <a:rPr sz="5400" i="1" spc="240" baseline="3858" dirty="0">
                <a:latin typeface="Times New Roman"/>
                <a:cs typeface="Times New Roman"/>
              </a:rPr>
              <a:t>R</a:t>
            </a:r>
            <a:r>
              <a:rPr sz="3600" spc="160" dirty="0">
                <a:latin typeface="Symbol"/>
                <a:cs typeface="Symbol"/>
              </a:rPr>
              <a:t></a:t>
            </a:r>
            <a:endParaRPr sz="3600">
              <a:latin typeface="Symbol"/>
              <a:cs typeface="Symbol"/>
            </a:endParaRPr>
          </a:p>
          <a:p>
            <a:pPr marL="50800">
              <a:lnSpc>
                <a:spcPts val="3895"/>
              </a:lnSpc>
            </a:pPr>
            <a:r>
              <a:rPr sz="3600" spc="75" dirty="0">
                <a:latin typeface="Symbol"/>
                <a:cs typeface="Symbol"/>
              </a:rPr>
              <a:t></a:t>
            </a:r>
            <a:r>
              <a:rPr sz="5400" i="1" spc="112" baseline="-26234" dirty="0">
                <a:latin typeface="Times New Roman"/>
                <a:cs typeface="Times New Roman"/>
              </a:rPr>
              <a:t>M</a:t>
            </a:r>
            <a:r>
              <a:rPr sz="5400" i="1" spc="-442" baseline="-26234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Symbol"/>
                <a:cs typeface="Symbol"/>
              </a:rPr>
              <a:t>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5400" baseline="-26234" dirty="0">
                <a:latin typeface="Symbol"/>
                <a:cs typeface="Symbol"/>
              </a:rPr>
              <a:t></a:t>
            </a:r>
            <a:r>
              <a:rPr sz="5400" spc="-44" baseline="-26234" dirty="0">
                <a:latin typeface="Times New Roman"/>
                <a:cs typeface="Times New Roman"/>
              </a:rPr>
              <a:t> </a:t>
            </a:r>
            <a:r>
              <a:rPr sz="3600" spc="-190" dirty="0">
                <a:latin typeface="Symbol"/>
                <a:cs typeface="Symbol"/>
              </a:rPr>
              <a:t></a:t>
            </a:r>
            <a:r>
              <a:rPr sz="5400" spc="-284" baseline="-26234" dirty="0">
                <a:latin typeface="Times New Roman"/>
                <a:cs typeface="Times New Roman"/>
              </a:rPr>
              <a:t>1</a:t>
            </a:r>
            <a:r>
              <a:rPr sz="3600" spc="-190" dirty="0">
                <a:latin typeface="Symbol"/>
                <a:cs typeface="Symbol"/>
              </a:rPr>
              <a:t></a:t>
            </a:r>
            <a:r>
              <a:rPr sz="3600" spc="-215" dirty="0">
                <a:latin typeface="Times New Roman"/>
                <a:cs typeface="Times New Roman"/>
              </a:rPr>
              <a:t> </a:t>
            </a:r>
            <a:r>
              <a:rPr sz="5400" baseline="-26234" dirty="0">
                <a:latin typeface="Symbol"/>
                <a:cs typeface="Symbol"/>
              </a:rPr>
              <a:t></a:t>
            </a:r>
            <a:r>
              <a:rPr sz="5400" spc="-390" baseline="-26234" dirty="0">
                <a:latin typeface="Times New Roman"/>
                <a:cs typeface="Times New Roman"/>
              </a:rPr>
              <a:t> </a:t>
            </a:r>
            <a:r>
              <a:rPr sz="3600" spc="25" dirty="0">
                <a:latin typeface="Symbol"/>
                <a:cs typeface="Symbol"/>
              </a:rPr>
              <a:t></a:t>
            </a:r>
            <a:r>
              <a:rPr sz="5400" i="1" spc="37" baseline="-26234" dirty="0">
                <a:latin typeface="Times New Roman"/>
                <a:cs typeface="Times New Roman"/>
              </a:rPr>
              <a:t>G</a:t>
            </a:r>
            <a:r>
              <a:rPr sz="3600" spc="25" dirty="0">
                <a:latin typeface="Symbol"/>
                <a:cs typeface="Symbol"/>
              </a:rPr>
              <a:t></a:t>
            </a:r>
            <a:endParaRPr sz="3600">
              <a:latin typeface="Symbol"/>
              <a:cs typeface="Symbo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0428" y="3483864"/>
            <a:ext cx="4675632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spc="-400" dirty="0"/>
              <a:t> </a:t>
            </a:r>
            <a:r>
              <a:rPr spc="-135" dirty="0"/>
              <a:t>Color</a:t>
            </a:r>
            <a:r>
              <a:rPr spc="-400" dirty="0"/>
              <a:t> </a:t>
            </a:r>
            <a:r>
              <a:rPr spc="-7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980" y="1453387"/>
            <a:ext cx="7938134" cy="29127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149352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70" dirty="0">
                <a:latin typeface="Trebuchet MS"/>
                <a:cs typeface="Trebuchet MS"/>
              </a:rPr>
              <a:t>Will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you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describe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color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using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its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G,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B 	</a:t>
            </a:r>
            <a:r>
              <a:rPr sz="2800" spc="-10" dirty="0">
                <a:latin typeface="Trebuchet MS"/>
                <a:cs typeface="Trebuchet MS"/>
              </a:rPr>
              <a:t>components?</a:t>
            </a:r>
            <a:endParaRPr sz="2800">
              <a:latin typeface="Trebuchet MS"/>
              <a:cs typeface="Trebuchet MS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Human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describe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color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its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hue,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saturation,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spc="-10" dirty="0">
                <a:latin typeface="Trebuchet MS"/>
                <a:cs typeface="Trebuchet MS"/>
              </a:rPr>
              <a:t>brightness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solidFill>
                  <a:srgbClr val="1709CD"/>
                </a:solidFill>
                <a:latin typeface="Trebuchet MS"/>
                <a:cs typeface="Trebuchet MS"/>
              </a:rPr>
              <a:t>Hue</a:t>
            </a:r>
            <a:r>
              <a:rPr sz="2400" spc="-204" dirty="0">
                <a:solidFill>
                  <a:srgbClr val="1709CD"/>
                </a:solidFill>
                <a:latin typeface="Trebuchet MS"/>
                <a:cs typeface="Trebuchet MS"/>
              </a:rPr>
              <a:t> </a:t>
            </a:r>
            <a:r>
              <a:rPr sz="2400" spc="-210" dirty="0">
                <a:latin typeface="Trebuchet MS"/>
                <a:cs typeface="Trebuchet MS"/>
              </a:rPr>
              <a:t>: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color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attribute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70" dirty="0">
                <a:solidFill>
                  <a:srgbClr val="1709CD"/>
                </a:solidFill>
                <a:latin typeface="Trebuchet MS"/>
                <a:cs typeface="Trebuchet MS"/>
              </a:rPr>
              <a:t>Saturation</a:t>
            </a:r>
            <a:r>
              <a:rPr sz="2400" spc="-70" dirty="0">
                <a:latin typeface="Trebuchet MS"/>
                <a:cs typeface="Trebuchet MS"/>
              </a:rPr>
              <a:t>: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purity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color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(white-</a:t>
            </a:r>
            <a:r>
              <a:rPr sz="2400" spc="-65" dirty="0">
                <a:latin typeface="Trebuchet MS"/>
                <a:cs typeface="Trebuchet MS"/>
              </a:rPr>
              <a:t>&gt;0,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primary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color-</a:t>
            </a:r>
            <a:r>
              <a:rPr sz="2400" spc="-25" dirty="0">
                <a:latin typeface="Trebuchet MS"/>
                <a:cs typeface="Trebuchet MS"/>
              </a:rPr>
              <a:t>&gt;1)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35" dirty="0">
                <a:solidFill>
                  <a:srgbClr val="1709CD"/>
                </a:solidFill>
                <a:latin typeface="Trebuchet MS"/>
                <a:cs typeface="Trebuchet MS"/>
              </a:rPr>
              <a:t>Brightness</a:t>
            </a:r>
            <a:r>
              <a:rPr sz="2400" spc="-35" dirty="0">
                <a:latin typeface="Trebuchet MS"/>
                <a:cs typeface="Trebuchet MS"/>
              </a:rPr>
              <a:t>: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35" dirty="0">
                <a:latin typeface="Trebuchet MS"/>
                <a:cs typeface="Trebuchet MS"/>
              </a:rPr>
              <a:t>achromatic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45" dirty="0">
                <a:latin typeface="Trebuchet MS"/>
                <a:cs typeface="Trebuchet MS"/>
              </a:rPr>
              <a:t>notion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75" dirty="0">
                <a:latin typeface="Trebuchet MS"/>
                <a:cs typeface="Trebuchet MS"/>
              </a:rPr>
              <a:t>of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1709CD"/>
                </a:solidFill>
                <a:latin typeface="Trebuchet MS"/>
                <a:cs typeface="Trebuchet MS"/>
              </a:rPr>
              <a:t>intensity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268935"/>
            <a:ext cx="37147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spc="-400" dirty="0"/>
              <a:t> </a:t>
            </a:r>
            <a:r>
              <a:rPr spc="-135" dirty="0"/>
              <a:t>Color</a:t>
            </a:r>
            <a:r>
              <a:rPr spc="-400" dirty="0"/>
              <a:t> </a:t>
            </a:r>
            <a:r>
              <a:rPr spc="-7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2332" y="1900047"/>
            <a:ext cx="6607175" cy="2976880"/>
            <a:chOff x="2402332" y="1900047"/>
            <a:chExt cx="6607175" cy="2976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24032" y="2130871"/>
              <a:ext cx="6085399" cy="27457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02332" y="1900047"/>
              <a:ext cx="1795145" cy="1463675"/>
            </a:xfrm>
            <a:custGeom>
              <a:avLst/>
              <a:gdLst/>
              <a:ahLst/>
              <a:cxnLst/>
              <a:rect l="l" t="t" r="r" b="b"/>
              <a:pathLst>
                <a:path w="1795145" h="1463675">
                  <a:moveTo>
                    <a:pt x="1731660" y="1420187"/>
                  </a:moveTo>
                  <a:lnTo>
                    <a:pt x="1711579" y="1444878"/>
                  </a:lnTo>
                  <a:lnTo>
                    <a:pt x="1794764" y="1463420"/>
                  </a:lnTo>
                  <a:lnTo>
                    <a:pt x="1778898" y="1428241"/>
                  </a:lnTo>
                  <a:lnTo>
                    <a:pt x="1741551" y="1428241"/>
                  </a:lnTo>
                  <a:lnTo>
                    <a:pt x="1731660" y="1420187"/>
                  </a:lnTo>
                  <a:close/>
                </a:path>
                <a:path w="1795145" h="1463675">
                  <a:moveTo>
                    <a:pt x="1739695" y="1410308"/>
                  </a:moveTo>
                  <a:lnTo>
                    <a:pt x="1731660" y="1420187"/>
                  </a:lnTo>
                  <a:lnTo>
                    <a:pt x="1741551" y="1428241"/>
                  </a:lnTo>
                  <a:lnTo>
                    <a:pt x="1749552" y="1418336"/>
                  </a:lnTo>
                  <a:lnTo>
                    <a:pt x="1739695" y="1410308"/>
                  </a:lnTo>
                  <a:close/>
                </a:path>
                <a:path w="1795145" h="1463675">
                  <a:moveTo>
                    <a:pt x="1759712" y="1385697"/>
                  </a:moveTo>
                  <a:lnTo>
                    <a:pt x="1739695" y="1410308"/>
                  </a:lnTo>
                  <a:lnTo>
                    <a:pt x="1749552" y="1418336"/>
                  </a:lnTo>
                  <a:lnTo>
                    <a:pt x="1741551" y="1428241"/>
                  </a:lnTo>
                  <a:lnTo>
                    <a:pt x="1778898" y="1428241"/>
                  </a:lnTo>
                  <a:lnTo>
                    <a:pt x="1759712" y="1385697"/>
                  </a:lnTo>
                  <a:close/>
                </a:path>
                <a:path w="1795145" h="1463675">
                  <a:moveTo>
                    <a:pt x="8128" y="0"/>
                  </a:moveTo>
                  <a:lnTo>
                    <a:pt x="0" y="9905"/>
                  </a:lnTo>
                  <a:lnTo>
                    <a:pt x="1731660" y="1420187"/>
                  </a:lnTo>
                  <a:lnTo>
                    <a:pt x="1739695" y="1410308"/>
                  </a:lnTo>
                  <a:lnTo>
                    <a:pt x="8128" y="0"/>
                  </a:lnTo>
                  <a:close/>
                </a:path>
              </a:pathLst>
            </a:custGeom>
            <a:solidFill>
              <a:srgbClr val="467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45068" y="2151779"/>
            <a:ext cx="1264606" cy="135445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89125" y="1326641"/>
            <a:ext cx="11988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5080" indent="-35242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709CD"/>
                </a:solidFill>
                <a:latin typeface="Tahoma"/>
                <a:cs typeface="Tahoma"/>
              </a:rPr>
              <a:t>Intensity </a:t>
            </a:r>
            <a:r>
              <a:rPr sz="2400" spc="-20" dirty="0">
                <a:solidFill>
                  <a:srgbClr val="1709CD"/>
                </a:solidFill>
                <a:latin typeface="Tahoma"/>
                <a:cs typeface="Tahoma"/>
              </a:rPr>
              <a:t>line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27292" y="1682495"/>
            <a:ext cx="1041400" cy="1509395"/>
            <a:chOff x="6527292" y="1682495"/>
            <a:chExt cx="1041400" cy="1509395"/>
          </a:xfrm>
        </p:grpSpPr>
        <p:sp>
          <p:nvSpPr>
            <p:cNvPr id="9" name="object 9"/>
            <p:cNvSpPr/>
            <p:nvPr/>
          </p:nvSpPr>
          <p:spPr>
            <a:xfrm>
              <a:off x="6781800" y="3115563"/>
              <a:ext cx="786765" cy="76200"/>
            </a:xfrm>
            <a:custGeom>
              <a:avLst/>
              <a:gdLst/>
              <a:ahLst/>
              <a:cxnLst/>
              <a:rect l="l" t="t" r="r" b="b"/>
              <a:pathLst>
                <a:path w="786765" h="76200">
                  <a:moveTo>
                    <a:pt x="77216" y="0"/>
                  </a:moveTo>
                  <a:lnTo>
                    <a:pt x="0" y="36068"/>
                  </a:lnTo>
                  <a:lnTo>
                    <a:pt x="75183" y="76200"/>
                  </a:lnTo>
                  <a:lnTo>
                    <a:pt x="76028" y="44541"/>
                  </a:lnTo>
                  <a:lnTo>
                    <a:pt x="63246" y="44196"/>
                  </a:lnTo>
                  <a:lnTo>
                    <a:pt x="63489" y="36068"/>
                  </a:lnTo>
                  <a:lnTo>
                    <a:pt x="63616" y="31840"/>
                  </a:lnTo>
                  <a:lnTo>
                    <a:pt x="63626" y="31496"/>
                  </a:lnTo>
                  <a:lnTo>
                    <a:pt x="76376" y="31496"/>
                  </a:lnTo>
                  <a:lnTo>
                    <a:pt x="77216" y="0"/>
                  </a:lnTo>
                  <a:close/>
                </a:path>
                <a:path w="786765" h="76200">
                  <a:moveTo>
                    <a:pt x="76366" y="31840"/>
                  </a:moveTo>
                  <a:lnTo>
                    <a:pt x="76037" y="44196"/>
                  </a:lnTo>
                  <a:lnTo>
                    <a:pt x="76028" y="44541"/>
                  </a:lnTo>
                  <a:lnTo>
                    <a:pt x="786256" y="63753"/>
                  </a:lnTo>
                  <a:lnTo>
                    <a:pt x="786510" y="51053"/>
                  </a:lnTo>
                  <a:lnTo>
                    <a:pt x="76366" y="31840"/>
                  </a:lnTo>
                  <a:close/>
                </a:path>
                <a:path w="786765" h="76200">
                  <a:moveTo>
                    <a:pt x="63626" y="31496"/>
                  </a:moveTo>
                  <a:lnTo>
                    <a:pt x="63246" y="44196"/>
                  </a:lnTo>
                  <a:lnTo>
                    <a:pt x="76028" y="44541"/>
                  </a:lnTo>
                  <a:lnTo>
                    <a:pt x="76254" y="36068"/>
                  </a:lnTo>
                  <a:lnTo>
                    <a:pt x="76366" y="31840"/>
                  </a:lnTo>
                  <a:lnTo>
                    <a:pt x="63626" y="31496"/>
                  </a:lnTo>
                  <a:close/>
                </a:path>
                <a:path w="786765" h="76200">
                  <a:moveTo>
                    <a:pt x="76376" y="31496"/>
                  </a:moveTo>
                  <a:lnTo>
                    <a:pt x="63626" y="31496"/>
                  </a:lnTo>
                  <a:lnTo>
                    <a:pt x="76366" y="31840"/>
                  </a:lnTo>
                  <a:lnTo>
                    <a:pt x="76376" y="31496"/>
                  </a:lnTo>
                  <a:close/>
                </a:path>
              </a:pathLst>
            </a:custGeom>
            <a:solidFill>
              <a:srgbClr val="467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27292" y="1682495"/>
              <a:ext cx="904875" cy="1453515"/>
            </a:xfrm>
            <a:custGeom>
              <a:avLst/>
              <a:gdLst/>
              <a:ahLst/>
              <a:cxnLst/>
              <a:rect l="l" t="t" r="r" b="b"/>
              <a:pathLst>
                <a:path w="904875" h="1453514">
                  <a:moveTo>
                    <a:pt x="625348" y="1442593"/>
                  </a:moveTo>
                  <a:lnTo>
                    <a:pt x="66751" y="1066012"/>
                  </a:lnTo>
                  <a:lnTo>
                    <a:pt x="71526" y="1058926"/>
                  </a:lnTo>
                  <a:lnTo>
                    <a:pt x="84455" y="1039749"/>
                  </a:lnTo>
                  <a:lnTo>
                    <a:pt x="0" y="1028700"/>
                  </a:lnTo>
                  <a:lnTo>
                    <a:pt x="41910" y="1102868"/>
                  </a:lnTo>
                  <a:lnTo>
                    <a:pt x="59651" y="1076553"/>
                  </a:lnTo>
                  <a:lnTo>
                    <a:pt x="618236" y="1453007"/>
                  </a:lnTo>
                  <a:lnTo>
                    <a:pt x="625348" y="1442593"/>
                  </a:lnTo>
                  <a:close/>
                </a:path>
                <a:path w="904875" h="1453514">
                  <a:moveTo>
                    <a:pt x="904621" y="77216"/>
                  </a:moveTo>
                  <a:lnTo>
                    <a:pt x="898105" y="63246"/>
                  </a:lnTo>
                  <a:lnTo>
                    <a:pt x="868680" y="0"/>
                  </a:lnTo>
                  <a:lnTo>
                    <a:pt x="828548" y="75184"/>
                  </a:lnTo>
                  <a:lnTo>
                    <a:pt x="860196" y="76034"/>
                  </a:lnTo>
                  <a:lnTo>
                    <a:pt x="860539" y="63627"/>
                  </a:lnTo>
                  <a:lnTo>
                    <a:pt x="860221" y="75184"/>
                  </a:lnTo>
                  <a:lnTo>
                    <a:pt x="860196" y="76034"/>
                  </a:lnTo>
                  <a:lnTo>
                    <a:pt x="831850" y="1104773"/>
                  </a:lnTo>
                  <a:lnTo>
                    <a:pt x="844550" y="1105027"/>
                  </a:lnTo>
                  <a:lnTo>
                    <a:pt x="872871" y="77216"/>
                  </a:lnTo>
                  <a:lnTo>
                    <a:pt x="872896" y="76377"/>
                  </a:lnTo>
                  <a:lnTo>
                    <a:pt x="904621" y="772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27544" y="564260"/>
            <a:ext cx="29648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709CD"/>
                </a:solidFill>
                <a:latin typeface="Tahoma"/>
                <a:cs typeface="Tahoma"/>
              </a:rPr>
              <a:t>Colors</a:t>
            </a:r>
            <a:r>
              <a:rPr sz="2400" spc="-5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1709CD"/>
                </a:solidFill>
                <a:latin typeface="Tahoma"/>
                <a:cs typeface="Tahoma"/>
              </a:rPr>
              <a:t>on</a:t>
            </a:r>
            <a:r>
              <a:rPr sz="2400" spc="-2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1709CD"/>
                </a:solidFill>
                <a:latin typeface="Tahoma"/>
                <a:cs typeface="Tahoma"/>
              </a:rPr>
              <a:t>this</a:t>
            </a:r>
            <a:r>
              <a:rPr sz="2400" spc="-35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1709CD"/>
                </a:solidFill>
                <a:latin typeface="Tahoma"/>
                <a:cs typeface="Tahoma"/>
              </a:rPr>
              <a:t>triangle </a:t>
            </a:r>
            <a:r>
              <a:rPr sz="2400" dirty="0">
                <a:solidFill>
                  <a:srgbClr val="1709CD"/>
                </a:solidFill>
                <a:latin typeface="Tahoma"/>
                <a:cs typeface="Tahoma"/>
              </a:rPr>
              <a:t>Have</a:t>
            </a:r>
            <a:r>
              <a:rPr sz="2400" spc="-45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1709CD"/>
                </a:solidFill>
                <a:latin typeface="Tahoma"/>
                <a:cs typeface="Tahoma"/>
              </a:rPr>
              <a:t>the</a:t>
            </a:r>
            <a:r>
              <a:rPr sz="2400" spc="-4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1709CD"/>
                </a:solidFill>
                <a:latin typeface="Tahoma"/>
                <a:cs typeface="Tahoma"/>
              </a:rPr>
              <a:t>same</a:t>
            </a:r>
            <a:r>
              <a:rPr sz="2400" spc="-4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1709CD"/>
                </a:solidFill>
                <a:latin typeface="Tahoma"/>
                <a:cs typeface="Tahoma"/>
              </a:rPr>
              <a:t>hue </a:t>
            </a:r>
            <a:r>
              <a:rPr sz="2400" spc="-20" dirty="0">
                <a:solidFill>
                  <a:srgbClr val="1709CD"/>
                </a:solidFill>
                <a:latin typeface="Tahoma"/>
                <a:cs typeface="Tahoma"/>
              </a:rPr>
              <a:t>(Iso-</a:t>
            </a:r>
            <a:r>
              <a:rPr sz="2400" dirty="0">
                <a:solidFill>
                  <a:srgbClr val="1709CD"/>
                </a:solidFill>
                <a:latin typeface="Tahoma"/>
                <a:cs typeface="Tahoma"/>
              </a:rPr>
              <a:t>hue</a:t>
            </a:r>
            <a:r>
              <a:rPr sz="2400" spc="20" dirty="0">
                <a:solidFill>
                  <a:srgbClr val="1709CD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1709CD"/>
                </a:solidFill>
                <a:latin typeface="Tahoma"/>
                <a:cs typeface="Tahoma"/>
              </a:rPr>
              <a:t>triangle)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98338" y="2265934"/>
            <a:ext cx="1367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709CD"/>
                </a:solidFill>
                <a:latin typeface="Tahoma"/>
                <a:cs typeface="Tahoma"/>
              </a:rPr>
              <a:t>saturation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spc="-400" dirty="0"/>
              <a:t> </a:t>
            </a:r>
            <a:r>
              <a:rPr spc="-135" dirty="0"/>
              <a:t>Color</a:t>
            </a:r>
            <a:r>
              <a:rPr spc="-400" dirty="0"/>
              <a:t> </a:t>
            </a:r>
            <a:r>
              <a:rPr spc="-7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2995" y="1536230"/>
            <a:ext cx="6778729" cy="3797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14791" y="1609480"/>
            <a:ext cx="1282895" cy="30888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spc="-400" dirty="0"/>
              <a:t> </a:t>
            </a:r>
            <a:r>
              <a:rPr spc="-135" dirty="0"/>
              <a:t>Color</a:t>
            </a:r>
            <a:r>
              <a:rPr spc="-400" dirty="0"/>
              <a:t> </a:t>
            </a:r>
            <a:r>
              <a:rPr spc="-7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3820" y="268224"/>
            <a:ext cx="4730496" cy="64648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6064" y="388777"/>
            <a:ext cx="1300073" cy="24664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spc="-400" dirty="0"/>
              <a:t> </a:t>
            </a:r>
            <a:r>
              <a:rPr spc="-135" dirty="0"/>
              <a:t>Color</a:t>
            </a:r>
            <a:r>
              <a:rPr spc="-400" dirty="0"/>
              <a:t> </a:t>
            </a:r>
            <a:r>
              <a:rPr spc="-7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7627" y="2845307"/>
            <a:ext cx="7923950" cy="2476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4838" y="5536184"/>
            <a:ext cx="8149493" cy="5012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84064" y="339852"/>
            <a:ext cx="2543556" cy="22433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spc="-400" dirty="0"/>
              <a:t> </a:t>
            </a:r>
            <a:r>
              <a:rPr spc="-135" dirty="0"/>
              <a:t>Color</a:t>
            </a:r>
            <a:r>
              <a:rPr spc="-400" dirty="0"/>
              <a:t> </a:t>
            </a:r>
            <a:r>
              <a:rPr spc="-7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1171" y="1167383"/>
            <a:ext cx="5443728" cy="51892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9011" y="1222284"/>
            <a:ext cx="1344167" cy="218229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HSI</a:t>
            </a:r>
            <a:r>
              <a:rPr spc="-400" dirty="0"/>
              <a:t> </a:t>
            </a:r>
            <a:r>
              <a:rPr spc="-135" dirty="0"/>
              <a:t>Color</a:t>
            </a:r>
            <a:r>
              <a:rPr spc="-400" dirty="0"/>
              <a:t> </a:t>
            </a:r>
            <a:r>
              <a:rPr spc="-7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5847" y="1158239"/>
            <a:ext cx="5391911" cy="51389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2334" y="1200079"/>
            <a:ext cx="1464468" cy="20222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Pseudo-</a:t>
            </a:r>
            <a:r>
              <a:rPr spc="-180" dirty="0"/>
              <a:t>color</a:t>
            </a:r>
            <a:r>
              <a:rPr spc="-450" dirty="0"/>
              <a:t> </a:t>
            </a:r>
            <a:r>
              <a:rPr spc="-215" dirty="0"/>
              <a:t>Image</a:t>
            </a:r>
            <a:r>
              <a:rPr spc="-430" dirty="0"/>
              <a:t> </a:t>
            </a:r>
            <a:r>
              <a:rPr spc="-85" dirty="0"/>
              <a:t>Processing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9395" marR="222885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>
                <a:solidFill>
                  <a:srgbClr val="1709CD"/>
                </a:solidFill>
              </a:rPr>
              <a:t>Assign</a:t>
            </a:r>
            <a:r>
              <a:rPr spc="-190" dirty="0">
                <a:solidFill>
                  <a:srgbClr val="1709CD"/>
                </a:solidFill>
              </a:rPr>
              <a:t> </a:t>
            </a:r>
            <a:r>
              <a:rPr dirty="0">
                <a:solidFill>
                  <a:srgbClr val="1709CD"/>
                </a:solidFill>
              </a:rPr>
              <a:t>colors</a:t>
            </a:r>
            <a:r>
              <a:rPr spc="-200" dirty="0">
                <a:solidFill>
                  <a:srgbClr val="1709CD"/>
                </a:solidFill>
              </a:rPr>
              <a:t> </a:t>
            </a:r>
            <a:r>
              <a:rPr spc="-105" dirty="0">
                <a:solidFill>
                  <a:srgbClr val="1709CD"/>
                </a:solidFill>
              </a:rPr>
              <a:t>to</a:t>
            </a:r>
            <a:r>
              <a:rPr spc="-195" dirty="0">
                <a:solidFill>
                  <a:srgbClr val="1709CD"/>
                </a:solidFill>
              </a:rPr>
              <a:t> </a:t>
            </a:r>
            <a:r>
              <a:rPr spc="-110" dirty="0">
                <a:solidFill>
                  <a:srgbClr val="1709CD"/>
                </a:solidFill>
              </a:rPr>
              <a:t>gray</a:t>
            </a:r>
            <a:r>
              <a:rPr spc="-215" dirty="0">
                <a:solidFill>
                  <a:srgbClr val="1709CD"/>
                </a:solidFill>
              </a:rPr>
              <a:t> </a:t>
            </a:r>
            <a:r>
              <a:rPr dirty="0">
                <a:solidFill>
                  <a:srgbClr val="1709CD"/>
                </a:solidFill>
              </a:rPr>
              <a:t>values</a:t>
            </a:r>
            <a:r>
              <a:rPr spc="-190" dirty="0">
                <a:solidFill>
                  <a:srgbClr val="1709CD"/>
                </a:solidFill>
              </a:rPr>
              <a:t> </a:t>
            </a:r>
            <a:r>
              <a:rPr dirty="0"/>
              <a:t>based</a:t>
            </a:r>
            <a:r>
              <a:rPr spc="-180" dirty="0"/>
              <a:t> </a:t>
            </a:r>
            <a:r>
              <a:rPr dirty="0"/>
              <a:t>on</a:t>
            </a:r>
            <a:r>
              <a:rPr spc="-195" dirty="0"/>
              <a:t> </a:t>
            </a:r>
            <a:r>
              <a:rPr dirty="0"/>
              <a:t>a</a:t>
            </a:r>
            <a:r>
              <a:rPr spc="-215" dirty="0"/>
              <a:t> </a:t>
            </a:r>
            <a:r>
              <a:rPr spc="-10" dirty="0"/>
              <a:t>specified 	criterion</a:t>
            </a:r>
          </a:p>
          <a:p>
            <a:pPr>
              <a:lnSpc>
                <a:spcPct val="100000"/>
              </a:lnSpc>
              <a:spcBef>
                <a:spcPts val="1785"/>
              </a:spcBef>
              <a:buFont typeface="Arial MT"/>
              <a:buChar char="•"/>
            </a:pPr>
            <a:endParaRPr spc="-10" dirty="0"/>
          </a:p>
          <a:p>
            <a:pPr marL="239395" marR="5080" indent="-227329">
              <a:lnSpc>
                <a:spcPts val="3020"/>
              </a:lnSpc>
              <a:buFont typeface="Arial MT"/>
              <a:buChar char="•"/>
              <a:tabLst>
                <a:tab pos="240665" algn="l"/>
              </a:tabLst>
            </a:pPr>
            <a:r>
              <a:rPr spc="-70" dirty="0"/>
              <a:t>For</a:t>
            </a:r>
            <a:r>
              <a:rPr spc="-235" dirty="0"/>
              <a:t> </a:t>
            </a:r>
            <a:r>
              <a:rPr dirty="0">
                <a:solidFill>
                  <a:srgbClr val="1709CD"/>
                </a:solidFill>
              </a:rPr>
              <a:t>human</a:t>
            </a:r>
            <a:r>
              <a:rPr spc="-250" dirty="0">
                <a:solidFill>
                  <a:srgbClr val="1709CD"/>
                </a:solidFill>
              </a:rPr>
              <a:t> </a:t>
            </a:r>
            <a:r>
              <a:rPr spc="-60" dirty="0">
                <a:solidFill>
                  <a:srgbClr val="1709CD"/>
                </a:solidFill>
              </a:rPr>
              <a:t>visualization</a:t>
            </a:r>
            <a:r>
              <a:rPr spc="-254" dirty="0">
                <a:solidFill>
                  <a:srgbClr val="1709CD"/>
                </a:solidFill>
              </a:rPr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110" dirty="0"/>
              <a:t>interpretation</a:t>
            </a:r>
            <a:r>
              <a:rPr spc="-270" dirty="0"/>
              <a:t> </a:t>
            </a:r>
            <a:r>
              <a:rPr spc="-100" dirty="0"/>
              <a:t>of</a:t>
            </a:r>
            <a:r>
              <a:rPr spc="-240" dirty="0"/>
              <a:t> </a:t>
            </a:r>
            <a:r>
              <a:rPr spc="-10" dirty="0"/>
              <a:t>gray-	</a:t>
            </a:r>
            <a:r>
              <a:rPr dirty="0"/>
              <a:t>scale</a:t>
            </a:r>
            <a:r>
              <a:rPr spc="-140" dirty="0"/>
              <a:t> </a:t>
            </a:r>
            <a:r>
              <a:rPr spc="-10" dirty="0"/>
              <a:t>events</a:t>
            </a:r>
          </a:p>
          <a:p>
            <a:pPr>
              <a:lnSpc>
                <a:spcPct val="100000"/>
              </a:lnSpc>
              <a:spcBef>
                <a:spcPts val="1390"/>
              </a:spcBef>
              <a:buFont typeface="Arial MT"/>
              <a:buChar char="•"/>
            </a:pPr>
            <a:endParaRPr spc="-10" dirty="0"/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pc="-75" dirty="0"/>
              <a:t>Intensity</a:t>
            </a:r>
            <a:r>
              <a:rPr spc="-240" dirty="0"/>
              <a:t> </a:t>
            </a:r>
            <a:r>
              <a:rPr spc="-10" dirty="0"/>
              <a:t>slicing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pc="-75" dirty="0"/>
              <a:t>Gray</a:t>
            </a:r>
            <a:r>
              <a:rPr spc="-229" dirty="0"/>
              <a:t> </a:t>
            </a:r>
            <a:r>
              <a:rPr spc="-100" dirty="0"/>
              <a:t>level</a:t>
            </a:r>
            <a:r>
              <a:rPr spc="-250" dirty="0"/>
              <a:t> </a:t>
            </a:r>
            <a:r>
              <a:rPr spc="-110" dirty="0"/>
              <a:t>to</a:t>
            </a:r>
            <a:r>
              <a:rPr spc="-229" dirty="0"/>
              <a:t> </a:t>
            </a:r>
            <a:r>
              <a:rPr spc="-30" dirty="0"/>
              <a:t>color</a:t>
            </a:r>
            <a:r>
              <a:rPr spc="-229" dirty="0"/>
              <a:t> </a:t>
            </a:r>
            <a:r>
              <a:rPr spc="-10" dirty="0"/>
              <a:t>transformations</a:t>
            </a:r>
          </a:p>
        </p:txBody>
      </p:sp>
      <p:sp>
        <p:nvSpPr>
          <p:cNvPr id="4" name="object 4"/>
          <p:cNvSpPr/>
          <p:nvPr/>
        </p:nvSpPr>
        <p:spPr>
          <a:xfrm>
            <a:off x="1269491" y="4585715"/>
            <a:ext cx="228600" cy="1066800"/>
          </a:xfrm>
          <a:custGeom>
            <a:avLst/>
            <a:gdLst/>
            <a:ahLst/>
            <a:cxnLst/>
            <a:rect l="l" t="t" r="r" b="b"/>
            <a:pathLst>
              <a:path w="228600" h="1066800">
                <a:moveTo>
                  <a:pt x="228600" y="1066799"/>
                </a:moveTo>
                <a:lnTo>
                  <a:pt x="184112" y="1059813"/>
                </a:lnTo>
                <a:lnTo>
                  <a:pt x="147780" y="1040761"/>
                </a:lnTo>
                <a:lnTo>
                  <a:pt x="123283" y="1012503"/>
                </a:lnTo>
                <a:lnTo>
                  <a:pt x="114300" y="977899"/>
                </a:lnTo>
                <a:lnTo>
                  <a:pt x="114300" y="622299"/>
                </a:lnTo>
                <a:lnTo>
                  <a:pt x="105316" y="587674"/>
                </a:lnTo>
                <a:lnTo>
                  <a:pt x="80819" y="559419"/>
                </a:lnTo>
                <a:lnTo>
                  <a:pt x="44487" y="540379"/>
                </a:lnTo>
                <a:lnTo>
                  <a:pt x="0" y="533399"/>
                </a:lnTo>
                <a:lnTo>
                  <a:pt x="44487" y="526420"/>
                </a:lnTo>
                <a:lnTo>
                  <a:pt x="80819" y="507380"/>
                </a:lnTo>
                <a:lnTo>
                  <a:pt x="105316" y="479125"/>
                </a:lnTo>
                <a:lnTo>
                  <a:pt x="114300" y="444499"/>
                </a:lnTo>
                <a:lnTo>
                  <a:pt x="114300" y="88899"/>
                </a:lnTo>
                <a:lnTo>
                  <a:pt x="123283" y="54274"/>
                </a:lnTo>
                <a:lnTo>
                  <a:pt x="147780" y="26019"/>
                </a:lnTo>
                <a:lnTo>
                  <a:pt x="184112" y="6979"/>
                </a:lnTo>
                <a:lnTo>
                  <a:pt x="228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29" dirty="0"/>
              <a:t>Intensity</a:t>
            </a:r>
            <a:r>
              <a:rPr spc="-420" dirty="0"/>
              <a:t> </a:t>
            </a:r>
            <a:r>
              <a:rPr spc="-140" dirty="0"/>
              <a:t>Slicing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1491" y="331763"/>
            <a:ext cx="4056301" cy="337647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29904" y="372947"/>
            <a:ext cx="1294384" cy="9258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3088" y="4319016"/>
            <a:ext cx="3802379" cy="24627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8536" y="4320066"/>
            <a:ext cx="1445998" cy="103364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32511"/>
            <a:ext cx="3542029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29" dirty="0"/>
              <a:t>Intensity</a:t>
            </a:r>
            <a:r>
              <a:rPr spc="-420" dirty="0"/>
              <a:t> </a:t>
            </a:r>
            <a:r>
              <a:rPr spc="-150" dirty="0"/>
              <a:t>Slicing </a:t>
            </a:r>
            <a:r>
              <a:rPr spc="-120" dirty="0"/>
              <a:t>Application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7306" y="528766"/>
            <a:ext cx="2933060" cy="29275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2931" y="528766"/>
            <a:ext cx="2933060" cy="292751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0047" y="577039"/>
            <a:ext cx="1293274" cy="24743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4874" y="3892296"/>
            <a:ext cx="3321062" cy="28193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93222" y="3892296"/>
            <a:ext cx="3321062" cy="28193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27695" y="4104752"/>
            <a:ext cx="1378000" cy="182389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243440" y="1623658"/>
            <a:ext cx="2204085" cy="1662430"/>
            <a:chOff x="1243440" y="1623658"/>
            <a:chExt cx="2204085" cy="1662430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3440" y="1623658"/>
              <a:ext cx="2204032" cy="166201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43227" y="2174748"/>
              <a:ext cx="1274445" cy="693420"/>
            </a:xfrm>
            <a:custGeom>
              <a:avLst/>
              <a:gdLst/>
              <a:ahLst/>
              <a:cxnLst/>
              <a:rect l="l" t="t" r="r" b="b"/>
              <a:pathLst>
                <a:path w="1274445" h="693419">
                  <a:moveTo>
                    <a:pt x="1274064" y="0"/>
                  </a:moveTo>
                  <a:lnTo>
                    <a:pt x="929640" y="0"/>
                  </a:lnTo>
                </a:path>
                <a:path w="1274445" h="693419">
                  <a:moveTo>
                    <a:pt x="929640" y="0"/>
                  </a:moveTo>
                  <a:lnTo>
                    <a:pt x="929640" y="245363"/>
                  </a:lnTo>
                </a:path>
                <a:path w="1274445" h="693419">
                  <a:moveTo>
                    <a:pt x="929640" y="245363"/>
                  </a:moveTo>
                  <a:lnTo>
                    <a:pt x="620267" y="245363"/>
                  </a:lnTo>
                </a:path>
                <a:path w="1274445" h="693419">
                  <a:moveTo>
                    <a:pt x="620267" y="245363"/>
                  </a:moveTo>
                  <a:lnTo>
                    <a:pt x="620267" y="408431"/>
                  </a:lnTo>
                </a:path>
                <a:path w="1274445" h="693419">
                  <a:moveTo>
                    <a:pt x="620267" y="408431"/>
                  </a:moveTo>
                  <a:lnTo>
                    <a:pt x="309372" y="408431"/>
                  </a:lnTo>
                </a:path>
                <a:path w="1274445" h="693419">
                  <a:moveTo>
                    <a:pt x="309372" y="408431"/>
                  </a:moveTo>
                  <a:lnTo>
                    <a:pt x="309372" y="693419"/>
                  </a:lnTo>
                </a:path>
                <a:path w="1274445" h="693419">
                  <a:moveTo>
                    <a:pt x="309372" y="693419"/>
                  </a:moveTo>
                  <a:lnTo>
                    <a:pt x="0" y="69341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0828" y="1808987"/>
              <a:ext cx="119380" cy="855344"/>
            </a:xfrm>
            <a:custGeom>
              <a:avLst/>
              <a:gdLst/>
              <a:ahLst/>
              <a:cxnLst/>
              <a:rect l="l" t="t" r="r" b="b"/>
              <a:pathLst>
                <a:path w="119380" h="855344">
                  <a:moveTo>
                    <a:pt x="103632" y="691896"/>
                  </a:moveTo>
                  <a:lnTo>
                    <a:pt x="0" y="691896"/>
                  </a:lnTo>
                  <a:lnTo>
                    <a:pt x="0" y="854964"/>
                  </a:lnTo>
                  <a:lnTo>
                    <a:pt x="103632" y="854964"/>
                  </a:lnTo>
                  <a:lnTo>
                    <a:pt x="103632" y="691896"/>
                  </a:lnTo>
                  <a:close/>
                </a:path>
                <a:path w="119380" h="855344">
                  <a:moveTo>
                    <a:pt x="118872" y="0"/>
                  </a:moveTo>
                  <a:lnTo>
                    <a:pt x="15240" y="0"/>
                  </a:lnTo>
                  <a:lnTo>
                    <a:pt x="15240" y="163068"/>
                  </a:lnTo>
                  <a:lnTo>
                    <a:pt x="118872" y="163068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2079" y="2174748"/>
              <a:ext cx="70485" cy="245745"/>
            </a:xfrm>
            <a:custGeom>
              <a:avLst/>
              <a:gdLst/>
              <a:ahLst/>
              <a:cxnLst/>
              <a:rect l="l" t="t" r="r" b="b"/>
              <a:pathLst>
                <a:path w="70484" h="245744">
                  <a:moveTo>
                    <a:pt x="0" y="0"/>
                  </a:moveTo>
                  <a:lnTo>
                    <a:pt x="70103" y="0"/>
                  </a:lnTo>
                </a:path>
                <a:path w="70484" h="245744">
                  <a:moveTo>
                    <a:pt x="0" y="245363"/>
                  </a:moveTo>
                  <a:lnTo>
                    <a:pt x="70103" y="24536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739" y="-32511"/>
            <a:ext cx="3542029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229" dirty="0"/>
              <a:t>Intensity</a:t>
            </a:r>
            <a:r>
              <a:rPr spc="-420" dirty="0"/>
              <a:t> </a:t>
            </a:r>
            <a:r>
              <a:rPr spc="-150" dirty="0"/>
              <a:t>Slicing </a:t>
            </a:r>
            <a:r>
              <a:rPr spc="-120" dirty="0"/>
              <a:t>Application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44951" y="222504"/>
            <a:ext cx="8915400" cy="6616065"/>
            <a:chOff x="3044951" y="222504"/>
            <a:chExt cx="8915400" cy="6616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2587" y="222504"/>
              <a:ext cx="8017763" cy="54574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4951" y="5696710"/>
              <a:ext cx="8258556" cy="11414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CPE415</a:t>
            </a:r>
            <a:r>
              <a:rPr spc="-95" dirty="0"/>
              <a:t> </a:t>
            </a:r>
            <a:r>
              <a:rPr spc="-35" dirty="0"/>
              <a:t>Digital</a:t>
            </a:r>
            <a:r>
              <a:rPr spc="-50" dirty="0"/>
              <a:t> </a:t>
            </a:r>
            <a:r>
              <a:rPr spc="-20" dirty="0"/>
              <a:t>Image</a:t>
            </a:r>
            <a:r>
              <a:rPr spc="-2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spc="-310" dirty="0"/>
              <a:t>|</a:t>
            </a:r>
            <a:r>
              <a:rPr spc="-60" dirty="0"/>
              <a:t> </a:t>
            </a:r>
            <a:r>
              <a:rPr spc="-65" dirty="0"/>
              <a:t>Dr.</a:t>
            </a:r>
            <a:r>
              <a:rPr spc="-50" dirty="0"/>
              <a:t> </a:t>
            </a:r>
            <a:r>
              <a:rPr spc="-25" dirty="0"/>
              <a:t>Ikramullah</a:t>
            </a:r>
            <a:r>
              <a:rPr spc="-30" dirty="0"/>
              <a:t> </a:t>
            </a:r>
            <a:r>
              <a:rPr spc="-10" dirty="0"/>
              <a:t>Khosa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882</Words>
  <Application>Microsoft Office PowerPoint</Application>
  <PresentationFormat>Widescreen</PresentationFormat>
  <Paragraphs>155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 MT</vt:lpstr>
      <vt:lpstr>Calibri</vt:lpstr>
      <vt:lpstr>Symbol</vt:lpstr>
      <vt:lpstr>Tahoma</vt:lpstr>
      <vt:lpstr>Times New Roman</vt:lpstr>
      <vt:lpstr>Trebuchet MS</vt:lpstr>
      <vt:lpstr>Office Theme</vt:lpstr>
      <vt:lpstr>PowerPoint Presentation</vt:lpstr>
      <vt:lpstr>Color Fundamentals</vt:lpstr>
      <vt:lpstr>Color Fundamentals</vt:lpstr>
      <vt:lpstr>Color Fundamentals</vt:lpstr>
      <vt:lpstr>Color Fundamentals</vt:lpstr>
      <vt:lpstr>Color Fundamentals</vt:lpstr>
      <vt:lpstr>Primary colors of light vs. primary colors of pigments</vt:lpstr>
      <vt:lpstr>Chromaticity Diagram</vt:lpstr>
      <vt:lpstr>Chromaticity Diagram</vt:lpstr>
      <vt:lpstr>Color Model</vt:lpstr>
      <vt:lpstr>The RGB Color Model</vt:lpstr>
      <vt:lpstr>The RGB Color Model</vt:lpstr>
      <vt:lpstr>Safe RGB Colors</vt:lpstr>
      <vt:lpstr>Safe RGB Colors</vt:lpstr>
      <vt:lpstr>CMY (+Black = CMYK) Color Model</vt:lpstr>
      <vt:lpstr>HSI Color Model</vt:lpstr>
      <vt:lpstr>HSI Color Model</vt:lpstr>
      <vt:lpstr>HSI Color Model</vt:lpstr>
      <vt:lpstr>HSI Color Model</vt:lpstr>
      <vt:lpstr>HSI Color Model</vt:lpstr>
      <vt:lpstr>HSI Color Model</vt:lpstr>
      <vt:lpstr>HSI Color Model</vt:lpstr>
      <vt:lpstr>Pseudo-color Image Processing</vt:lpstr>
      <vt:lpstr>Intensity Slicing</vt:lpstr>
      <vt:lpstr>Intensity Slicing Application</vt:lpstr>
      <vt:lpstr>Intensity Slicing Application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CPE415 Digital Image Processing</dc:title>
  <dc:creator>Dr. Ikram Ullah Khosa</dc:creator>
  <cp:lastModifiedBy>Riaz Ahmad</cp:lastModifiedBy>
  <cp:revision>3</cp:revision>
  <dcterms:created xsi:type="dcterms:W3CDTF">2026-05-01T17:56:13Z</dcterms:created>
  <dcterms:modified xsi:type="dcterms:W3CDTF">2026-05-02T17:10:31Z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2024-04-04T00:00:00Z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2026-05-01T00:00:00Z</vt:filetime>
  </property>
  <property fmtid="{D5CDD505-2E9C-101B-9397-08002B2CF9AE}" pid="6" name="Producer">
    <vt:lpwstr>Microsoft® PowerPoint® for Microsoft 365</vt:lpwstr>
  </property>
</Properties>
</file>