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74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6604"/>
            <a:ext cx="10769600" cy="1197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4890" y="1166621"/>
            <a:ext cx="10013315" cy="137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67961" y="6433082"/>
            <a:ext cx="3658234" cy="212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png"/><Relationship Id="rId4" Type="http://schemas.openxmlformats.org/officeDocument/2006/relationships/image" Target="../media/image38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31791" y="1190497"/>
            <a:ext cx="3327400" cy="17145"/>
          </a:xfrm>
          <a:custGeom>
            <a:avLst/>
            <a:gdLst/>
            <a:ahLst/>
            <a:cxnLst/>
            <a:rect l="l" t="t" r="r" b="b"/>
            <a:pathLst>
              <a:path w="3327400" h="17144">
                <a:moveTo>
                  <a:pt x="3326891" y="0"/>
                </a:moveTo>
                <a:lnTo>
                  <a:pt x="0" y="0"/>
                </a:lnTo>
                <a:lnTo>
                  <a:pt x="0" y="16763"/>
                </a:lnTo>
                <a:lnTo>
                  <a:pt x="3326891" y="16763"/>
                </a:lnTo>
                <a:lnTo>
                  <a:pt x="33268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49878" y="458851"/>
            <a:ext cx="5495290" cy="5293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400" spc="-290" dirty="0">
                <a:latin typeface="Trebuchet MS"/>
                <a:cs typeface="Trebuchet MS"/>
              </a:rPr>
              <a:t>Lecture</a:t>
            </a:r>
            <a:r>
              <a:rPr sz="5400" spc="-600" dirty="0">
                <a:latin typeface="Trebuchet MS"/>
                <a:cs typeface="Trebuchet MS"/>
              </a:rPr>
              <a:t> </a:t>
            </a:r>
            <a:r>
              <a:rPr sz="5400" spc="-125" dirty="0">
                <a:latin typeface="Trebuchet MS"/>
                <a:cs typeface="Trebuchet MS"/>
              </a:rPr>
              <a:t>-</a:t>
            </a:r>
            <a:r>
              <a:rPr sz="5400" spc="-570" dirty="0">
                <a:latin typeface="Trebuchet MS"/>
                <a:cs typeface="Trebuchet MS"/>
              </a:rPr>
              <a:t> </a:t>
            </a:r>
            <a:r>
              <a:rPr sz="5400" spc="-25" dirty="0">
                <a:latin typeface="Trebuchet MS"/>
                <a:cs typeface="Trebuchet MS"/>
              </a:rPr>
              <a:t>15</a:t>
            </a:r>
            <a:endParaRPr sz="5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185"/>
              </a:spcBef>
            </a:pPr>
            <a:r>
              <a:rPr sz="5400" b="1" spc="-235" dirty="0">
                <a:latin typeface="Trebuchet MS"/>
                <a:cs typeface="Trebuchet MS"/>
              </a:rPr>
              <a:t>Chapter</a:t>
            </a:r>
            <a:r>
              <a:rPr sz="5400" b="1" spc="-555" dirty="0">
                <a:latin typeface="Trebuchet MS"/>
                <a:cs typeface="Trebuchet MS"/>
              </a:rPr>
              <a:t> </a:t>
            </a:r>
            <a:r>
              <a:rPr sz="5400" b="1" spc="-775" dirty="0">
                <a:latin typeface="Trebuchet MS"/>
                <a:cs typeface="Trebuchet MS"/>
              </a:rPr>
              <a:t>G</a:t>
            </a:r>
            <a:endParaRPr sz="5400">
              <a:latin typeface="Trebuchet MS"/>
              <a:cs typeface="Trebuchet MS"/>
            </a:endParaRPr>
          </a:p>
          <a:p>
            <a:pPr marL="12700" marR="5080" algn="ctr">
              <a:lnSpc>
                <a:spcPts val="5830"/>
              </a:lnSpc>
              <a:spcBef>
                <a:spcPts val="5925"/>
              </a:spcBef>
            </a:pPr>
            <a:r>
              <a:rPr sz="5400" b="1" spc="-35" dirty="0">
                <a:latin typeface="Trebuchet MS"/>
                <a:cs typeface="Trebuchet MS"/>
              </a:rPr>
              <a:t>MORPHOLOGICAL </a:t>
            </a:r>
            <a:r>
              <a:rPr sz="5400" b="1" spc="-10" dirty="0">
                <a:latin typeface="Trebuchet MS"/>
                <a:cs typeface="Trebuchet MS"/>
              </a:rPr>
              <a:t>IMAGE </a:t>
            </a:r>
            <a:r>
              <a:rPr sz="5400" b="1" spc="75" dirty="0">
                <a:latin typeface="Trebuchet MS"/>
                <a:cs typeface="Trebuchet MS"/>
              </a:rPr>
              <a:t>PROCESSING</a:t>
            </a:r>
            <a:endParaRPr sz="5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8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0" dirty="0"/>
              <a:t>Preliminaries:</a:t>
            </a:r>
            <a:r>
              <a:rPr spc="-350" dirty="0"/>
              <a:t> </a:t>
            </a:r>
            <a:r>
              <a:rPr sz="2400" i="1" spc="-90" dirty="0">
                <a:latin typeface="Trebuchet MS"/>
                <a:cs typeface="Trebuchet MS"/>
              </a:rPr>
              <a:t>Morphology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15057" y="1376298"/>
            <a:ext cx="8569325" cy="489585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79400" marR="44450" indent="-228600" algn="just">
              <a:lnSpc>
                <a:spcPts val="2590"/>
              </a:lnSpc>
              <a:spcBef>
                <a:spcPts val="725"/>
              </a:spcBef>
              <a:buChar char="•"/>
              <a:tabLst>
                <a:tab pos="279400" algn="l"/>
              </a:tabLst>
            </a:pPr>
            <a:r>
              <a:rPr sz="2700" dirty="0">
                <a:latin typeface="Trebuchet MS"/>
                <a:cs typeface="Trebuchet MS"/>
              </a:rPr>
              <a:t>Morphology</a:t>
            </a:r>
            <a:r>
              <a:rPr sz="2700" spc="-6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in</a:t>
            </a:r>
            <a:r>
              <a:rPr sz="2700" spc="-5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image</a:t>
            </a:r>
            <a:r>
              <a:rPr sz="2700" spc="-5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processing</a:t>
            </a:r>
            <a:r>
              <a:rPr sz="2700" spc="-4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is</a:t>
            </a:r>
            <a:r>
              <a:rPr sz="2700" spc="-6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a</a:t>
            </a:r>
            <a:r>
              <a:rPr sz="2700" spc="-50" dirty="0">
                <a:latin typeface="Trebuchet MS"/>
                <a:cs typeface="Trebuchet MS"/>
              </a:rPr>
              <a:t> </a:t>
            </a:r>
            <a:r>
              <a:rPr sz="2700" spc="-20" dirty="0">
                <a:latin typeface="Trebuchet MS"/>
                <a:cs typeface="Trebuchet MS"/>
              </a:rPr>
              <a:t>tool</a:t>
            </a:r>
            <a:r>
              <a:rPr sz="2700" spc="-55" dirty="0">
                <a:latin typeface="Trebuchet MS"/>
                <a:cs typeface="Trebuchet MS"/>
              </a:rPr>
              <a:t> </a:t>
            </a:r>
            <a:r>
              <a:rPr sz="2700" spc="-90" dirty="0">
                <a:latin typeface="Trebuchet MS"/>
                <a:cs typeface="Trebuchet MS"/>
              </a:rPr>
              <a:t>for</a:t>
            </a:r>
            <a:r>
              <a:rPr sz="2700" spc="-70" dirty="0">
                <a:latin typeface="Trebuchet MS"/>
                <a:cs typeface="Trebuchet MS"/>
              </a:rPr>
              <a:t> </a:t>
            </a:r>
            <a:r>
              <a:rPr sz="2700" spc="-75" dirty="0">
                <a:latin typeface="Trebuchet MS"/>
                <a:cs typeface="Trebuchet MS"/>
              </a:rPr>
              <a:t>extracting </a:t>
            </a:r>
            <a:r>
              <a:rPr sz="2700" spc="-45" dirty="0">
                <a:latin typeface="Trebuchet MS"/>
                <a:cs typeface="Trebuchet MS"/>
              </a:rPr>
              <a:t>image</a:t>
            </a:r>
            <a:r>
              <a:rPr sz="2700" spc="-14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components</a:t>
            </a:r>
            <a:r>
              <a:rPr sz="2700" spc="-85" dirty="0">
                <a:latin typeface="Trebuchet MS"/>
                <a:cs typeface="Trebuchet MS"/>
              </a:rPr>
              <a:t> </a:t>
            </a:r>
            <a:r>
              <a:rPr sz="2700" spc="-150" dirty="0">
                <a:latin typeface="Trebuchet MS"/>
                <a:cs typeface="Trebuchet MS"/>
              </a:rPr>
              <a:t>that</a:t>
            </a:r>
            <a:r>
              <a:rPr sz="2700" spc="-50" dirty="0">
                <a:latin typeface="Trebuchet MS"/>
                <a:cs typeface="Trebuchet MS"/>
              </a:rPr>
              <a:t> </a:t>
            </a:r>
            <a:r>
              <a:rPr sz="2700" spc="-120" dirty="0">
                <a:latin typeface="Trebuchet MS"/>
                <a:cs typeface="Trebuchet MS"/>
              </a:rPr>
              <a:t>are</a:t>
            </a:r>
            <a:r>
              <a:rPr sz="2700" spc="-80" dirty="0">
                <a:latin typeface="Trebuchet MS"/>
                <a:cs typeface="Trebuchet MS"/>
              </a:rPr>
              <a:t> </a:t>
            </a:r>
            <a:r>
              <a:rPr sz="2700" spc="-25" dirty="0">
                <a:latin typeface="Trebuchet MS"/>
                <a:cs typeface="Trebuchet MS"/>
              </a:rPr>
              <a:t>useful</a:t>
            </a:r>
            <a:r>
              <a:rPr sz="2700" spc="-85" dirty="0">
                <a:latin typeface="Trebuchet MS"/>
                <a:cs typeface="Trebuchet MS"/>
              </a:rPr>
              <a:t> </a:t>
            </a:r>
            <a:r>
              <a:rPr sz="2700" spc="-145" dirty="0">
                <a:latin typeface="Trebuchet MS"/>
                <a:cs typeface="Trebuchet MS"/>
              </a:rPr>
              <a:t>in</a:t>
            </a:r>
            <a:r>
              <a:rPr sz="2700" spc="-60" dirty="0">
                <a:latin typeface="Trebuchet MS"/>
                <a:cs typeface="Trebuchet MS"/>
              </a:rPr>
              <a:t> </a:t>
            </a:r>
            <a:r>
              <a:rPr sz="2700" spc="-120" dirty="0">
                <a:latin typeface="Trebuchet MS"/>
                <a:cs typeface="Trebuchet MS"/>
              </a:rPr>
              <a:t>the</a:t>
            </a:r>
            <a:r>
              <a:rPr sz="2700" spc="-75" dirty="0">
                <a:latin typeface="Trebuchet MS"/>
                <a:cs typeface="Trebuchet MS"/>
              </a:rPr>
              <a:t> </a:t>
            </a:r>
            <a:r>
              <a:rPr sz="2700" spc="-45" dirty="0">
                <a:latin typeface="Trebuchet MS"/>
                <a:cs typeface="Trebuchet MS"/>
              </a:rPr>
              <a:t>representation </a:t>
            </a:r>
            <a:r>
              <a:rPr sz="2700" dirty="0">
                <a:latin typeface="Trebuchet MS"/>
                <a:cs typeface="Trebuchet MS"/>
              </a:rPr>
              <a:t>and</a:t>
            </a:r>
            <a:r>
              <a:rPr sz="2700" spc="18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description</a:t>
            </a:r>
            <a:r>
              <a:rPr sz="2700" spc="18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of</a:t>
            </a:r>
            <a:r>
              <a:rPr sz="2700" spc="18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region</a:t>
            </a:r>
            <a:r>
              <a:rPr sz="2700" spc="18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shape,</a:t>
            </a:r>
            <a:r>
              <a:rPr sz="2700" spc="195" dirty="0">
                <a:latin typeface="Trebuchet MS"/>
                <a:cs typeface="Trebuchet MS"/>
              </a:rPr>
              <a:t> </a:t>
            </a:r>
            <a:r>
              <a:rPr sz="2700" spc="75" dirty="0">
                <a:latin typeface="Trebuchet MS"/>
                <a:cs typeface="Trebuchet MS"/>
              </a:rPr>
              <a:t>such</a:t>
            </a:r>
            <a:r>
              <a:rPr sz="2700" spc="180" dirty="0">
                <a:latin typeface="Trebuchet MS"/>
                <a:cs typeface="Trebuchet MS"/>
              </a:rPr>
              <a:t> </a:t>
            </a:r>
            <a:r>
              <a:rPr sz="2700" spc="114" dirty="0">
                <a:latin typeface="Trebuchet MS"/>
                <a:cs typeface="Trebuchet MS"/>
              </a:rPr>
              <a:t>as</a:t>
            </a:r>
            <a:r>
              <a:rPr sz="2700" spc="190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boundaries </a:t>
            </a:r>
            <a:r>
              <a:rPr sz="2700" dirty="0">
                <a:latin typeface="Trebuchet MS"/>
                <a:cs typeface="Trebuchet MS"/>
              </a:rPr>
              <a:t>and</a:t>
            </a:r>
            <a:r>
              <a:rPr sz="2700" spc="-225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skeletons.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90"/>
              </a:spcBef>
              <a:buFont typeface="Trebuchet MS"/>
              <a:buChar char="•"/>
            </a:pPr>
            <a:endParaRPr sz="2700">
              <a:latin typeface="Trebuchet MS"/>
              <a:cs typeface="Trebuchet MS"/>
            </a:endParaRPr>
          </a:p>
          <a:p>
            <a:pPr marL="279400" marR="41910" indent="-228600" algn="just">
              <a:lnSpc>
                <a:spcPct val="80000"/>
              </a:lnSpc>
              <a:buChar char="•"/>
              <a:tabLst>
                <a:tab pos="279400" algn="l"/>
              </a:tabLst>
            </a:pPr>
            <a:r>
              <a:rPr sz="2700" spc="-100" dirty="0">
                <a:latin typeface="Trebuchet MS"/>
                <a:cs typeface="Trebuchet MS"/>
              </a:rPr>
              <a:t>Furthermore,</a:t>
            </a:r>
            <a:r>
              <a:rPr sz="2700" spc="-105" dirty="0">
                <a:latin typeface="Trebuchet MS"/>
                <a:cs typeface="Trebuchet MS"/>
              </a:rPr>
              <a:t> </a:t>
            </a:r>
            <a:r>
              <a:rPr sz="2700" spc="-135" dirty="0">
                <a:latin typeface="Trebuchet MS"/>
                <a:cs typeface="Trebuchet MS"/>
              </a:rPr>
              <a:t>the</a:t>
            </a:r>
            <a:r>
              <a:rPr sz="2700" spc="-70" dirty="0">
                <a:latin typeface="Trebuchet MS"/>
                <a:cs typeface="Trebuchet MS"/>
              </a:rPr>
              <a:t> </a:t>
            </a:r>
            <a:r>
              <a:rPr sz="2700" spc="-30" dirty="0">
                <a:latin typeface="Trebuchet MS"/>
                <a:cs typeface="Trebuchet MS"/>
              </a:rPr>
              <a:t>morphological</a:t>
            </a:r>
            <a:r>
              <a:rPr sz="2700" spc="-165" dirty="0">
                <a:latin typeface="Trebuchet MS"/>
                <a:cs typeface="Trebuchet MS"/>
              </a:rPr>
              <a:t> </a:t>
            </a:r>
            <a:r>
              <a:rPr sz="2700" spc="-45" dirty="0">
                <a:latin typeface="Trebuchet MS"/>
                <a:cs typeface="Trebuchet MS"/>
              </a:rPr>
              <a:t>operations</a:t>
            </a:r>
            <a:r>
              <a:rPr sz="2700" spc="-12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can</a:t>
            </a:r>
            <a:r>
              <a:rPr sz="2700" spc="-105" dirty="0">
                <a:latin typeface="Trebuchet MS"/>
                <a:cs typeface="Trebuchet MS"/>
              </a:rPr>
              <a:t> </a:t>
            </a:r>
            <a:r>
              <a:rPr sz="2700" spc="-100" dirty="0">
                <a:latin typeface="Trebuchet MS"/>
                <a:cs typeface="Trebuchet MS"/>
              </a:rPr>
              <a:t>be</a:t>
            </a:r>
            <a:r>
              <a:rPr sz="2700" spc="-105" dirty="0">
                <a:latin typeface="Trebuchet MS"/>
                <a:cs typeface="Trebuchet MS"/>
              </a:rPr>
              <a:t> </a:t>
            </a:r>
            <a:r>
              <a:rPr sz="2700" spc="30" dirty="0">
                <a:latin typeface="Trebuchet MS"/>
                <a:cs typeface="Trebuchet MS"/>
              </a:rPr>
              <a:t>used </a:t>
            </a:r>
            <a:r>
              <a:rPr sz="2700" spc="-125" dirty="0">
                <a:latin typeface="Trebuchet MS"/>
                <a:cs typeface="Trebuchet MS"/>
              </a:rPr>
              <a:t>for</a:t>
            </a:r>
            <a:r>
              <a:rPr sz="2700" spc="-220" dirty="0">
                <a:latin typeface="Trebuchet MS"/>
                <a:cs typeface="Trebuchet MS"/>
              </a:rPr>
              <a:t> </a:t>
            </a:r>
            <a:r>
              <a:rPr sz="2700" spc="-130" dirty="0">
                <a:latin typeface="Trebuchet MS"/>
                <a:cs typeface="Trebuchet MS"/>
              </a:rPr>
              <a:t>filtering,</a:t>
            </a:r>
            <a:r>
              <a:rPr sz="2700" spc="-229" dirty="0">
                <a:latin typeface="Trebuchet MS"/>
                <a:cs typeface="Trebuchet MS"/>
              </a:rPr>
              <a:t> </a:t>
            </a:r>
            <a:r>
              <a:rPr sz="2700" spc="-75" dirty="0">
                <a:latin typeface="Trebuchet MS"/>
                <a:cs typeface="Trebuchet MS"/>
              </a:rPr>
              <a:t>thinning</a:t>
            </a:r>
            <a:r>
              <a:rPr sz="2700" spc="-18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and</a:t>
            </a:r>
            <a:r>
              <a:rPr sz="2700" spc="-229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pruning.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55"/>
              </a:spcBef>
              <a:buFont typeface="Trebuchet MS"/>
              <a:buChar char="•"/>
            </a:pPr>
            <a:endParaRPr sz="2700">
              <a:latin typeface="Trebuchet MS"/>
              <a:cs typeface="Trebuchet MS"/>
            </a:endParaRPr>
          </a:p>
          <a:p>
            <a:pPr marL="279400" marR="43180" indent="-228600" algn="just">
              <a:lnSpc>
                <a:spcPct val="80000"/>
              </a:lnSpc>
              <a:buChar char="•"/>
              <a:tabLst>
                <a:tab pos="279400" algn="l"/>
              </a:tabLst>
            </a:pPr>
            <a:r>
              <a:rPr sz="2700" dirty="0">
                <a:latin typeface="Trebuchet MS"/>
                <a:cs typeface="Trebuchet MS"/>
              </a:rPr>
              <a:t>The</a:t>
            </a:r>
            <a:r>
              <a:rPr sz="2700" spc="14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language</a:t>
            </a:r>
            <a:r>
              <a:rPr sz="2700" spc="15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of</a:t>
            </a:r>
            <a:r>
              <a:rPr sz="2700" spc="15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the</a:t>
            </a:r>
            <a:r>
              <a:rPr sz="2700" spc="16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Morphology</a:t>
            </a:r>
            <a:r>
              <a:rPr sz="2700" spc="160" dirty="0">
                <a:latin typeface="Trebuchet MS"/>
                <a:cs typeface="Trebuchet MS"/>
              </a:rPr>
              <a:t> </a:t>
            </a:r>
            <a:r>
              <a:rPr sz="2700" spc="50" dirty="0">
                <a:latin typeface="Trebuchet MS"/>
                <a:cs typeface="Trebuchet MS"/>
              </a:rPr>
              <a:t>comes</a:t>
            </a:r>
            <a:r>
              <a:rPr sz="2700" spc="15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from</a:t>
            </a:r>
            <a:r>
              <a:rPr sz="2700" spc="15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the</a:t>
            </a:r>
            <a:r>
              <a:rPr sz="2700" spc="155" dirty="0">
                <a:latin typeface="Trebuchet MS"/>
                <a:cs typeface="Trebuchet MS"/>
              </a:rPr>
              <a:t> </a:t>
            </a:r>
            <a:r>
              <a:rPr sz="2700" spc="-25" dirty="0">
                <a:latin typeface="Trebuchet MS"/>
                <a:cs typeface="Trebuchet MS"/>
              </a:rPr>
              <a:t>set theory,</a:t>
            </a:r>
            <a:r>
              <a:rPr sz="2700" spc="26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where</a:t>
            </a:r>
            <a:r>
              <a:rPr sz="2700" spc="27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image</a:t>
            </a:r>
            <a:r>
              <a:rPr sz="2700" spc="27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objects</a:t>
            </a:r>
            <a:r>
              <a:rPr sz="2700" spc="26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can</a:t>
            </a:r>
            <a:r>
              <a:rPr sz="2700" spc="27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be</a:t>
            </a:r>
            <a:r>
              <a:rPr sz="2700" spc="27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represented</a:t>
            </a:r>
            <a:r>
              <a:rPr sz="2700" spc="254" dirty="0">
                <a:latin typeface="Trebuchet MS"/>
                <a:cs typeface="Trebuchet MS"/>
              </a:rPr>
              <a:t> </a:t>
            </a:r>
            <a:r>
              <a:rPr sz="2700" spc="-25" dirty="0">
                <a:latin typeface="Trebuchet MS"/>
                <a:cs typeface="Trebuchet MS"/>
              </a:rPr>
              <a:t>by </a:t>
            </a:r>
            <a:r>
              <a:rPr sz="2700" dirty="0">
                <a:latin typeface="Trebuchet MS"/>
                <a:cs typeface="Trebuchet MS"/>
              </a:rPr>
              <a:t>sets.</a:t>
            </a:r>
            <a:r>
              <a:rPr sz="2700" spc="15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For</a:t>
            </a:r>
            <a:r>
              <a:rPr sz="2700" spc="165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example,</a:t>
            </a:r>
            <a:r>
              <a:rPr sz="2700" spc="15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an</a:t>
            </a:r>
            <a:r>
              <a:rPr sz="2700" spc="16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image</a:t>
            </a:r>
            <a:r>
              <a:rPr sz="2700" spc="16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object</a:t>
            </a:r>
            <a:r>
              <a:rPr sz="2700" spc="16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containing</a:t>
            </a:r>
            <a:r>
              <a:rPr sz="2700" spc="180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black </a:t>
            </a:r>
            <a:r>
              <a:rPr sz="2700" dirty="0">
                <a:latin typeface="Trebuchet MS"/>
                <a:cs typeface="Trebuchet MS"/>
              </a:rPr>
              <a:t>pixels</a:t>
            </a:r>
            <a:r>
              <a:rPr sz="2700" spc="26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can</a:t>
            </a:r>
            <a:r>
              <a:rPr sz="2700" spc="25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be</a:t>
            </a:r>
            <a:r>
              <a:rPr sz="2700" spc="26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considered</a:t>
            </a:r>
            <a:r>
              <a:rPr sz="2700" spc="26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a</a:t>
            </a:r>
            <a:r>
              <a:rPr sz="2700" spc="26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set</a:t>
            </a:r>
            <a:r>
              <a:rPr sz="2700" spc="27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of</a:t>
            </a:r>
            <a:r>
              <a:rPr sz="2700" spc="26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black</a:t>
            </a:r>
            <a:r>
              <a:rPr sz="2700" spc="27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pixels</a:t>
            </a:r>
            <a:r>
              <a:rPr sz="2700" spc="26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in</a:t>
            </a:r>
            <a:r>
              <a:rPr sz="2700" spc="260" dirty="0">
                <a:latin typeface="Trebuchet MS"/>
                <a:cs typeface="Trebuchet MS"/>
              </a:rPr>
              <a:t> </a:t>
            </a:r>
            <a:r>
              <a:rPr sz="2700" spc="85" dirty="0">
                <a:latin typeface="Trebuchet MS"/>
                <a:cs typeface="Trebuchet MS"/>
              </a:rPr>
              <a:t>2D </a:t>
            </a:r>
            <a:r>
              <a:rPr sz="2700" spc="50" dirty="0">
                <a:latin typeface="Trebuchet MS"/>
                <a:cs typeface="Trebuchet MS"/>
              </a:rPr>
              <a:t>space</a:t>
            </a:r>
            <a:r>
              <a:rPr sz="2700" spc="-254" dirty="0">
                <a:latin typeface="Trebuchet MS"/>
                <a:cs typeface="Trebuchet MS"/>
              </a:rPr>
              <a:t> </a:t>
            </a:r>
            <a:r>
              <a:rPr sz="2700" spc="-85" dirty="0">
                <a:latin typeface="Trebuchet MS"/>
                <a:cs typeface="Trebuchet MS"/>
              </a:rPr>
              <a:t>of</a:t>
            </a:r>
            <a:r>
              <a:rPr sz="2700" spc="-240" dirty="0">
                <a:latin typeface="Trebuchet MS"/>
                <a:cs typeface="Trebuchet MS"/>
              </a:rPr>
              <a:t> </a:t>
            </a:r>
            <a:r>
              <a:rPr sz="2700" spc="-25" dirty="0">
                <a:latin typeface="Trebuchet MS"/>
                <a:cs typeface="Trebuchet MS"/>
              </a:rPr>
              <a:t>Z</a:t>
            </a:r>
            <a:r>
              <a:rPr sz="2700" spc="-37" baseline="24691" dirty="0">
                <a:latin typeface="Trebuchet MS"/>
                <a:cs typeface="Trebuchet MS"/>
              </a:rPr>
              <a:t>2</a:t>
            </a:r>
            <a:r>
              <a:rPr sz="2700" spc="-25" dirty="0">
                <a:latin typeface="Trebuchet MS"/>
                <a:cs typeface="Trebuchet MS"/>
              </a:rPr>
              <a:t>.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68935"/>
            <a:ext cx="63544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0" dirty="0"/>
              <a:t>Preliminaries:</a:t>
            </a:r>
            <a:r>
              <a:rPr spc="-380" dirty="0"/>
              <a:t> </a:t>
            </a:r>
            <a:r>
              <a:rPr sz="2400" i="1" spc="-90" dirty="0">
                <a:latin typeface="Trebuchet MS"/>
                <a:cs typeface="Trebuchet MS"/>
              </a:rPr>
              <a:t>Set</a:t>
            </a:r>
            <a:r>
              <a:rPr sz="2400" i="1" spc="-220" dirty="0">
                <a:latin typeface="Trebuchet MS"/>
                <a:cs typeface="Trebuchet MS"/>
              </a:rPr>
              <a:t> </a:t>
            </a:r>
            <a:r>
              <a:rPr sz="2400" i="1" spc="-165" dirty="0">
                <a:latin typeface="Trebuchet MS"/>
                <a:cs typeface="Trebuchet MS"/>
              </a:rPr>
              <a:t>Theory</a:t>
            </a:r>
            <a:r>
              <a:rPr sz="2400" i="1" spc="-204" dirty="0">
                <a:latin typeface="Trebuchet MS"/>
                <a:cs typeface="Trebuchet MS"/>
              </a:rPr>
              <a:t> </a:t>
            </a:r>
            <a:r>
              <a:rPr sz="2400" i="1" spc="-80" dirty="0">
                <a:latin typeface="Trebuchet MS"/>
                <a:cs typeface="Trebuchet MS"/>
              </a:rPr>
              <a:t>Fundamentals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91666" y="1027938"/>
            <a:ext cx="4264025" cy="932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0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254000" algn="l"/>
              </a:tabLst>
            </a:pPr>
            <a:r>
              <a:rPr sz="1700" spc="-40" dirty="0">
                <a:latin typeface="Trebuchet MS"/>
                <a:cs typeface="Trebuchet MS"/>
              </a:rPr>
              <a:t>Given</a:t>
            </a:r>
            <a:r>
              <a:rPr sz="1700" spc="-165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that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set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in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Z</a:t>
            </a:r>
            <a:r>
              <a:rPr sz="1650" spc="-15" baseline="25252" dirty="0">
                <a:latin typeface="Trebuchet MS"/>
                <a:cs typeface="Trebuchet MS"/>
              </a:rPr>
              <a:t>2</a:t>
            </a:r>
            <a:r>
              <a:rPr sz="1700" spc="-10" dirty="0">
                <a:latin typeface="Trebuchet MS"/>
                <a:cs typeface="Trebuchet MS"/>
              </a:rPr>
              <a:t>and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a=(a</a:t>
            </a:r>
            <a:r>
              <a:rPr sz="1650" spc="-82" baseline="-20202" dirty="0">
                <a:latin typeface="Trebuchet MS"/>
                <a:cs typeface="Trebuchet MS"/>
              </a:rPr>
              <a:t>1</a:t>
            </a:r>
            <a:r>
              <a:rPr sz="1700" spc="-55" dirty="0">
                <a:latin typeface="Trebuchet MS"/>
                <a:cs typeface="Trebuchet MS"/>
              </a:rPr>
              <a:t>,a</a:t>
            </a:r>
            <a:r>
              <a:rPr sz="1650" spc="-82" baseline="-20202" dirty="0">
                <a:latin typeface="Trebuchet MS"/>
                <a:cs typeface="Trebuchet MS"/>
              </a:rPr>
              <a:t>2</a:t>
            </a:r>
            <a:r>
              <a:rPr sz="1700" spc="-55" dirty="0">
                <a:latin typeface="Trebuchet MS"/>
                <a:cs typeface="Trebuchet MS"/>
              </a:rPr>
              <a:t>),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then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700">
              <a:latin typeface="Trebuchet MS"/>
              <a:cs typeface="Trebuchet MS"/>
            </a:endParaRPr>
          </a:p>
          <a:p>
            <a:pPr marL="441959" algn="ctr">
              <a:lnSpc>
                <a:spcPct val="100000"/>
              </a:lnSpc>
              <a:tabLst>
                <a:tab pos="2595245" algn="l"/>
              </a:tabLst>
            </a:pPr>
            <a:r>
              <a:rPr sz="2550" baseline="3267" dirty="0">
                <a:latin typeface="Trebuchet MS"/>
                <a:cs typeface="Trebuchet MS"/>
              </a:rPr>
              <a:t>a</a:t>
            </a:r>
            <a:r>
              <a:rPr sz="2550" spc="-225" baseline="3267" dirty="0">
                <a:latin typeface="Trebuchet MS"/>
                <a:cs typeface="Trebuchet MS"/>
              </a:rPr>
              <a:t> </a:t>
            </a:r>
            <a:r>
              <a:rPr sz="2550" baseline="3267" dirty="0">
                <a:latin typeface="Trebuchet MS"/>
                <a:cs typeface="Trebuchet MS"/>
              </a:rPr>
              <a:t>is</a:t>
            </a:r>
            <a:r>
              <a:rPr sz="2550" spc="-225" baseline="3267" dirty="0">
                <a:latin typeface="Trebuchet MS"/>
                <a:cs typeface="Trebuchet MS"/>
              </a:rPr>
              <a:t> </a:t>
            </a:r>
            <a:r>
              <a:rPr sz="2550" baseline="3267" dirty="0">
                <a:latin typeface="Trebuchet MS"/>
                <a:cs typeface="Trebuchet MS"/>
              </a:rPr>
              <a:t>an</a:t>
            </a:r>
            <a:r>
              <a:rPr sz="2550" spc="-195" baseline="3267" dirty="0">
                <a:latin typeface="Trebuchet MS"/>
                <a:cs typeface="Trebuchet MS"/>
              </a:rPr>
              <a:t> </a:t>
            </a:r>
            <a:r>
              <a:rPr sz="2550" spc="-67" baseline="3267" dirty="0">
                <a:latin typeface="Trebuchet MS"/>
                <a:cs typeface="Trebuchet MS"/>
              </a:rPr>
              <a:t>element</a:t>
            </a:r>
            <a:r>
              <a:rPr sz="2550" spc="-225" baseline="3267" dirty="0">
                <a:latin typeface="Trebuchet MS"/>
                <a:cs typeface="Trebuchet MS"/>
              </a:rPr>
              <a:t> </a:t>
            </a:r>
            <a:r>
              <a:rPr sz="2550" spc="-67" baseline="3267" dirty="0">
                <a:latin typeface="Trebuchet MS"/>
                <a:cs typeface="Trebuchet MS"/>
              </a:rPr>
              <a:t>in</a:t>
            </a:r>
            <a:r>
              <a:rPr sz="2550" spc="-209" baseline="3267" dirty="0">
                <a:latin typeface="Trebuchet MS"/>
                <a:cs typeface="Trebuchet MS"/>
              </a:rPr>
              <a:t> </a:t>
            </a:r>
            <a:r>
              <a:rPr sz="2550" spc="-37" baseline="3267" dirty="0">
                <a:latin typeface="Trebuchet MS"/>
                <a:cs typeface="Trebuchet MS"/>
              </a:rPr>
              <a:t>A:</a:t>
            </a:r>
            <a:r>
              <a:rPr sz="2550" baseline="3267" dirty="0">
                <a:latin typeface="Trebuchet MS"/>
                <a:cs typeface="Trebuchet MS"/>
              </a:rPr>
              <a:t>	</a:t>
            </a:r>
            <a:r>
              <a:rPr sz="2400" i="1" spc="60" dirty="0">
                <a:latin typeface="Times New Roman"/>
                <a:cs typeface="Times New Roman"/>
              </a:rPr>
              <a:t>a</a:t>
            </a:r>
            <a:r>
              <a:rPr sz="2400" i="1" spc="-340" dirty="0">
                <a:latin typeface="Times New Roman"/>
                <a:cs typeface="Times New Roman"/>
              </a:rPr>
              <a:t> </a:t>
            </a:r>
            <a:r>
              <a:rPr sz="2400" spc="85" dirty="0">
                <a:latin typeface="Symbol"/>
                <a:cs typeface="Symbol"/>
              </a:rPr>
              <a:t>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i="1" spc="35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9020" y="2262632"/>
            <a:ext cx="223393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not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element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in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A: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04366" y="2878023"/>
            <a:ext cx="478790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har char="•"/>
              <a:tabLst>
                <a:tab pos="240665" algn="l"/>
              </a:tabLst>
            </a:pPr>
            <a:r>
              <a:rPr sz="1700" spc="-50" dirty="0">
                <a:latin typeface="Trebuchet MS"/>
                <a:cs typeface="Trebuchet MS"/>
              </a:rPr>
              <a:t>given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sets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B,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said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be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subset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B: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4366" y="3495802"/>
            <a:ext cx="34823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241300" algn="l"/>
              </a:tabLst>
            </a:pPr>
            <a:r>
              <a:rPr sz="1700" spc="-75" dirty="0">
                <a:latin typeface="Trebuchet MS"/>
                <a:cs typeface="Trebuchet MS"/>
              </a:rPr>
              <a:t>The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union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55" dirty="0">
                <a:latin typeface="Trebuchet MS"/>
                <a:cs typeface="Trebuchet MS"/>
              </a:rPr>
              <a:t>B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60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denoted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by: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4366" y="4112717"/>
            <a:ext cx="406654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har char="•"/>
              <a:tabLst>
                <a:tab pos="240665" algn="l"/>
              </a:tabLst>
            </a:pPr>
            <a:r>
              <a:rPr sz="1700" spc="-80" dirty="0">
                <a:latin typeface="Trebuchet MS"/>
                <a:cs typeface="Trebuchet MS"/>
              </a:rPr>
              <a:t>The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intersection</a:t>
            </a:r>
            <a:r>
              <a:rPr sz="1700" spc="-18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65" dirty="0">
                <a:latin typeface="Trebuchet MS"/>
                <a:cs typeface="Trebuchet MS"/>
              </a:rPr>
              <a:t>B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denoted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by:</a:t>
            </a:r>
            <a:endParaRPr sz="17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4366" y="4642119"/>
            <a:ext cx="5611495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241300" algn="l"/>
                <a:tab pos="4318000" algn="l"/>
                <a:tab pos="4798695" algn="l"/>
              </a:tabLst>
            </a:pPr>
            <a:r>
              <a:rPr sz="1700" spc="-95" dirty="0">
                <a:latin typeface="Trebuchet MS"/>
                <a:cs typeface="Trebuchet MS"/>
              </a:rPr>
              <a:t>Two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sets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are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disjoint/mutually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exclusive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if</a:t>
            </a:r>
            <a:r>
              <a:rPr sz="1700" dirty="0">
                <a:latin typeface="Trebuchet MS"/>
                <a:cs typeface="Trebuchet MS"/>
              </a:rPr>
              <a:t>	</a:t>
            </a:r>
            <a:r>
              <a:rPr sz="2350" i="1" spc="35" dirty="0">
                <a:latin typeface="Times New Roman"/>
                <a:cs typeface="Times New Roman"/>
              </a:rPr>
              <a:t>A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2350" i="1" spc="85" dirty="0">
                <a:latin typeface="Times New Roman"/>
                <a:cs typeface="Times New Roman"/>
              </a:rPr>
              <a:t>B</a:t>
            </a:r>
            <a:r>
              <a:rPr sz="2350" i="1" spc="-75" dirty="0">
                <a:latin typeface="Times New Roman"/>
                <a:cs typeface="Times New Roman"/>
              </a:rPr>
              <a:t> </a:t>
            </a:r>
            <a:r>
              <a:rPr sz="2350" spc="270" dirty="0">
                <a:latin typeface="Symbol"/>
                <a:cs typeface="Symbol"/>
              </a:rPr>
              <a:t></a:t>
            </a:r>
            <a:r>
              <a:rPr sz="2350" spc="270" dirty="0">
                <a:latin typeface="Times New Roman"/>
                <a:cs typeface="Times New Roman"/>
              </a:rPr>
              <a:t> </a:t>
            </a:r>
            <a:endParaRPr sz="235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40916" y="2152918"/>
            <a:ext cx="699135" cy="3956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00" i="1" spc="70" dirty="0">
                <a:latin typeface="Times New Roman"/>
                <a:cs typeface="Times New Roman"/>
              </a:rPr>
              <a:t>a</a:t>
            </a:r>
            <a:r>
              <a:rPr sz="2400" i="1" spc="-340" dirty="0">
                <a:latin typeface="Times New Roman"/>
                <a:cs typeface="Times New Roman"/>
              </a:rPr>
              <a:t> </a:t>
            </a:r>
            <a:r>
              <a:rPr sz="2400" spc="100" dirty="0">
                <a:latin typeface="Symbol"/>
                <a:cs typeface="Symbol"/>
              </a:rPr>
              <a:t>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i="1" spc="35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81217" y="2830176"/>
            <a:ext cx="756285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i="1" spc="70" dirty="0">
                <a:latin typeface="Times New Roman"/>
                <a:cs typeface="Times New Roman"/>
              </a:rPr>
              <a:t>A</a:t>
            </a:r>
            <a:r>
              <a:rPr sz="2350" i="1" spc="-210" dirty="0">
                <a:latin typeface="Times New Roman"/>
                <a:cs typeface="Times New Roman"/>
              </a:rPr>
              <a:t> </a:t>
            </a:r>
            <a:r>
              <a:rPr sz="2350" spc="80" dirty="0">
                <a:latin typeface="Symbol"/>
                <a:cs typeface="Symbol"/>
              </a:rPr>
              <a:t>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i="1" spc="20" dirty="0">
                <a:latin typeface="Times New Roman"/>
                <a:cs typeface="Times New Roman"/>
              </a:rPr>
              <a:t>B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10776" y="3421488"/>
            <a:ext cx="1249680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043305" algn="l"/>
              </a:tabLst>
            </a:pPr>
            <a:r>
              <a:rPr sz="2350" i="1" spc="90" dirty="0">
                <a:latin typeface="Times New Roman"/>
                <a:cs typeface="Times New Roman"/>
              </a:rPr>
              <a:t>C</a:t>
            </a:r>
            <a:r>
              <a:rPr sz="2350" i="1" spc="20" dirty="0">
                <a:latin typeface="Times New Roman"/>
                <a:cs typeface="Times New Roman"/>
              </a:rPr>
              <a:t> </a:t>
            </a:r>
            <a:r>
              <a:rPr sz="2350" spc="75" dirty="0">
                <a:latin typeface="Symbol"/>
                <a:cs typeface="Symbol"/>
              </a:rPr>
              <a:t></a:t>
            </a:r>
            <a:r>
              <a:rPr sz="2350" spc="100" dirty="0">
                <a:latin typeface="Times New Roman"/>
                <a:cs typeface="Times New Roman"/>
              </a:rPr>
              <a:t> </a:t>
            </a:r>
            <a:r>
              <a:rPr sz="2350" i="1" spc="10" dirty="0">
                <a:latin typeface="Times New Roman"/>
                <a:cs typeface="Times New Roman"/>
              </a:rPr>
              <a:t>A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2350" i="1" spc="10" dirty="0">
                <a:latin typeface="Times New Roman"/>
                <a:cs typeface="Times New Roman"/>
              </a:rPr>
              <a:t>B</a:t>
            </a:r>
            <a:endParaRPr sz="235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4976" y="3496050"/>
            <a:ext cx="507347" cy="30746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696181" y="4050900"/>
            <a:ext cx="1251585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043940" algn="l"/>
              </a:tabLst>
            </a:pPr>
            <a:r>
              <a:rPr sz="2350" i="1" spc="100" dirty="0">
                <a:latin typeface="Times New Roman"/>
                <a:cs typeface="Times New Roman"/>
              </a:rPr>
              <a:t>D</a:t>
            </a:r>
            <a:r>
              <a:rPr sz="2350" i="1" spc="-105" dirty="0">
                <a:latin typeface="Times New Roman"/>
                <a:cs typeface="Times New Roman"/>
              </a:rPr>
              <a:t> </a:t>
            </a:r>
            <a:r>
              <a:rPr sz="2350" spc="75" dirty="0">
                <a:latin typeface="Symbol"/>
                <a:cs typeface="Symbol"/>
              </a:rPr>
              <a:t></a:t>
            </a:r>
            <a:r>
              <a:rPr sz="2350" spc="80" dirty="0">
                <a:latin typeface="Times New Roman"/>
                <a:cs typeface="Times New Roman"/>
              </a:rPr>
              <a:t> </a:t>
            </a:r>
            <a:r>
              <a:rPr sz="2350" i="1" spc="35" dirty="0">
                <a:latin typeface="Times New Roman"/>
                <a:cs typeface="Times New Roman"/>
              </a:rPr>
              <a:t>A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2350" i="1" spc="35" dirty="0">
                <a:latin typeface="Times New Roman"/>
                <a:cs typeface="Times New Roman"/>
              </a:rPr>
              <a:t>B</a:t>
            </a:r>
            <a:endParaRPr sz="235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82161" y="4125462"/>
            <a:ext cx="512998" cy="30746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44702" y="4716774"/>
            <a:ext cx="1050457" cy="307463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9019695" y="5325207"/>
            <a:ext cx="0" cy="355600"/>
          </a:xfrm>
          <a:custGeom>
            <a:avLst/>
            <a:gdLst/>
            <a:ahLst/>
            <a:cxnLst/>
            <a:rect l="l" t="t" r="r" b="b"/>
            <a:pathLst>
              <a:path h="355600">
                <a:moveTo>
                  <a:pt x="0" y="0"/>
                </a:moveTo>
                <a:lnTo>
                  <a:pt x="0" y="355128"/>
                </a:lnTo>
              </a:path>
            </a:pathLst>
          </a:custGeom>
          <a:ln w="15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994525" y="4984273"/>
            <a:ext cx="1936114" cy="11468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97155" marR="30480" indent="-59690">
              <a:lnSpc>
                <a:spcPct val="117500"/>
              </a:lnSpc>
              <a:spcBef>
                <a:spcPts val="434"/>
              </a:spcBef>
            </a:pPr>
            <a:r>
              <a:rPr sz="2350" i="1" dirty="0">
                <a:latin typeface="Times New Roman"/>
                <a:cs typeface="Times New Roman"/>
              </a:rPr>
              <a:t>A</a:t>
            </a:r>
            <a:r>
              <a:rPr sz="2025" i="1" baseline="43209" dirty="0">
                <a:latin typeface="Times New Roman"/>
                <a:cs typeface="Times New Roman"/>
              </a:rPr>
              <a:t>c</a:t>
            </a:r>
            <a:r>
              <a:rPr sz="2025" i="1" spc="127" baseline="43209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spc="-200" dirty="0">
                <a:latin typeface="Times New Roman"/>
                <a:cs typeface="Times New Roman"/>
              </a:rPr>
              <a:t> </a:t>
            </a:r>
            <a:r>
              <a:rPr sz="5250" spc="-577" baseline="-3968" dirty="0">
                <a:latin typeface="Symbol"/>
                <a:cs typeface="Symbol"/>
              </a:rPr>
              <a:t></a:t>
            </a:r>
            <a:r>
              <a:rPr sz="2500" spc="-385" dirty="0">
                <a:latin typeface="Symbol"/>
                <a:cs typeface="Symbol"/>
              </a:rPr>
              <a:t></a:t>
            </a:r>
            <a:r>
              <a:rPr sz="2500" spc="85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Symbol"/>
                <a:cs typeface="Symbol"/>
              </a:rPr>
              <a:t></a:t>
            </a:r>
            <a:r>
              <a:rPr sz="2500" spc="-20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</a:t>
            </a:r>
            <a:r>
              <a:rPr sz="2350" spc="-80" dirty="0">
                <a:latin typeface="Times New Roman"/>
                <a:cs typeface="Times New Roman"/>
              </a:rPr>
              <a:t> </a:t>
            </a:r>
            <a:r>
              <a:rPr sz="2350" i="1" spc="-360" dirty="0">
                <a:latin typeface="Times New Roman"/>
                <a:cs typeface="Times New Roman"/>
              </a:rPr>
              <a:t>A</a:t>
            </a:r>
            <a:r>
              <a:rPr sz="5250" spc="-540" baseline="-3968" dirty="0">
                <a:latin typeface="Symbol"/>
                <a:cs typeface="Symbol"/>
              </a:rPr>
              <a:t></a:t>
            </a:r>
            <a:r>
              <a:rPr sz="5250" spc="-540" baseline="-3968" dirty="0">
                <a:latin typeface="Times New Roman"/>
                <a:cs typeface="Times New Roman"/>
              </a:rPr>
              <a:t> </a:t>
            </a:r>
            <a:r>
              <a:rPr sz="3525" i="1" spc="67" baseline="-24822" dirty="0">
                <a:latin typeface="Times New Roman"/>
                <a:cs typeface="Times New Roman"/>
              </a:rPr>
              <a:t>B</a:t>
            </a:r>
            <a:r>
              <a:rPr sz="1350" i="1" spc="45" dirty="0">
                <a:latin typeface="Times New Roman"/>
                <a:cs typeface="Times New Roman"/>
              </a:rPr>
              <a:t>c</a:t>
            </a:r>
            <a:endParaRPr sz="135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612585" y="5939642"/>
            <a:ext cx="0" cy="355600"/>
          </a:xfrm>
          <a:custGeom>
            <a:avLst/>
            <a:gdLst/>
            <a:ahLst/>
            <a:cxnLst/>
            <a:rect l="l" t="t" r="r" b="b"/>
            <a:pathLst>
              <a:path h="355600">
                <a:moveTo>
                  <a:pt x="0" y="0"/>
                </a:moveTo>
                <a:lnTo>
                  <a:pt x="0" y="355513"/>
                </a:lnTo>
              </a:path>
            </a:pathLst>
          </a:custGeom>
          <a:ln w="152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404366" y="5282653"/>
            <a:ext cx="6404610" cy="101219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05"/>
              </a:spcBef>
              <a:buChar char="•"/>
              <a:tabLst>
                <a:tab pos="240665" algn="l"/>
              </a:tabLst>
            </a:pPr>
            <a:r>
              <a:rPr sz="1700" spc="-80" dirty="0">
                <a:latin typeface="Trebuchet MS"/>
                <a:cs typeface="Trebuchet MS"/>
              </a:rPr>
              <a:t>The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complement</a:t>
            </a:r>
            <a:r>
              <a:rPr sz="1700" spc="-16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set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set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elements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not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contained</a:t>
            </a:r>
            <a:r>
              <a:rPr sz="1700" spc="-165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in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A,</a:t>
            </a:r>
            <a:endParaRPr sz="17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019"/>
              </a:spcBef>
              <a:buChar char="•"/>
              <a:tabLst>
                <a:tab pos="241300" algn="l"/>
                <a:tab pos="2875915" algn="l"/>
              </a:tabLst>
            </a:pPr>
            <a:r>
              <a:rPr sz="1700" spc="-75" dirty="0">
                <a:latin typeface="Trebuchet MS"/>
                <a:cs typeface="Trebuchet MS"/>
              </a:rPr>
              <a:t>The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difference</a:t>
            </a:r>
            <a:r>
              <a:rPr sz="1700" spc="-17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two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sets:</a:t>
            </a:r>
            <a:r>
              <a:rPr sz="1700" dirty="0">
                <a:latin typeface="Trebuchet MS"/>
                <a:cs typeface="Trebuchet MS"/>
              </a:rPr>
              <a:t>	</a:t>
            </a:r>
            <a:r>
              <a:rPr sz="2350" i="1" dirty="0">
                <a:latin typeface="Times New Roman"/>
                <a:cs typeface="Times New Roman"/>
              </a:rPr>
              <a:t>A</a:t>
            </a:r>
            <a:r>
              <a:rPr sz="2350" i="1" spc="-26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</a:t>
            </a:r>
            <a:r>
              <a:rPr sz="2350" spc="-105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B</a:t>
            </a:r>
            <a:r>
              <a:rPr sz="2350" i="1" spc="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spc="-215" dirty="0">
                <a:latin typeface="Times New Roman"/>
                <a:cs typeface="Times New Roman"/>
              </a:rPr>
              <a:t> </a:t>
            </a:r>
            <a:r>
              <a:rPr sz="5250" spc="-577" baseline="-3968" dirty="0">
                <a:latin typeface="Symbol"/>
                <a:cs typeface="Symbol"/>
              </a:rPr>
              <a:t></a:t>
            </a:r>
            <a:r>
              <a:rPr sz="2500" spc="-385" dirty="0">
                <a:latin typeface="Symbol"/>
                <a:cs typeface="Symbol"/>
              </a:rPr>
              <a:t></a:t>
            </a:r>
            <a:r>
              <a:rPr sz="2500" spc="70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Symbol"/>
                <a:cs typeface="Symbol"/>
              </a:rPr>
              <a:t></a:t>
            </a:r>
            <a:r>
              <a:rPr sz="2500" spc="-2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</a:t>
            </a:r>
            <a:r>
              <a:rPr sz="2350" spc="-90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A</a:t>
            </a:r>
            <a:r>
              <a:rPr sz="2350" dirty="0">
                <a:latin typeface="Times New Roman"/>
                <a:cs typeface="Times New Roman"/>
              </a:rPr>
              <a:t>,</a:t>
            </a:r>
            <a:r>
              <a:rPr sz="2500" dirty="0">
                <a:latin typeface="Symbol"/>
                <a:cs typeface="Symbol"/>
              </a:rPr>
              <a:t></a:t>
            </a:r>
            <a:r>
              <a:rPr sz="2500" spc="-2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</a:t>
            </a:r>
            <a:r>
              <a:rPr sz="2350" spc="-204" dirty="0">
                <a:latin typeface="Times New Roman"/>
                <a:cs typeface="Times New Roman"/>
              </a:rPr>
              <a:t> </a:t>
            </a:r>
            <a:r>
              <a:rPr sz="2350" i="1" spc="-275" dirty="0">
                <a:latin typeface="Times New Roman"/>
                <a:cs typeface="Times New Roman"/>
              </a:rPr>
              <a:t>B</a:t>
            </a:r>
            <a:r>
              <a:rPr sz="5250" spc="-412" baseline="-3968" dirty="0">
                <a:latin typeface="Symbol"/>
                <a:cs typeface="Symbol"/>
              </a:rPr>
              <a:t></a:t>
            </a:r>
            <a:r>
              <a:rPr sz="5250" spc="-652" baseline="-3968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i="1" spc="-50" dirty="0">
                <a:latin typeface="Times New Roman"/>
                <a:cs typeface="Times New Roman"/>
              </a:rPr>
              <a:t>A</a:t>
            </a:r>
            <a:endParaRPr sz="2350" dirty="0">
              <a:latin typeface="Times New Roman"/>
              <a:cs typeface="Times New Roman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32197" y="5953954"/>
            <a:ext cx="604666" cy="303952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68935"/>
            <a:ext cx="63544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0" dirty="0"/>
              <a:t>Preliminaries:</a:t>
            </a:r>
            <a:r>
              <a:rPr spc="-380" dirty="0"/>
              <a:t> </a:t>
            </a:r>
            <a:r>
              <a:rPr sz="2400" i="1" spc="-90" dirty="0">
                <a:latin typeface="Trebuchet MS"/>
                <a:cs typeface="Trebuchet MS"/>
              </a:rPr>
              <a:t>Set</a:t>
            </a:r>
            <a:r>
              <a:rPr sz="2400" i="1" spc="-220" dirty="0">
                <a:latin typeface="Trebuchet MS"/>
                <a:cs typeface="Trebuchet MS"/>
              </a:rPr>
              <a:t> </a:t>
            </a:r>
            <a:r>
              <a:rPr sz="2400" i="1" spc="-165" dirty="0">
                <a:latin typeface="Trebuchet MS"/>
                <a:cs typeface="Trebuchet MS"/>
              </a:rPr>
              <a:t>Theory</a:t>
            </a:r>
            <a:r>
              <a:rPr sz="2400" i="1" spc="-204" dirty="0">
                <a:latin typeface="Trebuchet MS"/>
                <a:cs typeface="Trebuchet MS"/>
              </a:rPr>
              <a:t> </a:t>
            </a:r>
            <a:r>
              <a:rPr sz="2400" i="1" spc="-80" dirty="0">
                <a:latin typeface="Trebuchet MS"/>
                <a:cs typeface="Trebuchet MS"/>
              </a:rPr>
              <a:t>Fundamentals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4366" y="1043178"/>
            <a:ext cx="323024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har char="•"/>
              <a:tabLst>
                <a:tab pos="240665" algn="l"/>
              </a:tabLst>
            </a:pPr>
            <a:r>
              <a:rPr sz="2700" spc="-60" dirty="0">
                <a:latin typeface="Trebuchet MS"/>
                <a:cs typeface="Trebuchet MS"/>
              </a:rPr>
              <a:t>Given</a:t>
            </a:r>
            <a:r>
              <a:rPr sz="2700" spc="-204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2</a:t>
            </a:r>
            <a:r>
              <a:rPr sz="2700" spc="-21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sets</a:t>
            </a:r>
            <a:r>
              <a:rPr sz="2700" spc="-21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A</a:t>
            </a:r>
            <a:r>
              <a:rPr sz="2700" spc="-20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and</a:t>
            </a:r>
            <a:r>
              <a:rPr sz="2700" spc="-200" dirty="0">
                <a:latin typeface="Trebuchet MS"/>
                <a:cs typeface="Trebuchet MS"/>
              </a:rPr>
              <a:t> </a:t>
            </a:r>
            <a:r>
              <a:rPr sz="2700" spc="40" dirty="0">
                <a:latin typeface="Trebuchet MS"/>
                <a:cs typeface="Trebuchet MS"/>
              </a:rPr>
              <a:t>B</a:t>
            </a:r>
            <a:endParaRPr sz="27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27261" y="2043683"/>
            <a:ext cx="7887970" cy="3583304"/>
            <a:chOff x="2227261" y="2043683"/>
            <a:chExt cx="7887970" cy="358330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27261" y="2062199"/>
              <a:ext cx="7537833" cy="356429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56091" y="2043683"/>
              <a:ext cx="1758950" cy="2529840"/>
            </a:xfrm>
            <a:custGeom>
              <a:avLst/>
              <a:gdLst/>
              <a:ahLst/>
              <a:cxnLst/>
              <a:rect l="l" t="t" r="r" b="b"/>
              <a:pathLst>
                <a:path w="1758950" h="2529840">
                  <a:moveTo>
                    <a:pt x="1758696" y="0"/>
                  </a:moveTo>
                  <a:lnTo>
                    <a:pt x="0" y="0"/>
                  </a:lnTo>
                  <a:lnTo>
                    <a:pt x="0" y="2529840"/>
                  </a:lnTo>
                  <a:lnTo>
                    <a:pt x="1758696" y="2529840"/>
                  </a:lnTo>
                  <a:lnTo>
                    <a:pt x="17586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8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0" dirty="0"/>
              <a:t>Preliminaries:</a:t>
            </a:r>
            <a:r>
              <a:rPr spc="-380" dirty="0"/>
              <a:t> </a:t>
            </a:r>
            <a:r>
              <a:rPr sz="2400" i="1" spc="-90" dirty="0">
                <a:latin typeface="Trebuchet MS"/>
                <a:cs typeface="Trebuchet MS"/>
              </a:rPr>
              <a:t>Set</a:t>
            </a:r>
            <a:r>
              <a:rPr sz="2400" i="1" spc="-220" dirty="0">
                <a:latin typeface="Trebuchet MS"/>
                <a:cs typeface="Trebuchet MS"/>
              </a:rPr>
              <a:t> </a:t>
            </a:r>
            <a:r>
              <a:rPr sz="2400" i="1" spc="-165" dirty="0">
                <a:latin typeface="Trebuchet MS"/>
                <a:cs typeface="Trebuchet MS"/>
              </a:rPr>
              <a:t>Theory</a:t>
            </a:r>
            <a:r>
              <a:rPr sz="2400" i="1" spc="-204" dirty="0">
                <a:latin typeface="Trebuchet MS"/>
                <a:cs typeface="Trebuchet MS"/>
              </a:rPr>
              <a:t> </a:t>
            </a:r>
            <a:r>
              <a:rPr sz="2400" i="1" spc="-80" dirty="0">
                <a:latin typeface="Trebuchet MS"/>
                <a:cs typeface="Trebuchet MS"/>
              </a:rPr>
              <a:t>Fundamentals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6741" y="1324737"/>
            <a:ext cx="353377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241300" algn="l"/>
              </a:tabLst>
            </a:pPr>
            <a:r>
              <a:rPr sz="1700" spc="-75" dirty="0">
                <a:latin typeface="Trebuchet MS"/>
                <a:cs typeface="Trebuchet MS"/>
              </a:rPr>
              <a:t>The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reflection</a:t>
            </a:r>
            <a:r>
              <a:rPr sz="1700" spc="-16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set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55" dirty="0">
                <a:latin typeface="Trebuchet MS"/>
                <a:cs typeface="Trebuchet MS"/>
              </a:rPr>
              <a:t>B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defined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by:</a:t>
            </a:r>
            <a:endParaRPr sz="17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53813" y="1498443"/>
            <a:ext cx="0" cy="354965"/>
          </a:xfrm>
          <a:custGeom>
            <a:avLst/>
            <a:gdLst/>
            <a:ahLst/>
            <a:cxnLst/>
            <a:rect l="l" t="t" r="r" b="b"/>
            <a:pathLst>
              <a:path h="354964">
                <a:moveTo>
                  <a:pt x="0" y="0"/>
                </a:moveTo>
                <a:lnTo>
                  <a:pt x="0" y="354534"/>
                </a:lnTo>
              </a:path>
            </a:pathLst>
          </a:custGeom>
          <a:ln w="15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39631" y="1294919"/>
            <a:ext cx="3230245" cy="557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2005964" algn="l"/>
              </a:tabLst>
            </a:pPr>
            <a:r>
              <a:rPr sz="2350" i="1" spc="-950" dirty="0">
                <a:latin typeface="Times New Roman"/>
                <a:cs typeface="Times New Roman"/>
              </a:rPr>
              <a:t>B</a:t>
            </a:r>
            <a:r>
              <a:rPr sz="3525" spc="7" baseline="15366" dirty="0">
                <a:latin typeface="Times New Roman"/>
                <a:cs typeface="Times New Roman"/>
              </a:rPr>
              <a:t>ˆ</a:t>
            </a:r>
            <a:r>
              <a:rPr sz="3525" spc="247" baseline="15366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spc="-229" dirty="0">
                <a:latin typeface="Times New Roman"/>
                <a:cs typeface="Times New Roman"/>
              </a:rPr>
              <a:t> </a:t>
            </a:r>
            <a:r>
              <a:rPr sz="5175" spc="-532" baseline="-4025" dirty="0">
                <a:latin typeface="Symbol"/>
                <a:cs typeface="Symbol"/>
              </a:rPr>
              <a:t></a:t>
            </a:r>
            <a:r>
              <a:rPr sz="2450" spc="-355" dirty="0">
                <a:latin typeface="Symbol"/>
                <a:cs typeface="Symbol"/>
              </a:rPr>
              <a:t></a:t>
            </a:r>
            <a:r>
              <a:rPr sz="2450" spc="6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Symbol"/>
                <a:cs typeface="Symbol"/>
              </a:rPr>
              <a:t></a:t>
            </a:r>
            <a:r>
              <a:rPr sz="2450" spc="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spc="-45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Symbol"/>
                <a:cs typeface="Symbol"/>
              </a:rPr>
              <a:t></a:t>
            </a:r>
            <a:r>
              <a:rPr sz="2350" i="1" spc="-25" dirty="0">
                <a:latin typeface="Times New Roman"/>
                <a:cs typeface="Times New Roman"/>
              </a:rPr>
              <a:t>b</a:t>
            </a:r>
            <a:r>
              <a:rPr sz="2350" spc="-25" dirty="0">
                <a:latin typeface="Times New Roman"/>
                <a:cs typeface="Times New Roman"/>
              </a:rPr>
              <a:t>,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i="1" dirty="0">
                <a:latin typeface="Times New Roman"/>
                <a:cs typeface="Times New Roman"/>
              </a:rPr>
              <a:t>for</a:t>
            </a:r>
            <a:r>
              <a:rPr sz="2350" i="1" spc="-200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b</a:t>
            </a:r>
            <a:r>
              <a:rPr sz="2350" i="1" spc="-2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</a:t>
            </a:r>
            <a:r>
              <a:rPr sz="2350" spc="-195" dirty="0">
                <a:latin typeface="Times New Roman"/>
                <a:cs typeface="Times New Roman"/>
              </a:rPr>
              <a:t> </a:t>
            </a:r>
            <a:r>
              <a:rPr sz="2350" i="1" spc="-285" dirty="0">
                <a:latin typeface="Times New Roman"/>
                <a:cs typeface="Times New Roman"/>
              </a:rPr>
              <a:t>B</a:t>
            </a:r>
            <a:r>
              <a:rPr sz="5175" spc="-427" baseline="-4025" dirty="0">
                <a:latin typeface="Symbol"/>
                <a:cs typeface="Symbol"/>
              </a:rPr>
              <a:t></a:t>
            </a:r>
            <a:endParaRPr sz="5175" baseline="-4025" dirty="0">
              <a:latin typeface="Symbol"/>
              <a:cs typeface="Symbo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88040" y="2667351"/>
            <a:ext cx="0" cy="354965"/>
          </a:xfrm>
          <a:custGeom>
            <a:avLst/>
            <a:gdLst/>
            <a:ahLst/>
            <a:cxnLst/>
            <a:rect l="l" t="t" r="r" b="b"/>
            <a:pathLst>
              <a:path h="354964">
                <a:moveTo>
                  <a:pt x="0" y="0"/>
                </a:moveTo>
                <a:lnTo>
                  <a:pt x="0" y="354534"/>
                </a:lnTo>
              </a:path>
            </a:pathLst>
          </a:custGeom>
          <a:ln w="152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31341" y="1965490"/>
            <a:ext cx="7743825" cy="105600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66065" indent="-227965">
              <a:lnSpc>
                <a:spcPct val="100000"/>
              </a:lnSpc>
              <a:spcBef>
                <a:spcPts val="720"/>
              </a:spcBef>
              <a:buChar char="•"/>
              <a:tabLst>
                <a:tab pos="266065" algn="l"/>
              </a:tabLst>
            </a:pPr>
            <a:r>
              <a:rPr sz="1700" spc="-80" dirty="0">
                <a:latin typeface="Trebuchet MS"/>
                <a:cs typeface="Trebuchet MS"/>
              </a:rPr>
              <a:t>The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translation</a:t>
            </a:r>
            <a:r>
              <a:rPr sz="1700" spc="-16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set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by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point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z=(z</a:t>
            </a:r>
            <a:r>
              <a:rPr sz="1575" spc="-104" baseline="-21164" dirty="0">
                <a:latin typeface="Trebuchet MS"/>
                <a:cs typeface="Trebuchet MS"/>
              </a:rPr>
              <a:t>1</a:t>
            </a:r>
            <a:r>
              <a:rPr sz="1700" spc="-70" dirty="0">
                <a:latin typeface="Trebuchet MS"/>
                <a:cs typeface="Trebuchet MS"/>
              </a:rPr>
              <a:t>,z</a:t>
            </a:r>
            <a:r>
              <a:rPr sz="1650" spc="-104" baseline="-20202" dirty="0">
                <a:latin typeface="Trebuchet MS"/>
                <a:cs typeface="Trebuchet MS"/>
              </a:rPr>
              <a:t>2</a:t>
            </a:r>
            <a:r>
              <a:rPr sz="1700" spc="-70" dirty="0">
                <a:latin typeface="Trebuchet MS"/>
                <a:cs typeface="Trebuchet MS"/>
              </a:rPr>
              <a:t>)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defined</a:t>
            </a:r>
            <a:r>
              <a:rPr sz="1700" spc="-17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by:</a:t>
            </a:r>
            <a:endParaRPr sz="1700" dirty="0">
              <a:latin typeface="Trebuchet MS"/>
              <a:cs typeface="Trebuchet MS"/>
            </a:endParaRPr>
          </a:p>
          <a:p>
            <a:pPr marL="4362450" lvl="1" indent="-430530">
              <a:lnSpc>
                <a:spcPct val="100000"/>
              </a:lnSpc>
              <a:spcBef>
                <a:spcPts val="1300"/>
              </a:spcBef>
              <a:buSzPct val="174074"/>
              <a:buFont typeface="Times New Roman"/>
              <a:buAutoNum type="alphaUcParenBoth"/>
              <a:tabLst>
                <a:tab pos="4362450" algn="l"/>
                <a:tab pos="6504940" algn="l"/>
              </a:tabLst>
            </a:pPr>
            <a:r>
              <a:rPr sz="2025" i="1" baseline="-24691" dirty="0">
                <a:latin typeface="Times New Roman"/>
                <a:cs typeface="Times New Roman"/>
              </a:rPr>
              <a:t>z</a:t>
            </a:r>
            <a:r>
              <a:rPr sz="2025" i="1" spc="142" baseline="-24691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spc="-229" dirty="0">
                <a:latin typeface="Times New Roman"/>
                <a:cs typeface="Times New Roman"/>
              </a:rPr>
              <a:t> </a:t>
            </a:r>
            <a:r>
              <a:rPr sz="5175" spc="-532" baseline="-4025" dirty="0">
                <a:latin typeface="Symbol"/>
                <a:cs typeface="Symbol"/>
              </a:rPr>
              <a:t></a:t>
            </a:r>
            <a:r>
              <a:rPr sz="2450" spc="-355" dirty="0">
                <a:latin typeface="Symbol"/>
                <a:cs typeface="Symbol"/>
              </a:rPr>
              <a:t></a:t>
            </a:r>
            <a:r>
              <a:rPr sz="2450" spc="7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Symbol"/>
                <a:cs typeface="Symbol"/>
              </a:rPr>
              <a:t></a:t>
            </a:r>
            <a:r>
              <a:rPr sz="2450" spc="5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spc="-45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a</a:t>
            </a:r>
            <a:r>
              <a:rPr sz="2350" i="1" spc="-1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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i="1" spc="-25" dirty="0">
                <a:latin typeface="Times New Roman"/>
                <a:cs typeface="Times New Roman"/>
              </a:rPr>
              <a:t>z</a:t>
            </a:r>
            <a:r>
              <a:rPr sz="2350" spc="-25" dirty="0">
                <a:latin typeface="Times New Roman"/>
                <a:cs typeface="Times New Roman"/>
              </a:rPr>
              <a:t>,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i="1" dirty="0">
                <a:latin typeface="Times New Roman"/>
                <a:cs typeface="Times New Roman"/>
              </a:rPr>
              <a:t>for</a:t>
            </a:r>
            <a:r>
              <a:rPr sz="2350" i="1" spc="-114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a</a:t>
            </a:r>
            <a:r>
              <a:rPr sz="2350" i="1" spc="-24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</a:t>
            </a:r>
            <a:r>
              <a:rPr sz="2350" spc="-65" dirty="0">
                <a:latin typeface="Times New Roman"/>
                <a:cs typeface="Times New Roman"/>
              </a:rPr>
              <a:t> </a:t>
            </a:r>
            <a:r>
              <a:rPr sz="2350" i="1" spc="-340" dirty="0">
                <a:latin typeface="Times New Roman"/>
                <a:cs typeface="Times New Roman"/>
              </a:rPr>
              <a:t>A</a:t>
            </a:r>
            <a:r>
              <a:rPr sz="5175" spc="-509" baseline="-4025" dirty="0">
                <a:latin typeface="Symbol"/>
                <a:cs typeface="Symbol"/>
              </a:rPr>
              <a:t></a:t>
            </a:r>
            <a:endParaRPr sz="5175" baseline="-4025" dirty="0">
              <a:latin typeface="Symbol"/>
              <a:cs typeface="Symbo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44864" y="3290315"/>
            <a:ext cx="7298055" cy="2350135"/>
            <a:chOff x="2644864" y="3290315"/>
            <a:chExt cx="7298055" cy="23501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4864" y="3487521"/>
              <a:ext cx="7260463" cy="182615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374380" y="3290315"/>
              <a:ext cx="1568450" cy="2350135"/>
            </a:xfrm>
            <a:custGeom>
              <a:avLst/>
              <a:gdLst/>
              <a:ahLst/>
              <a:cxnLst/>
              <a:rect l="l" t="t" r="r" b="b"/>
              <a:pathLst>
                <a:path w="1568450" h="2350135">
                  <a:moveTo>
                    <a:pt x="1568196" y="0"/>
                  </a:moveTo>
                  <a:lnTo>
                    <a:pt x="0" y="0"/>
                  </a:lnTo>
                  <a:lnTo>
                    <a:pt x="0" y="2350007"/>
                  </a:lnTo>
                  <a:lnTo>
                    <a:pt x="1568196" y="2350007"/>
                  </a:lnTo>
                  <a:lnTo>
                    <a:pt x="15681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195573" y="5641035"/>
            <a:ext cx="15938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Translation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10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by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i="1" spc="-50" dirty="0">
                <a:latin typeface="Times New Roman"/>
                <a:cs typeface="Times New Roman"/>
              </a:rPr>
              <a:t>z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486780" y="5632500"/>
            <a:ext cx="1149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Reflection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B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BFF3ECB-2416-52DC-3DB5-05C3E10EA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926785D-37C9-D31F-A435-2290F0A148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739" y="-6604"/>
            <a:ext cx="10769600" cy="968803"/>
          </a:xfrm>
          <a:prstGeom prst="rect">
            <a:avLst/>
          </a:prstGeom>
        </p:spPr>
        <p:txBody>
          <a:bodyPr vert="horz" wrap="square" lIns="0" tIns="288874" rIns="0" bIns="0" rtlCol="0">
            <a:spAutoFit/>
          </a:bodyPr>
          <a:lstStyle/>
          <a:p>
            <a:pPr>
              <a:buNone/>
            </a:pPr>
            <a:r>
              <a:rPr lang="en-US" b="1" dirty="0"/>
              <a:t>Reflection and Translation of a Set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EDF175A0-8ACD-4F2C-6762-DE651532BD2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59E0E6-5447-04EF-A15F-886EAC01DAC0}"/>
                  </a:ext>
                </a:extLst>
              </p:cNvPr>
              <p:cNvSpPr txBox="1"/>
              <p:nvPr/>
            </p:nvSpPr>
            <p:spPr>
              <a:xfrm>
                <a:off x="304800" y="1219200"/>
                <a:ext cx="5791200" cy="45391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Given: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m:rPr>
                              <m:nor/>
                            </m:rPr>
                            <a:rPr lang="ar-AE" b="0" i="1">
                              <a:latin typeface="Cambria Math" panose="02040503050406030204" pitchFamily="18" charset="0"/>
                            </a:rPr>
                            <m:t>  </m:t>
                          </m:r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for</m:t>
                          </m:r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Take every point in set </a:t>
                </a:r>
                <a:r>
                  <a:rPr lang="en-US" b="1" dirty="0"/>
                  <a:t>B</a:t>
                </a:r>
                <a:r>
                  <a:rPr lang="en-US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Change its sign (mirror it)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This gives the </a:t>
                </a:r>
                <a:r>
                  <a:rPr lang="en-US" b="1" dirty="0"/>
                  <a:t>reflected set</a:t>
                </a:r>
                <a:r>
                  <a:rPr lang="en-US" dirty="0"/>
                  <a:t> </a:t>
                </a:r>
              </a:p>
              <a:p>
                <a:pPr>
                  <a:buNone/>
                </a:pPr>
                <a:r>
                  <a:rPr lang="en-US" dirty="0"/>
                  <a:t> Reflection = </a:t>
                </a:r>
                <a:r>
                  <a:rPr lang="en-US" b="1" dirty="0"/>
                  <a:t>mirror image across origin (0,0)</a:t>
                </a:r>
              </a:p>
              <a:p>
                <a:r>
                  <a:rPr lang="en-US" b="1" dirty="0"/>
                  <a:t> Example</a:t>
                </a:r>
              </a:p>
              <a:p>
                <a:r>
                  <a:rPr lang="en-US" dirty="0"/>
                  <a:t>Let: B = { (1,2), (3,4) }</a:t>
                </a:r>
              </a:p>
              <a:p>
                <a:r>
                  <a:rPr lang="en-US" dirty="0"/>
                  <a:t>Reflection: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/>
                          </m:ctrlPr>
                        </m:accPr>
                        <m:e>
                          <m:r>
                            <a:rPr lang="ar-AE" i="1"/>
                            <m:t>𝐵</m:t>
                          </m:r>
                        </m:e>
                      </m:acc>
                      <m:r>
                        <a:rPr lang="ar-AE"/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i="1"/>
                          </m:ctrlPr>
                        </m:dPr>
                        <m:e>
                          <m:d>
                            <m:dPr>
                              <m:sepChr m:val=","/>
                              <m:ctrlPr>
                                <a:rPr lang="ar-AE" i="1"/>
                              </m:ctrlPr>
                            </m:dPr>
                            <m:e>
                              <m:r>
                                <a:rPr lang="ar-AE"/>
                                <m:t>−</m:t>
                              </m:r>
                            </m:e>
                            <m:e>
                              <m:r>
                                <a:rPr lang="ar-AE"/>
                                <m:t>1</m:t>
                              </m:r>
                              <m:r>
                                <a:rPr lang="ar-AE"/>
                                <m:t>−</m:t>
                              </m:r>
                              <m:r>
                                <a:rPr lang="ar-AE"/>
                                <m:t>2</m:t>
                              </m:r>
                            </m:e>
                          </m:d>
                        </m:e>
                        <m:e>
                          <m:d>
                            <m:dPr>
                              <m:sepChr m:val=","/>
                              <m:ctrlPr>
                                <a:rPr lang="ar-AE" i="1"/>
                              </m:ctrlPr>
                            </m:dPr>
                            <m:e>
                              <m:r>
                                <a:rPr lang="ar-AE"/>
                                <m:t>−</m:t>
                              </m:r>
                            </m:e>
                            <m:e>
                              <m:r>
                                <a:rPr lang="ar-AE"/>
                                <m:t>3</m:t>
                              </m:r>
                              <m:r>
                                <a:rPr lang="ar-AE"/>
                                <m:t>−</m:t>
                              </m:r>
                              <m:r>
                                <a:rPr lang="ar-AE"/>
                                <m:t>4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Every coordinate becomes negative</a:t>
                </a:r>
              </a:p>
              <a:p>
                <a:r>
                  <a:rPr lang="en-US" b="1" dirty="0"/>
                  <a:t>Intuition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Right → Left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Up → Down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Shape flips completely </a:t>
                </a:r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59E0E6-5447-04EF-A15F-886EAC01D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219200"/>
                <a:ext cx="5791200" cy="4539191"/>
              </a:xfrm>
              <a:prstGeom prst="rect">
                <a:avLst/>
              </a:prstGeom>
              <a:blipFill>
                <a:blip r:embed="rId2"/>
                <a:stretch>
                  <a:fillRect l="-842" t="-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EC32EEB-7825-931B-6319-C165B24187C3}"/>
                  </a:ext>
                </a:extLst>
              </p:cNvPr>
              <p:cNvSpPr txBox="1"/>
              <p:nvPr/>
            </p:nvSpPr>
            <p:spPr>
              <a:xfrm>
                <a:off x="5714999" y="838199"/>
                <a:ext cx="6398262" cy="4622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endParaRPr lang="en-US" b="1" dirty="0"/>
              </a:p>
              <a:p>
                <a:pPr>
                  <a:buNone/>
                </a:pPr>
                <a:r>
                  <a:rPr lang="en-US" b="1" dirty="0"/>
                  <a:t>Given: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}"/>
                              <m:sepChr m:val=",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nor/>
                                </m:rPr>
                                <a:rPr lang="ar-AE" b="0" i="1">
                                  <a:latin typeface="Cambria Math" panose="02040503050406030204" pitchFamily="18" charset="0"/>
                                </a:rPr>
                                <m:t>  </m:t>
                              </m:r>
                              <m:r>
                                <m:rPr>
                                  <m:nor/>
                                </m:rPr>
                                <a:rPr lang="en-US" b="0" i="1">
                                  <a:latin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m:rPr>
                                  <m:nor/>
                                </m:rPr>
                                <a:rPr lang="en-US" b="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Take every point in </a:t>
                </a:r>
                <a:r>
                  <a:rPr lang="en-US" b="1" dirty="0"/>
                  <a:t>A</a:t>
                </a:r>
                <a:r>
                  <a:rPr lang="en-US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Add vector </a:t>
                </a:r>
                <a:r>
                  <a:rPr lang="en-US" b="1" dirty="0"/>
                  <a:t>z = (z₁, z₂)</a:t>
                </a:r>
                <a:r>
                  <a:rPr lang="en-US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This </a:t>
                </a:r>
                <a:r>
                  <a:rPr lang="en-US" b="1" dirty="0"/>
                  <a:t>moves (shifts)</a:t>
                </a:r>
                <a:r>
                  <a:rPr lang="en-US" dirty="0"/>
                  <a:t> the shape </a:t>
                </a:r>
              </a:p>
              <a:p>
                <a:pPr>
                  <a:buNone/>
                </a:pPr>
                <a:r>
                  <a:rPr lang="en-US" dirty="0"/>
                  <a:t>Translation = </a:t>
                </a:r>
                <a:r>
                  <a:rPr lang="en-US" b="1" dirty="0"/>
                  <a:t>shifting without changing shape</a:t>
                </a:r>
                <a:br>
                  <a:rPr lang="en-US" dirty="0"/>
                </a:br>
                <a:r>
                  <a:rPr lang="en-US" b="1" dirty="0"/>
                  <a:t>Example</a:t>
                </a:r>
              </a:p>
              <a:p>
                <a:pPr>
                  <a:buNone/>
                </a:pPr>
                <a:r>
                  <a:rPr lang="en-US" dirty="0"/>
                  <a:t>Let: A = { (1,1), (2,2) } z = (3,1)</a:t>
                </a:r>
              </a:p>
              <a:p>
                <a:pPr>
                  <a:buNone/>
                </a:pPr>
                <a:r>
                  <a:rPr lang="en-US" dirty="0"/>
                  <a:t>Translation: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}"/>
                              <m:sepChr m:val=",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sepChr m:val=",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  <m:e>
                              <m:d>
                                <m:dPr>
                                  <m:sepChr m:val=",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US" dirty="0"/>
                  <a:t>Add (3,1) to each point</a:t>
                </a:r>
              </a:p>
              <a:p>
                <a:pPr>
                  <a:buNone/>
                </a:pPr>
                <a:r>
                  <a:rPr lang="en-US" b="1" dirty="0"/>
                  <a:t>Intuition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Move right → add to x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Move up → add to y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Shape stays same, only position changes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EC32EEB-7825-931B-6319-C165B2418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999" y="838199"/>
                <a:ext cx="6398262" cy="4622676"/>
              </a:xfrm>
              <a:prstGeom prst="rect">
                <a:avLst/>
              </a:prstGeom>
              <a:blipFill>
                <a:blip r:embed="rId3"/>
                <a:stretch>
                  <a:fillRect l="-762" t="-1581" b="-1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1086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8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4" dirty="0"/>
              <a:t>Preliminaries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8338" y="5250346"/>
            <a:ext cx="8362487" cy="6107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0135" y="1231391"/>
            <a:ext cx="8741664" cy="365832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8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4" dirty="0"/>
              <a:t>Preliminaries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0577" y="2115170"/>
            <a:ext cx="1442142" cy="197574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62911" y="1982723"/>
            <a:ext cx="6518148" cy="269317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8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4" dirty="0"/>
              <a:t>Preliminaries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2223" y="2439944"/>
            <a:ext cx="1700783" cy="19368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9032" y="2237651"/>
            <a:ext cx="7647033" cy="19574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8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Erosion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1522" y="1324737"/>
            <a:ext cx="84372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0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254000" algn="l"/>
              </a:tabLst>
            </a:pPr>
            <a:r>
              <a:rPr sz="1700" spc="-25" dirty="0">
                <a:latin typeface="Trebuchet MS"/>
                <a:cs typeface="Trebuchet MS"/>
              </a:rPr>
              <a:t>Erosion: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Given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55" dirty="0">
                <a:latin typeface="Trebuchet MS"/>
                <a:cs typeface="Trebuchet MS"/>
              </a:rPr>
              <a:t>B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sets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in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Z</a:t>
            </a:r>
            <a:r>
              <a:rPr sz="1650" spc="-104" baseline="25252" dirty="0">
                <a:latin typeface="Trebuchet MS"/>
                <a:cs typeface="Trebuchet MS"/>
              </a:rPr>
              <a:t>2</a:t>
            </a:r>
            <a:r>
              <a:rPr sz="1700" spc="-70" dirty="0">
                <a:latin typeface="Trebuchet MS"/>
                <a:cs typeface="Trebuchet MS"/>
              </a:rPr>
              <a:t>,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erosion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by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structuring</a:t>
            </a:r>
            <a:r>
              <a:rPr sz="1700" spc="-16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element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B,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defined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by: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1522" y="1319506"/>
            <a:ext cx="10110470" cy="124333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R="55880" algn="r">
              <a:lnSpc>
                <a:spcPct val="100000"/>
              </a:lnSpc>
              <a:spcBef>
                <a:spcPts val="1155"/>
              </a:spcBef>
              <a:tabLst>
                <a:tab pos="514984" algn="l"/>
              </a:tabLst>
            </a:pPr>
            <a:r>
              <a:rPr sz="2350" i="1" spc="-50" dirty="0">
                <a:latin typeface="Times New Roman"/>
                <a:cs typeface="Times New Roman"/>
              </a:rPr>
              <a:t>A</a:t>
            </a:r>
            <a:r>
              <a:rPr sz="2350" i="1" dirty="0">
                <a:latin typeface="Times New Roman"/>
                <a:cs typeface="Times New Roman"/>
              </a:rPr>
              <a:t>	B</a:t>
            </a:r>
            <a:r>
              <a:rPr sz="2350" i="1" spc="-5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5175" spc="-135" baseline="-4025" dirty="0">
                <a:latin typeface="Symbol"/>
                <a:cs typeface="Symbol"/>
              </a:rPr>
              <a:t></a:t>
            </a:r>
            <a:r>
              <a:rPr sz="2350" i="1" spc="-90" dirty="0">
                <a:latin typeface="Times New Roman"/>
                <a:cs typeface="Times New Roman"/>
              </a:rPr>
              <a:t>z</a:t>
            </a:r>
            <a:r>
              <a:rPr sz="2350" i="1" spc="140" dirty="0">
                <a:latin typeface="Times New Roman"/>
                <a:cs typeface="Times New Roman"/>
              </a:rPr>
              <a:t> </a:t>
            </a:r>
            <a:r>
              <a:rPr sz="2350" spc="95" dirty="0">
                <a:latin typeface="Times New Roman"/>
                <a:cs typeface="Times New Roman"/>
              </a:rPr>
              <a:t>(</a:t>
            </a:r>
            <a:r>
              <a:rPr sz="2350" i="1" spc="95" dirty="0">
                <a:latin typeface="Times New Roman"/>
                <a:cs typeface="Times New Roman"/>
              </a:rPr>
              <a:t>B</a:t>
            </a:r>
            <a:r>
              <a:rPr sz="2350" spc="95" dirty="0">
                <a:latin typeface="Times New Roman"/>
                <a:cs typeface="Times New Roman"/>
              </a:rPr>
              <a:t>)</a:t>
            </a:r>
            <a:r>
              <a:rPr sz="2025" i="1" spc="142" baseline="-24691" dirty="0">
                <a:latin typeface="Times New Roman"/>
                <a:cs typeface="Times New Roman"/>
              </a:rPr>
              <a:t>z</a:t>
            </a:r>
            <a:r>
              <a:rPr sz="2025" i="1" spc="644" baseline="-24691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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i="1" spc="-345" dirty="0">
                <a:latin typeface="Times New Roman"/>
                <a:cs typeface="Times New Roman"/>
              </a:rPr>
              <a:t>A</a:t>
            </a:r>
            <a:r>
              <a:rPr sz="5175" spc="-517" baseline="-4025" dirty="0">
                <a:latin typeface="Symbol"/>
                <a:cs typeface="Symbol"/>
              </a:rPr>
              <a:t></a:t>
            </a:r>
            <a:endParaRPr sz="5175" baseline="-4025">
              <a:latin typeface="Symbol"/>
              <a:cs typeface="Symbol"/>
            </a:endParaRPr>
          </a:p>
          <a:p>
            <a:pPr marL="253365" indent="-227965">
              <a:lnSpc>
                <a:spcPts val="1939"/>
              </a:lnSpc>
              <a:spcBef>
                <a:spcPts val="515"/>
              </a:spcBef>
              <a:buChar char="•"/>
              <a:tabLst>
                <a:tab pos="253365" algn="l"/>
              </a:tabLst>
            </a:pPr>
            <a:r>
              <a:rPr sz="1700" spc="-80" dirty="0">
                <a:latin typeface="Trebuchet MS"/>
                <a:cs typeface="Trebuchet MS"/>
              </a:rPr>
              <a:t>The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erosion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by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structuring</a:t>
            </a:r>
            <a:r>
              <a:rPr sz="1700" spc="-17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element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65" dirty="0">
                <a:latin typeface="Trebuchet MS"/>
                <a:cs typeface="Trebuchet MS"/>
              </a:rPr>
              <a:t>B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set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of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all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points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-114" dirty="0">
                <a:latin typeface="Trebuchet MS"/>
                <a:cs typeface="Trebuchet MS"/>
              </a:rPr>
              <a:t>z,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55" dirty="0">
                <a:latin typeface="Trebuchet MS"/>
                <a:cs typeface="Trebuchet MS"/>
              </a:rPr>
              <a:t>such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that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B,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translated</a:t>
            </a:r>
            <a:r>
              <a:rPr sz="1700" spc="-16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by</a:t>
            </a:r>
            <a:r>
              <a:rPr sz="1700" spc="-155" dirty="0">
                <a:latin typeface="Trebuchet MS"/>
                <a:cs typeface="Trebuchet MS"/>
              </a:rPr>
              <a:t> </a:t>
            </a:r>
            <a:r>
              <a:rPr sz="1700" spc="-114" dirty="0">
                <a:latin typeface="Trebuchet MS"/>
                <a:cs typeface="Trebuchet MS"/>
              </a:rPr>
              <a:t>z,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is</a:t>
            </a:r>
            <a:endParaRPr sz="1700">
              <a:latin typeface="Trebuchet MS"/>
              <a:cs typeface="Trebuchet MS"/>
            </a:endParaRPr>
          </a:p>
          <a:p>
            <a:pPr marL="254000">
              <a:lnSpc>
                <a:spcPts val="1939"/>
              </a:lnSpc>
            </a:pPr>
            <a:r>
              <a:rPr sz="1700" spc="-30" dirty="0">
                <a:latin typeface="Trebuchet MS"/>
                <a:cs typeface="Trebuchet MS"/>
              </a:rPr>
              <a:t>contained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in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A.</a:t>
            </a:r>
            <a:endParaRPr sz="17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1817" y="1652367"/>
            <a:ext cx="1211344" cy="35453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87156" y="1650501"/>
            <a:ext cx="277504" cy="34593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47851" y="2962795"/>
            <a:ext cx="1492974" cy="350025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49167" y="2926078"/>
            <a:ext cx="5180076" cy="38160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8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Erosion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14588" y="1080497"/>
            <a:ext cx="1290947" cy="3837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779" y="1056132"/>
            <a:ext cx="5599176" cy="55991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39" y="268935"/>
            <a:ext cx="10799445" cy="1430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400" spc="-90" dirty="0">
                <a:latin typeface="Trebuchet MS"/>
                <a:cs typeface="Trebuchet MS"/>
              </a:rPr>
              <a:t>Dilation</a:t>
            </a:r>
            <a:endParaRPr sz="4400">
              <a:latin typeface="Trebuchet MS"/>
              <a:cs typeface="Trebuchet MS"/>
            </a:endParaRPr>
          </a:p>
          <a:p>
            <a:pPr marL="1001394" indent="-227965">
              <a:lnSpc>
                <a:spcPct val="100000"/>
              </a:lnSpc>
              <a:spcBef>
                <a:spcPts val="2895"/>
              </a:spcBef>
              <a:buChar char="•"/>
              <a:tabLst>
                <a:tab pos="1001394" algn="l"/>
              </a:tabLst>
            </a:pPr>
            <a:r>
              <a:rPr sz="2400" spc="-70" dirty="0">
                <a:latin typeface="Trebuchet MS"/>
                <a:cs typeface="Trebuchet MS"/>
              </a:rPr>
              <a:t>Dilation: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Given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and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80" dirty="0">
                <a:latin typeface="Trebuchet MS"/>
                <a:cs typeface="Trebuchet MS"/>
              </a:rPr>
              <a:t>B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sets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Z</a:t>
            </a:r>
            <a:r>
              <a:rPr sz="2400" spc="-150" baseline="24305" dirty="0">
                <a:latin typeface="Trebuchet MS"/>
                <a:cs typeface="Trebuchet MS"/>
              </a:rPr>
              <a:t>2</a:t>
            </a:r>
            <a:r>
              <a:rPr sz="2400" spc="-100" dirty="0">
                <a:latin typeface="Trebuchet MS"/>
                <a:cs typeface="Trebuchet MS"/>
              </a:rPr>
              <a:t>,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the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dilation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of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by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structuring</a:t>
            </a:r>
            <a:r>
              <a:rPr sz="2400" spc="-23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element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B,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2822" y="1637157"/>
            <a:ext cx="1759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defined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by: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48869" y="2172321"/>
            <a:ext cx="0" cy="487680"/>
          </a:xfrm>
          <a:custGeom>
            <a:avLst/>
            <a:gdLst/>
            <a:ahLst/>
            <a:cxnLst/>
            <a:rect l="l" t="t" r="r" b="b"/>
            <a:pathLst>
              <a:path h="487680">
                <a:moveTo>
                  <a:pt x="0" y="0"/>
                </a:moveTo>
                <a:lnTo>
                  <a:pt x="0" y="487384"/>
                </a:lnTo>
              </a:path>
            </a:pathLst>
          </a:custGeom>
          <a:ln w="15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5311" y="2248661"/>
            <a:ext cx="1212068" cy="30920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413633" y="4375605"/>
            <a:ext cx="0" cy="523240"/>
          </a:xfrm>
          <a:custGeom>
            <a:avLst/>
            <a:gdLst/>
            <a:ahLst/>
            <a:cxnLst/>
            <a:rect l="l" t="t" r="r" b="b"/>
            <a:pathLst>
              <a:path h="523239">
                <a:moveTo>
                  <a:pt x="0" y="0"/>
                </a:moveTo>
                <a:lnTo>
                  <a:pt x="0" y="523052"/>
                </a:lnTo>
              </a:path>
            </a:pathLst>
          </a:custGeom>
          <a:ln w="152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76122" y="1888873"/>
            <a:ext cx="9702800" cy="296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135" algn="ctr">
              <a:lnSpc>
                <a:spcPct val="100000"/>
              </a:lnSpc>
              <a:spcBef>
                <a:spcPts val="100"/>
              </a:spcBef>
              <a:tabLst>
                <a:tab pos="2585085" algn="l"/>
              </a:tabLst>
            </a:pPr>
            <a:r>
              <a:rPr sz="2400" i="1" spc="55" dirty="0">
                <a:latin typeface="Times New Roman"/>
                <a:cs typeface="Times New Roman"/>
              </a:rPr>
              <a:t>A</a:t>
            </a:r>
            <a:r>
              <a:rPr sz="2400" i="1" spc="-38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Symbol"/>
                <a:cs typeface="Symbol"/>
              </a:rPr>
              <a:t>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i="1" spc="55" dirty="0">
                <a:latin typeface="Times New Roman"/>
                <a:cs typeface="Times New Roman"/>
              </a:rPr>
              <a:t>B</a:t>
            </a:r>
            <a:r>
              <a:rPr sz="2400" i="1" spc="-114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Symbol"/>
                <a:cs typeface="Symbol"/>
              </a:rPr>
              <a:t></a:t>
            </a:r>
            <a:r>
              <a:rPr sz="6975" spc="-284" baseline="-6571" dirty="0">
                <a:latin typeface="Symbol"/>
                <a:cs typeface="Symbol"/>
              </a:rPr>
              <a:t></a:t>
            </a:r>
            <a:r>
              <a:rPr sz="2400" i="1" spc="-190" dirty="0">
                <a:latin typeface="Times New Roman"/>
                <a:cs typeface="Times New Roman"/>
              </a:rPr>
              <a:t>z</a:t>
            </a:r>
            <a:r>
              <a:rPr sz="2400" i="1" spc="95" dirty="0">
                <a:latin typeface="Times New Roman"/>
                <a:cs typeface="Times New Roman"/>
              </a:rPr>
              <a:t> </a:t>
            </a:r>
            <a:r>
              <a:rPr sz="2400" spc="200" dirty="0">
                <a:latin typeface="Times New Roman"/>
                <a:cs typeface="Times New Roman"/>
              </a:rPr>
              <a:t>(</a:t>
            </a:r>
            <a:r>
              <a:rPr sz="2400" i="1" spc="-875" dirty="0">
                <a:latin typeface="Times New Roman"/>
                <a:cs typeface="Times New Roman"/>
              </a:rPr>
              <a:t>B</a:t>
            </a:r>
            <a:r>
              <a:rPr sz="3600" spc="450" baseline="15046" dirty="0">
                <a:latin typeface="Times New Roman"/>
                <a:cs typeface="Times New Roman"/>
              </a:rPr>
              <a:t>ˆ</a:t>
            </a:r>
            <a:r>
              <a:rPr sz="2400" spc="204" dirty="0">
                <a:latin typeface="Times New Roman"/>
                <a:cs typeface="Times New Roman"/>
              </a:rPr>
              <a:t>)</a:t>
            </a:r>
            <a:r>
              <a:rPr sz="2100" i="1" spc="165" baseline="-23809" dirty="0">
                <a:latin typeface="Times New Roman"/>
                <a:cs typeface="Times New Roman"/>
              </a:rPr>
              <a:t>z</a:t>
            </a:r>
            <a:r>
              <a:rPr sz="2100" i="1" baseline="-23809" dirty="0">
                <a:latin typeface="Times New Roman"/>
                <a:cs typeface="Times New Roman"/>
              </a:rPr>
              <a:t>	</a:t>
            </a:r>
            <a:r>
              <a:rPr sz="2400" i="1" spc="55" dirty="0">
                <a:latin typeface="Times New Roman"/>
                <a:cs typeface="Times New Roman"/>
              </a:rPr>
              <a:t>A</a:t>
            </a:r>
            <a:r>
              <a:rPr sz="2400" i="1" spc="-185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Symbol"/>
                <a:cs typeface="Symbol"/>
              </a:rPr>
              <a:t>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620" dirty="0">
                <a:latin typeface="Symbol"/>
                <a:cs typeface="Symbol"/>
              </a:rPr>
              <a:t></a:t>
            </a:r>
            <a:r>
              <a:rPr sz="6975" spc="-930" baseline="-6571" dirty="0">
                <a:latin typeface="Symbol"/>
                <a:cs typeface="Symbol"/>
              </a:rPr>
              <a:t></a:t>
            </a:r>
            <a:endParaRPr sz="6975" baseline="-6571" dirty="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endParaRPr sz="2400" dirty="0">
              <a:latin typeface="Symbol"/>
              <a:cs typeface="Symbol"/>
            </a:endParaRPr>
          </a:p>
          <a:p>
            <a:pPr marL="278765" indent="-227965">
              <a:lnSpc>
                <a:spcPts val="2735"/>
              </a:lnSpc>
              <a:buChar char="•"/>
              <a:tabLst>
                <a:tab pos="278765" algn="l"/>
              </a:tabLst>
            </a:pPr>
            <a:r>
              <a:rPr sz="2400" spc="-100" dirty="0">
                <a:latin typeface="Trebuchet MS"/>
                <a:cs typeface="Trebuchet MS"/>
              </a:rPr>
              <a:t>The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dilation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of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and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80" dirty="0">
                <a:latin typeface="Trebuchet MS"/>
                <a:cs typeface="Trebuchet MS"/>
              </a:rPr>
              <a:t>B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set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of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all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displacements,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z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210" dirty="0">
                <a:latin typeface="Trebuchet MS"/>
                <a:cs typeface="Trebuchet MS"/>
              </a:rPr>
              <a:t>, </a:t>
            </a:r>
            <a:r>
              <a:rPr sz="2400" spc="65" dirty="0">
                <a:latin typeface="Trebuchet MS"/>
                <a:cs typeface="Trebuchet MS"/>
              </a:rPr>
              <a:t>such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that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80" dirty="0">
                <a:latin typeface="Trebuchet MS"/>
                <a:cs typeface="Trebuchet MS"/>
              </a:rPr>
              <a:t>B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</a:t>
            </a:r>
            <a:endParaRPr sz="2400" dirty="0">
              <a:latin typeface="Trebuchet MS"/>
              <a:cs typeface="Trebuchet MS"/>
            </a:endParaRPr>
          </a:p>
          <a:p>
            <a:pPr marL="279400">
              <a:lnSpc>
                <a:spcPts val="2735"/>
              </a:lnSpc>
            </a:pPr>
            <a:r>
              <a:rPr sz="2400" spc="-70" dirty="0">
                <a:latin typeface="Trebuchet MS"/>
                <a:cs typeface="Trebuchet MS"/>
              </a:rPr>
              <a:t>overlap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by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at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least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one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element.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dilation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also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be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defined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by:</a:t>
            </a:r>
            <a:endParaRPr sz="2400" dirty="0">
              <a:latin typeface="Trebuchet MS"/>
              <a:cs typeface="Trebuchet MS"/>
            </a:endParaRPr>
          </a:p>
          <a:p>
            <a:pPr marL="315595" algn="ctr">
              <a:lnSpc>
                <a:spcPct val="100000"/>
              </a:lnSpc>
              <a:spcBef>
                <a:spcPts val="1590"/>
              </a:spcBef>
              <a:tabLst>
                <a:tab pos="2722880" algn="l"/>
              </a:tabLst>
            </a:pPr>
            <a:r>
              <a:rPr sz="2350" i="1" dirty="0">
                <a:latin typeface="Times New Roman"/>
                <a:cs typeface="Times New Roman"/>
              </a:rPr>
              <a:t>A</a:t>
            </a:r>
            <a:r>
              <a:rPr sz="2350" i="1" spc="-30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</a:t>
            </a:r>
            <a:r>
              <a:rPr sz="2350" spc="-100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B</a:t>
            </a:r>
            <a:r>
              <a:rPr sz="2350" i="1" spc="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spc="-210" dirty="0">
                <a:latin typeface="Times New Roman"/>
                <a:cs typeface="Times New Roman"/>
              </a:rPr>
              <a:t> </a:t>
            </a:r>
            <a:r>
              <a:rPr sz="7425" spc="-862" baseline="-6734" dirty="0">
                <a:latin typeface="Symbol"/>
                <a:cs typeface="Symbol"/>
              </a:rPr>
              <a:t></a:t>
            </a:r>
            <a:r>
              <a:rPr sz="2350" i="1" spc="-575" dirty="0">
                <a:latin typeface="Times New Roman"/>
                <a:cs typeface="Times New Roman"/>
              </a:rPr>
              <a:t>z</a:t>
            </a:r>
            <a:r>
              <a:rPr sz="2350" i="1" spc="295" dirty="0">
                <a:latin typeface="Times New Roman"/>
                <a:cs typeface="Times New Roman"/>
              </a:rPr>
              <a:t> </a:t>
            </a:r>
            <a:r>
              <a:rPr sz="3525" spc="-15" baseline="7092" dirty="0">
                <a:latin typeface="Symbol"/>
                <a:cs typeface="Symbol"/>
              </a:rPr>
              <a:t></a:t>
            </a:r>
            <a:r>
              <a:rPr sz="3525" spc="-15" baseline="-26004" dirty="0">
                <a:latin typeface="Symbol"/>
                <a:cs typeface="Symbol"/>
              </a:rPr>
              <a:t></a:t>
            </a:r>
            <a:r>
              <a:rPr sz="2350" spc="-10" dirty="0">
                <a:latin typeface="Times New Roman"/>
                <a:cs typeface="Times New Roman"/>
              </a:rPr>
              <a:t>(</a:t>
            </a:r>
            <a:r>
              <a:rPr sz="2350" i="1" spc="-10" dirty="0">
                <a:latin typeface="Times New Roman"/>
                <a:cs typeface="Times New Roman"/>
              </a:rPr>
              <a:t>B</a:t>
            </a:r>
            <a:r>
              <a:rPr sz="3525" spc="-15" baseline="14184" dirty="0">
                <a:latin typeface="Times New Roman"/>
                <a:cs typeface="Times New Roman"/>
              </a:rPr>
              <a:t>ˆ</a:t>
            </a:r>
            <a:r>
              <a:rPr sz="2350" spc="-10" dirty="0">
                <a:latin typeface="Times New Roman"/>
                <a:cs typeface="Times New Roman"/>
              </a:rPr>
              <a:t>)</a:t>
            </a:r>
            <a:r>
              <a:rPr sz="2025" i="1" spc="-15" baseline="-24691" dirty="0">
                <a:latin typeface="Times New Roman"/>
                <a:cs typeface="Times New Roman"/>
              </a:rPr>
              <a:t>z</a:t>
            </a:r>
            <a:r>
              <a:rPr sz="2025" i="1" baseline="-24691" dirty="0">
                <a:latin typeface="Times New Roman"/>
                <a:cs typeface="Times New Roman"/>
              </a:rPr>
              <a:t>	</a:t>
            </a:r>
            <a:r>
              <a:rPr sz="2350" i="1" spc="-270" dirty="0">
                <a:latin typeface="Times New Roman"/>
                <a:cs typeface="Times New Roman"/>
              </a:rPr>
              <a:t>A</a:t>
            </a:r>
            <a:r>
              <a:rPr sz="3525" spc="-405" baseline="7092" dirty="0">
                <a:latin typeface="Symbol"/>
                <a:cs typeface="Symbol"/>
              </a:rPr>
              <a:t></a:t>
            </a:r>
            <a:r>
              <a:rPr sz="3525" spc="-405" baseline="-26004" dirty="0">
                <a:latin typeface="Symbol"/>
                <a:cs typeface="Symbol"/>
              </a:rPr>
              <a:t></a:t>
            </a:r>
            <a:r>
              <a:rPr sz="3525" spc="-7" baseline="-26004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</a:t>
            </a:r>
            <a:r>
              <a:rPr sz="2350" spc="170" dirty="0">
                <a:latin typeface="Times New Roman"/>
                <a:cs typeface="Times New Roman"/>
              </a:rPr>
              <a:t> </a:t>
            </a:r>
            <a:r>
              <a:rPr sz="2350" i="1" spc="-730" dirty="0">
                <a:latin typeface="Times New Roman"/>
                <a:cs typeface="Times New Roman"/>
              </a:rPr>
              <a:t>A</a:t>
            </a:r>
            <a:r>
              <a:rPr sz="7425" spc="-1095" baseline="-6734" dirty="0">
                <a:latin typeface="Symbol"/>
                <a:cs typeface="Symbol"/>
              </a:rPr>
              <a:t></a:t>
            </a:r>
            <a:endParaRPr sz="7425" baseline="-6734" dirty="0">
              <a:latin typeface="Symbol"/>
              <a:cs typeface="Symbo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66068" y="4474023"/>
            <a:ext cx="1214640" cy="30210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8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Dilation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82272" y="1089961"/>
            <a:ext cx="1739733" cy="40090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23972" y="1075944"/>
            <a:ext cx="5576316" cy="55778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8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Dilation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2026" y="1728216"/>
            <a:ext cx="1695827" cy="331557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2116" y="1728216"/>
            <a:ext cx="5519928" cy="361492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68935"/>
            <a:ext cx="19081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0" dirty="0"/>
              <a:t>Opening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41300" marR="5080" indent="-228600">
              <a:lnSpc>
                <a:spcPts val="1839"/>
              </a:lnSpc>
              <a:spcBef>
                <a:spcPts val="330"/>
              </a:spcBef>
              <a:buChar char="•"/>
              <a:tabLst>
                <a:tab pos="241300" algn="l"/>
              </a:tabLst>
            </a:pPr>
            <a:r>
              <a:rPr spc="-75" dirty="0"/>
              <a:t>The</a:t>
            </a:r>
            <a:r>
              <a:rPr spc="-125" dirty="0"/>
              <a:t> </a:t>
            </a:r>
            <a:r>
              <a:rPr dirty="0"/>
              <a:t>process</a:t>
            </a:r>
            <a:r>
              <a:rPr spc="-145" dirty="0"/>
              <a:t> </a:t>
            </a:r>
            <a:r>
              <a:rPr spc="-55" dirty="0"/>
              <a:t>of</a:t>
            </a:r>
            <a:r>
              <a:rPr spc="-125" dirty="0"/>
              <a:t> </a:t>
            </a:r>
            <a:r>
              <a:rPr u="sng" spc="-20" dirty="0">
                <a:uFill>
                  <a:solidFill>
                    <a:srgbClr val="000000"/>
                  </a:solidFill>
                </a:uFill>
              </a:rPr>
              <a:t>erosion</a:t>
            </a:r>
            <a:r>
              <a:rPr spc="-135" dirty="0"/>
              <a:t> </a:t>
            </a:r>
            <a:r>
              <a:rPr spc="-50" dirty="0"/>
              <a:t>followed</a:t>
            </a:r>
            <a:r>
              <a:rPr spc="-140" dirty="0"/>
              <a:t> </a:t>
            </a:r>
            <a:r>
              <a:rPr spc="-50" dirty="0"/>
              <a:t>by</a:t>
            </a:r>
            <a:r>
              <a:rPr spc="-135" dirty="0"/>
              <a:t> </a:t>
            </a:r>
            <a:r>
              <a:rPr u="sng" spc="-50" dirty="0">
                <a:uFill>
                  <a:solidFill>
                    <a:srgbClr val="000000"/>
                  </a:solidFill>
                </a:uFill>
              </a:rPr>
              <a:t>dilation</a:t>
            </a:r>
            <a:r>
              <a:rPr spc="-160" dirty="0"/>
              <a:t> </a:t>
            </a:r>
            <a:r>
              <a:rPr dirty="0"/>
              <a:t>is</a:t>
            </a:r>
            <a:r>
              <a:rPr spc="-130" dirty="0"/>
              <a:t> </a:t>
            </a:r>
            <a:r>
              <a:rPr spc="-25" dirty="0"/>
              <a:t>called</a:t>
            </a:r>
            <a:r>
              <a:rPr spc="-140" dirty="0"/>
              <a:t> </a:t>
            </a:r>
            <a:r>
              <a:rPr spc="-40" dirty="0"/>
              <a:t>opening.</a:t>
            </a:r>
            <a:r>
              <a:rPr spc="-140" dirty="0"/>
              <a:t> </a:t>
            </a:r>
            <a:r>
              <a:rPr spc="-90" dirty="0"/>
              <a:t>It</a:t>
            </a:r>
            <a:r>
              <a:rPr spc="-125" dirty="0"/>
              <a:t> </a:t>
            </a:r>
            <a:r>
              <a:rPr spc="50" dirty="0"/>
              <a:t>has</a:t>
            </a:r>
            <a:r>
              <a:rPr spc="-125" dirty="0"/>
              <a:t> </a:t>
            </a:r>
            <a:r>
              <a:rPr spc="-60" dirty="0"/>
              <a:t>the</a:t>
            </a:r>
            <a:r>
              <a:rPr spc="-125" dirty="0"/>
              <a:t> </a:t>
            </a:r>
            <a:r>
              <a:rPr spc="-70" dirty="0"/>
              <a:t>effect</a:t>
            </a:r>
            <a:r>
              <a:rPr spc="-145" dirty="0"/>
              <a:t> </a:t>
            </a:r>
            <a:r>
              <a:rPr spc="-55" dirty="0"/>
              <a:t>of</a:t>
            </a:r>
            <a:r>
              <a:rPr spc="-125" dirty="0"/>
              <a:t> </a:t>
            </a:r>
            <a:r>
              <a:rPr spc="-55" dirty="0"/>
              <a:t>eliminating</a:t>
            </a:r>
            <a:r>
              <a:rPr spc="-160" dirty="0"/>
              <a:t> </a:t>
            </a:r>
            <a:r>
              <a:rPr dirty="0"/>
              <a:t>small</a:t>
            </a:r>
            <a:r>
              <a:rPr spc="-135" dirty="0"/>
              <a:t> </a:t>
            </a:r>
            <a:r>
              <a:rPr dirty="0"/>
              <a:t>and</a:t>
            </a:r>
            <a:r>
              <a:rPr spc="-130" dirty="0"/>
              <a:t> </a:t>
            </a:r>
            <a:r>
              <a:rPr spc="-20" dirty="0"/>
              <a:t>thin </a:t>
            </a:r>
            <a:r>
              <a:rPr spc="-50" dirty="0"/>
              <a:t>objects,</a:t>
            </a:r>
            <a:r>
              <a:rPr spc="-160" dirty="0"/>
              <a:t> </a:t>
            </a:r>
            <a:r>
              <a:rPr spc="-45" dirty="0"/>
              <a:t>breaking</a:t>
            </a:r>
            <a:r>
              <a:rPr spc="-140" dirty="0"/>
              <a:t> </a:t>
            </a:r>
            <a:r>
              <a:rPr spc="-60" dirty="0"/>
              <a:t>the</a:t>
            </a:r>
            <a:r>
              <a:rPr spc="-130" dirty="0"/>
              <a:t> </a:t>
            </a:r>
            <a:r>
              <a:rPr spc="-30" dirty="0"/>
              <a:t>objects</a:t>
            </a:r>
            <a:r>
              <a:rPr spc="-155" dirty="0"/>
              <a:t> </a:t>
            </a:r>
            <a:r>
              <a:rPr spc="-75" dirty="0"/>
              <a:t>at</a:t>
            </a:r>
            <a:r>
              <a:rPr spc="-140" dirty="0"/>
              <a:t> </a:t>
            </a:r>
            <a:r>
              <a:rPr spc="-55" dirty="0"/>
              <a:t>thin</a:t>
            </a:r>
            <a:r>
              <a:rPr spc="-130" dirty="0"/>
              <a:t> </a:t>
            </a:r>
            <a:r>
              <a:rPr spc="-10" dirty="0"/>
              <a:t>points</a:t>
            </a:r>
            <a:r>
              <a:rPr spc="-145" dirty="0"/>
              <a:t> </a:t>
            </a:r>
            <a:r>
              <a:rPr dirty="0"/>
              <a:t>and</a:t>
            </a:r>
            <a:r>
              <a:rPr spc="-135" dirty="0"/>
              <a:t> </a:t>
            </a:r>
            <a:r>
              <a:rPr spc="-10" dirty="0"/>
              <a:t>smoothing</a:t>
            </a:r>
            <a:r>
              <a:rPr spc="-130" dirty="0"/>
              <a:t> </a:t>
            </a:r>
            <a:r>
              <a:rPr spc="-60" dirty="0"/>
              <a:t>the</a:t>
            </a:r>
            <a:r>
              <a:rPr spc="-125" dirty="0"/>
              <a:t> </a:t>
            </a:r>
            <a:r>
              <a:rPr spc="-35" dirty="0"/>
              <a:t>boundaries/contours</a:t>
            </a:r>
            <a:r>
              <a:rPr spc="-175" dirty="0"/>
              <a:t> </a:t>
            </a:r>
            <a:r>
              <a:rPr spc="-55" dirty="0"/>
              <a:t>of</a:t>
            </a:r>
            <a:r>
              <a:rPr spc="-130" dirty="0"/>
              <a:t> </a:t>
            </a:r>
            <a:r>
              <a:rPr spc="-60" dirty="0"/>
              <a:t>the</a:t>
            </a:r>
            <a:r>
              <a:rPr spc="-130" dirty="0"/>
              <a:t> </a:t>
            </a:r>
            <a:r>
              <a:rPr spc="-10" dirty="0"/>
              <a:t>objects.</a:t>
            </a: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Char char="•"/>
              <a:tabLst>
                <a:tab pos="241300" algn="l"/>
              </a:tabLst>
            </a:pPr>
            <a:r>
              <a:rPr spc="-40" dirty="0"/>
              <a:t>Given</a:t>
            </a:r>
            <a:r>
              <a:rPr spc="-160" dirty="0"/>
              <a:t> </a:t>
            </a:r>
            <a:r>
              <a:rPr spc="-20" dirty="0"/>
              <a:t>set</a:t>
            </a:r>
            <a:r>
              <a:rPr spc="-125" dirty="0"/>
              <a:t> </a:t>
            </a:r>
            <a:r>
              <a:rPr dirty="0"/>
              <a:t>A</a:t>
            </a:r>
            <a:r>
              <a:rPr spc="-140" dirty="0"/>
              <a:t> </a:t>
            </a:r>
            <a:r>
              <a:rPr dirty="0"/>
              <a:t>and</a:t>
            </a:r>
            <a:r>
              <a:rPr spc="-140" dirty="0"/>
              <a:t> </a:t>
            </a:r>
            <a:r>
              <a:rPr spc="-60" dirty="0"/>
              <a:t>the</a:t>
            </a:r>
            <a:r>
              <a:rPr spc="-114" dirty="0"/>
              <a:t> </a:t>
            </a:r>
            <a:r>
              <a:rPr spc="-45" dirty="0"/>
              <a:t>structuring</a:t>
            </a:r>
            <a:r>
              <a:rPr spc="-155" dirty="0"/>
              <a:t> </a:t>
            </a:r>
            <a:r>
              <a:rPr spc="-45" dirty="0"/>
              <a:t>element</a:t>
            </a:r>
            <a:r>
              <a:rPr spc="-145" dirty="0"/>
              <a:t> </a:t>
            </a:r>
            <a:r>
              <a:rPr spc="-70" dirty="0"/>
              <a:t>B.</a:t>
            </a:r>
            <a:r>
              <a:rPr spc="-140" dirty="0"/>
              <a:t> </a:t>
            </a:r>
            <a:r>
              <a:rPr spc="-10" dirty="0"/>
              <a:t>Opening</a:t>
            </a:r>
            <a:r>
              <a:rPr spc="-140" dirty="0"/>
              <a:t> </a:t>
            </a:r>
            <a:r>
              <a:rPr spc="-55" dirty="0"/>
              <a:t>of</a:t>
            </a:r>
            <a:r>
              <a:rPr spc="-135" dirty="0"/>
              <a:t> </a:t>
            </a:r>
            <a:r>
              <a:rPr dirty="0"/>
              <a:t>A</a:t>
            </a:r>
            <a:r>
              <a:rPr spc="-135" dirty="0"/>
              <a:t> </a:t>
            </a:r>
            <a:r>
              <a:rPr spc="-55" dirty="0"/>
              <a:t>by</a:t>
            </a:r>
            <a:r>
              <a:rPr spc="-145" dirty="0"/>
              <a:t> </a:t>
            </a:r>
            <a:r>
              <a:rPr spc="-45" dirty="0"/>
              <a:t>structuring</a:t>
            </a:r>
            <a:r>
              <a:rPr spc="-155" dirty="0"/>
              <a:t> </a:t>
            </a:r>
            <a:r>
              <a:rPr spc="-45" dirty="0"/>
              <a:t>element</a:t>
            </a:r>
            <a:r>
              <a:rPr spc="-140" dirty="0"/>
              <a:t> </a:t>
            </a:r>
            <a:r>
              <a:rPr spc="55" dirty="0"/>
              <a:t>B</a:t>
            </a:r>
            <a:r>
              <a:rPr spc="-135" dirty="0"/>
              <a:t> </a:t>
            </a:r>
            <a:r>
              <a:rPr dirty="0"/>
              <a:t>is</a:t>
            </a:r>
            <a:r>
              <a:rPr spc="-145" dirty="0"/>
              <a:t> </a:t>
            </a:r>
            <a:r>
              <a:rPr spc="-45" dirty="0"/>
              <a:t>defined</a:t>
            </a:r>
            <a:r>
              <a:rPr spc="-150" dirty="0"/>
              <a:t> </a:t>
            </a:r>
            <a:r>
              <a:rPr spc="-25" dirty="0"/>
              <a:t>by:</a:t>
            </a:r>
          </a:p>
          <a:p>
            <a:pPr marL="544195" algn="ctr">
              <a:lnSpc>
                <a:spcPct val="100000"/>
              </a:lnSpc>
              <a:spcBef>
                <a:spcPts val="969"/>
              </a:spcBef>
            </a:pPr>
            <a:r>
              <a:rPr sz="2450" i="1" spc="180" dirty="0">
                <a:latin typeface="Times New Roman"/>
                <a:cs typeface="Times New Roman"/>
              </a:rPr>
              <a:t>A</a:t>
            </a:r>
            <a:r>
              <a:rPr sz="2450" i="1" spc="-360" dirty="0">
                <a:latin typeface="Times New Roman"/>
                <a:cs typeface="Times New Roman"/>
              </a:rPr>
              <a:t> </a:t>
            </a:r>
            <a:r>
              <a:rPr sz="2450" spc="-275" dirty="0">
                <a:latin typeface="Lucida Sans Unicode"/>
                <a:cs typeface="Lucida Sans Unicode"/>
              </a:rPr>
              <a:t>∘ </a:t>
            </a:r>
            <a:r>
              <a:rPr sz="2450" i="1" spc="180" dirty="0">
                <a:latin typeface="Times New Roman"/>
                <a:cs typeface="Times New Roman"/>
              </a:rPr>
              <a:t>B</a:t>
            </a:r>
            <a:r>
              <a:rPr sz="2450" i="1" spc="30" dirty="0">
                <a:latin typeface="Times New Roman"/>
                <a:cs typeface="Times New Roman"/>
              </a:rPr>
              <a:t> </a:t>
            </a:r>
            <a:r>
              <a:rPr sz="2450" spc="160" dirty="0">
                <a:latin typeface="Symbol"/>
                <a:cs typeface="Symbol"/>
              </a:rPr>
              <a:t></a:t>
            </a:r>
            <a:r>
              <a:rPr sz="2450" spc="-45" dirty="0">
                <a:latin typeface="Times New Roman"/>
                <a:cs typeface="Times New Roman"/>
              </a:rPr>
              <a:t> </a:t>
            </a:r>
            <a:r>
              <a:rPr sz="2450" spc="95" dirty="0">
                <a:latin typeface="Times New Roman"/>
                <a:cs typeface="Times New Roman"/>
              </a:rPr>
              <a:t>(</a:t>
            </a:r>
            <a:r>
              <a:rPr sz="2450" spc="-345" dirty="0">
                <a:latin typeface="Times New Roman"/>
                <a:cs typeface="Times New Roman"/>
              </a:rPr>
              <a:t> </a:t>
            </a:r>
            <a:r>
              <a:rPr sz="2450" i="1" spc="180" dirty="0">
                <a:latin typeface="Times New Roman"/>
                <a:cs typeface="Times New Roman"/>
              </a:rPr>
              <a:t>A</a:t>
            </a:r>
            <a:r>
              <a:rPr sz="2450" i="1" spc="-310" dirty="0">
                <a:latin typeface="Times New Roman"/>
                <a:cs typeface="Times New Roman"/>
              </a:rPr>
              <a:t> </a:t>
            </a:r>
            <a:r>
              <a:rPr sz="2450" spc="225" dirty="0">
                <a:latin typeface="Symbol"/>
                <a:cs typeface="Symbol"/>
              </a:rPr>
              <a:t></a:t>
            </a:r>
            <a:r>
              <a:rPr sz="2450" spc="-150" dirty="0">
                <a:latin typeface="Times New Roman"/>
                <a:cs typeface="Times New Roman"/>
              </a:rPr>
              <a:t> </a:t>
            </a:r>
            <a:r>
              <a:rPr sz="2450" i="1" spc="165" dirty="0">
                <a:latin typeface="Times New Roman"/>
                <a:cs typeface="Times New Roman"/>
              </a:rPr>
              <a:t>B</a:t>
            </a:r>
            <a:r>
              <a:rPr sz="2450" spc="165" dirty="0">
                <a:latin typeface="Times New Roman"/>
                <a:cs typeface="Times New Roman"/>
              </a:rPr>
              <a:t>)</a:t>
            </a:r>
            <a:r>
              <a:rPr sz="2450" spc="-220" dirty="0">
                <a:latin typeface="Times New Roman"/>
                <a:cs typeface="Times New Roman"/>
              </a:rPr>
              <a:t> </a:t>
            </a:r>
            <a:r>
              <a:rPr sz="2450" spc="225" dirty="0">
                <a:latin typeface="Symbol"/>
                <a:cs typeface="Symbol"/>
              </a:rPr>
              <a:t></a:t>
            </a:r>
            <a:r>
              <a:rPr sz="2450" spc="-100" dirty="0">
                <a:latin typeface="Times New Roman"/>
                <a:cs typeface="Times New Roman"/>
              </a:rPr>
              <a:t> </a:t>
            </a:r>
            <a:r>
              <a:rPr sz="2450" i="1" spc="130" dirty="0">
                <a:latin typeface="Times New Roman"/>
                <a:cs typeface="Times New Roman"/>
              </a:rPr>
              <a:t>B</a:t>
            </a:r>
            <a:endParaRPr sz="24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0741" y="2252726"/>
            <a:ext cx="244856" cy="2250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99685" y="2945023"/>
            <a:ext cx="1617563" cy="34126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80488" y="2947416"/>
            <a:ext cx="6248400" cy="376732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68935"/>
            <a:ext cx="172021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Closing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41300" marR="5080" indent="-228600">
              <a:lnSpc>
                <a:spcPts val="1839"/>
              </a:lnSpc>
              <a:spcBef>
                <a:spcPts val="330"/>
              </a:spcBef>
              <a:buChar char="•"/>
              <a:tabLst>
                <a:tab pos="241300" algn="l"/>
              </a:tabLst>
            </a:pPr>
            <a:r>
              <a:rPr spc="-75" dirty="0"/>
              <a:t>The</a:t>
            </a:r>
            <a:r>
              <a:rPr spc="-120" dirty="0"/>
              <a:t> </a:t>
            </a:r>
            <a:r>
              <a:rPr dirty="0"/>
              <a:t>process</a:t>
            </a:r>
            <a:r>
              <a:rPr spc="-135" dirty="0"/>
              <a:t> </a:t>
            </a:r>
            <a:r>
              <a:rPr spc="-55" dirty="0"/>
              <a:t>of</a:t>
            </a:r>
            <a:r>
              <a:rPr spc="-120" dirty="0"/>
              <a:t> </a:t>
            </a:r>
            <a:r>
              <a:rPr u="sng" spc="-50" dirty="0">
                <a:uFill>
                  <a:solidFill>
                    <a:srgbClr val="000000"/>
                  </a:solidFill>
                </a:uFill>
              </a:rPr>
              <a:t>dilation</a:t>
            </a:r>
            <a:r>
              <a:rPr spc="-150" dirty="0"/>
              <a:t> </a:t>
            </a:r>
            <a:r>
              <a:rPr spc="-50" dirty="0"/>
              <a:t>followed</a:t>
            </a:r>
            <a:r>
              <a:rPr spc="-135" dirty="0"/>
              <a:t> </a:t>
            </a:r>
            <a:r>
              <a:rPr spc="-50" dirty="0"/>
              <a:t>by</a:t>
            </a:r>
            <a:r>
              <a:rPr spc="-145" dirty="0"/>
              <a:t> </a:t>
            </a:r>
            <a:r>
              <a:rPr u="sng" spc="-20" dirty="0">
                <a:uFill>
                  <a:solidFill>
                    <a:srgbClr val="000000"/>
                  </a:solidFill>
                </a:uFill>
              </a:rPr>
              <a:t>erosion</a:t>
            </a:r>
            <a:r>
              <a:rPr spc="-120" dirty="0"/>
              <a:t> </a:t>
            </a:r>
            <a:r>
              <a:rPr dirty="0"/>
              <a:t>is</a:t>
            </a:r>
            <a:r>
              <a:rPr spc="-120" dirty="0"/>
              <a:t> </a:t>
            </a:r>
            <a:r>
              <a:rPr spc="-25" dirty="0"/>
              <a:t>called</a:t>
            </a:r>
            <a:r>
              <a:rPr spc="-135" dirty="0"/>
              <a:t> </a:t>
            </a:r>
            <a:r>
              <a:rPr spc="-25" dirty="0"/>
              <a:t>closing.</a:t>
            </a:r>
            <a:r>
              <a:rPr spc="-150" dirty="0"/>
              <a:t> </a:t>
            </a:r>
            <a:r>
              <a:rPr spc="-90" dirty="0"/>
              <a:t>It</a:t>
            </a:r>
            <a:r>
              <a:rPr spc="-120" dirty="0"/>
              <a:t> </a:t>
            </a:r>
            <a:r>
              <a:rPr dirty="0"/>
              <a:t>has</a:t>
            </a:r>
            <a:r>
              <a:rPr spc="-120" dirty="0"/>
              <a:t> </a:t>
            </a:r>
            <a:r>
              <a:rPr spc="-60" dirty="0"/>
              <a:t>the</a:t>
            </a:r>
            <a:r>
              <a:rPr spc="-100" dirty="0"/>
              <a:t> </a:t>
            </a:r>
            <a:r>
              <a:rPr spc="-75" dirty="0"/>
              <a:t>effect</a:t>
            </a:r>
            <a:r>
              <a:rPr spc="-140" dirty="0"/>
              <a:t> </a:t>
            </a:r>
            <a:r>
              <a:rPr spc="-55" dirty="0"/>
              <a:t>of</a:t>
            </a:r>
            <a:r>
              <a:rPr spc="-120" dirty="0"/>
              <a:t> </a:t>
            </a:r>
            <a:r>
              <a:rPr spc="-70" dirty="0"/>
              <a:t>filling</a:t>
            </a:r>
            <a:r>
              <a:rPr spc="-150" dirty="0"/>
              <a:t> </a:t>
            </a:r>
            <a:r>
              <a:rPr dirty="0"/>
              <a:t>small</a:t>
            </a:r>
            <a:r>
              <a:rPr spc="-130" dirty="0"/>
              <a:t> </a:t>
            </a:r>
            <a:r>
              <a:rPr dirty="0"/>
              <a:t>and</a:t>
            </a:r>
            <a:r>
              <a:rPr spc="-110" dirty="0"/>
              <a:t> </a:t>
            </a:r>
            <a:r>
              <a:rPr spc="-55" dirty="0"/>
              <a:t>thin</a:t>
            </a:r>
            <a:r>
              <a:rPr spc="-135" dirty="0"/>
              <a:t> </a:t>
            </a:r>
            <a:r>
              <a:rPr spc="-10" dirty="0"/>
              <a:t>holes, </a:t>
            </a:r>
            <a:r>
              <a:rPr spc="-25" dirty="0"/>
              <a:t>connecting</a:t>
            </a:r>
            <a:r>
              <a:rPr spc="-160" dirty="0"/>
              <a:t> </a:t>
            </a:r>
            <a:r>
              <a:rPr spc="-40" dirty="0"/>
              <a:t>nearby</a:t>
            </a:r>
            <a:r>
              <a:rPr spc="-130" dirty="0"/>
              <a:t> </a:t>
            </a:r>
            <a:r>
              <a:rPr spc="-30" dirty="0"/>
              <a:t>objects</a:t>
            </a:r>
            <a:r>
              <a:rPr spc="-145" dirty="0"/>
              <a:t> </a:t>
            </a:r>
            <a:r>
              <a:rPr dirty="0"/>
              <a:t>and</a:t>
            </a:r>
            <a:r>
              <a:rPr spc="-130" dirty="0"/>
              <a:t> </a:t>
            </a:r>
            <a:r>
              <a:rPr spc="-10" dirty="0"/>
              <a:t>smoothing</a:t>
            </a:r>
            <a:r>
              <a:rPr spc="-130" dirty="0"/>
              <a:t> </a:t>
            </a:r>
            <a:r>
              <a:rPr spc="-60" dirty="0"/>
              <a:t>the</a:t>
            </a:r>
            <a:r>
              <a:rPr spc="-105" dirty="0"/>
              <a:t> </a:t>
            </a:r>
            <a:r>
              <a:rPr spc="-35" dirty="0"/>
              <a:t>boundaries/contours</a:t>
            </a:r>
            <a:r>
              <a:rPr spc="-165" dirty="0"/>
              <a:t> </a:t>
            </a:r>
            <a:r>
              <a:rPr spc="-55" dirty="0"/>
              <a:t>of</a:t>
            </a:r>
            <a:r>
              <a:rPr spc="-120" dirty="0"/>
              <a:t> </a:t>
            </a:r>
            <a:r>
              <a:rPr spc="-60" dirty="0"/>
              <a:t>the</a:t>
            </a:r>
            <a:r>
              <a:rPr spc="-125" dirty="0"/>
              <a:t> </a:t>
            </a:r>
            <a:r>
              <a:rPr spc="-10" dirty="0"/>
              <a:t>objects.</a:t>
            </a: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Char char="•"/>
              <a:tabLst>
                <a:tab pos="241300" algn="l"/>
              </a:tabLst>
            </a:pPr>
            <a:r>
              <a:rPr spc="-40" dirty="0"/>
              <a:t>Given</a:t>
            </a:r>
            <a:r>
              <a:rPr spc="-155" dirty="0"/>
              <a:t> </a:t>
            </a:r>
            <a:r>
              <a:rPr spc="-20" dirty="0"/>
              <a:t>set</a:t>
            </a:r>
            <a:r>
              <a:rPr spc="-130" dirty="0"/>
              <a:t> </a:t>
            </a:r>
            <a:r>
              <a:rPr dirty="0"/>
              <a:t>A</a:t>
            </a:r>
            <a:r>
              <a:rPr spc="-140" dirty="0"/>
              <a:t> </a:t>
            </a:r>
            <a:r>
              <a:rPr dirty="0"/>
              <a:t>and</a:t>
            </a:r>
            <a:r>
              <a:rPr spc="-135" dirty="0"/>
              <a:t> </a:t>
            </a:r>
            <a:r>
              <a:rPr spc="-60" dirty="0"/>
              <a:t>the</a:t>
            </a:r>
            <a:r>
              <a:rPr spc="-120" dirty="0"/>
              <a:t> </a:t>
            </a:r>
            <a:r>
              <a:rPr spc="-45" dirty="0"/>
              <a:t>structuring</a:t>
            </a:r>
            <a:r>
              <a:rPr spc="-155" dirty="0"/>
              <a:t> </a:t>
            </a:r>
            <a:r>
              <a:rPr spc="-45" dirty="0"/>
              <a:t>element</a:t>
            </a:r>
            <a:r>
              <a:rPr spc="-140" dirty="0"/>
              <a:t> </a:t>
            </a:r>
            <a:r>
              <a:rPr spc="-70" dirty="0"/>
              <a:t>B,</a:t>
            </a:r>
            <a:r>
              <a:rPr spc="-140" dirty="0"/>
              <a:t> </a:t>
            </a:r>
            <a:r>
              <a:rPr dirty="0"/>
              <a:t>closing</a:t>
            </a:r>
            <a:r>
              <a:rPr spc="-155" dirty="0"/>
              <a:t> </a:t>
            </a:r>
            <a:r>
              <a:rPr spc="-55" dirty="0"/>
              <a:t>of</a:t>
            </a:r>
            <a:r>
              <a:rPr spc="-135" dirty="0"/>
              <a:t> </a:t>
            </a:r>
            <a:r>
              <a:rPr dirty="0"/>
              <a:t>A</a:t>
            </a:r>
            <a:r>
              <a:rPr spc="-130" dirty="0"/>
              <a:t> </a:t>
            </a:r>
            <a:r>
              <a:rPr spc="-55" dirty="0"/>
              <a:t>by</a:t>
            </a:r>
            <a:r>
              <a:rPr spc="-145" dirty="0"/>
              <a:t> </a:t>
            </a:r>
            <a:r>
              <a:rPr spc="-45" dirty="0"/>
              <a:t>structuring</a:t>
            </a:r>
            <a:r>
              <a:rPr spc="-155" dirty="0"/>
              <a:t> </a:t>
            </a:r>
            <a:r>
              <a:rPr spc="-45" dirty="0"/>
              <a:t>element</a:t>
            </a:r>
            <a:r>
              <a:rPr spc="-145" dirty="0"/>
              <a:t> </a:t>
            </a:r>
            <a:r>
              <a:rPr spc="55" dirty="0"/>
              <a:t>B</a:t>
            </a:r>
            <a:r>
              <a:rPr spc="-130" dirty="0"/>
              <a:t> </a:t>
            </a:r>
            <a:r>
              <a:rPr dirty="0"/>
              <a:t>is</a:t>
            </a:r>
            <a:r>
              <a:rPr spc="-145" dirty="0"/>
              <a:t> </a:t>
            </a:r>
            <a:r>
              <a:rPr spc="-45" dirty="0"/>
              <a:t>defined</a:t>
            </a:r>
            <a:r>
              <a:rPr spc="-150" dirty="0"/>
              <a:t> </a:t>
            </a:r>
            <a:r>
              <a:rPr spc="-25" dirty="0"/>
              <a:t>by:</a:t>
            </a:r>
          </a:p>
          <a:p>
            <a:pPr marL="3175" marR="625475" algn="ctr">
              <a:lnSpc>
                <a:spcPct val="100000"/>
              </a:lnSpc>
              <a:spcBef>
                <a:spcPts val="1115"/>
              </a:spcBef>
            </a:pPr>
            <a:r>
              <a:rPr sz="2450" i="1" spc="165" dirty="0">
                <a:latin typeface="Times New Roman"/>
                <a:cs typeface="Times New Roman"/>
              </a:rPr>
              <a:t>A</a:t>
            </a:r>
            <a:r>
              <a:rPr sz="2450" i="1" spc="-330" dirty="0">
                <a:latin typeface="Times New Roman"/>
                <a:cs typeface="Times New Roman"/>
              </a:rPr>
              <a:t> </a:t>
            </a:r>
            <a:r>
              <a:rPr sz="2450" spc="135" dirty="0">
                <a:latin typeface="Symbol"/>
                <a:cs typeface="Symbol"/>
              </a:rPr>
              <a:t></a:t>
            </a:r>
            <a:r>
              <a:rPr sz="2450" spc="-130" dirty="0">
                <a:latin typeface="Times New Roman"/>
                <a:cs typeface="Times New Roman"/>
              </a:rPr>
              <a:t> </a:t>
            </a:r>
            <a:r>
              <a:rPr sz="2450" i="1" spc="165" dirty="0">
                <a:latin typeface="Times New Roman"/>
                <a:cs typeface="Times New Roman"/>
              </a:rPr>
              <a:t>B</a:t>
            </a:r>
            <a:r>
              <a:rPr sz="2450" i="1" spc="55" dirty="0">
                <a:latin typeface="Times New Roman"/>
                <a:cs typeface="Times New Roman"/>
              </a:rPr>
              <a:t> </a:t>
            </a:r>
            <a:r>
              <a:rPr sz="2450" spc="145" dirty="0">
                <a:latin typeface="Symbol"/>
                <a:cs typeface="Symbol"/>
              </a:rPr>
              <a:t></a:t>
            </a:r>
            <a:r>
              <a:rPr sz="2450" spc="-30" dirty="0">
                <a:latin typeface="Times New Roman"/>
                <a:cs typeface="Times New Roman"/>
              </a:rPr>
              <a:t> </a:t>
            </a:r>
            <a:r>
              <a:rPr sz="2450" spc="95" dirty="0">
                <a:latin typeface="Times New Roman"/>
                <a:cs typeface="Times New Roman"/>
              </a:rPr>
              <a:t>(</a:t>
            </a:r>
            <a:r>
              <a:rPr sz="2450" spc="-330" dirty="0">
                <a:latin typeface="Times New Roman"/>
                <a:cs typeface="Times New Roman"/>
              </a:rPr>
              <a:t> </a:t>
            </a:r>
            <a:r>
              <a:rPr sz="2450" i="1" spc="165" dirty="0">
                <a:latin typeface="Times New Roman"/>
                <a:cs typeface="Times New Roman"/>
              </a:rPr>
              <a:t>A</a:t>
            </a:r>
            <a:r>
              <a:rPr sz="2450" i="1" spc="-290" dirty="0">
                <a:latin typeface="Times New Roman"/>
                <a:cs typeface="Times New Roman"/>
              </a:rPr>
              <a:t> </a:t>
            </a:r>
            <a:r>
              <a:rPr sz="2450" spc="204" dirty="0">
                <a:latin typeface="Symbol"/>
                <a:cs typeface="Symbol"/>
              </a:rPr>
              <a:t></a:t>
            </a:r>
            <a:r>
              <a:rPr sz="2450" spc="-75" dirty="0">
                <a:latin typeface="Times New Roman"/>
                <a:cs typeface="Times New Roman"/>
              </a:rPr>
              <a:t> </a:t>
            </a:r>
            <a:r>
              <a:rPr sz="2450" i="1" spc="165" dirty="0">
                <a:latin typeface="Times New Roman"/>
                <a:cs typeface="Times New Roman"/>
              </a:rPr>
              <a:t>B</a:t>
            </a:r>
            <a:r>
              <a:rPr sz="2450" spc="165" dirty="0">
                <a:latin typeface="Times New Roman"/>
                <a:cs typeface="Times New Roman"/>
              </a:rPr>
              <a:t>)</a:t>
            </a:r>
            <a:r>
              <a:rPr sz="2450" spc="-204" dirty="0">
                <a:latin typeface="Times New Roman"/>
                <a:cs typeface="Times New Roman"/>
              </a:rPr>
              <a:t> </a:t>
            </a:r>
            <a:r>
              <a:rPr sz="2450" spc="204" dirty="0">
                <a:latin typeface="Symbol"/>
                <a:cs typeface="Symbol"/>
              </a:rPr>
              <a:t></a:t>
            </a:r>
            <a:r>
              <a:rPr sz="2450" spc="-80" dirty="0">
                <a:latin typeface="Times New Roman"/>
                <a:cs typeface="Times New Roman"/>
              </a:rPr>
              <a:t> </a:t>
            </a:r>
            <a:r>
              <a:rPr sz="2450" i="1" spc="114" dirty="0">
                <a:latin typeface="Times New Roman"/>
                <a:cs typeface="Times New Roman"/>
              </a:rPr>
              <a:t>B</a:t>
            </a:r>
            <a:endParaRPr sz="24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1690" y="2973986"/>
            <a:ext cx="1719473" cy="34956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8567" y="2930651"/>
            <a:ext cx="6208776" cy="373075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963" y="-31622"/>
            <a:ext cx="1736089" cy="17322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065" marR="5080" algn="ctr">
              <a:lnSpc>
                <a:spcPct val="90000"/>
              </a:lnSpc>
              <a:spcBef>
                <a:spcPts val="575"/>
              </a:spcBef>
            </a:pPr>
            <a:r>
              <a:rPr sz="4000" spc="-180" dirty="0"/>
              <a:t>Opening </a:t>
            </a:r>
            <a:r>
              <a:rPr sz="4000" spc="-25" dirty="0"/>
              <a:t>Vs </a:t>
            </a:r>
            <a:r>
              <a:rPr sz="4000" spc="-10" dirty="0"/>
              <a:t>Closing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9417" y="291267"/>
            <a:ext cx="1456992" cy="484891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3844" y="79246"/>
            <a:ext cx="4648200" cy="67177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93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Opening</a:t>
            </a:r>
            <a:r>
              <a:rPr spc="-455" dirty="0"/>
              <a:t> </a:t>
            </a:r>
            <a:r>
              <a:rPr spc="955" dirty="0"/>
              <a:t>s</a:t>
            </a:r>
            <a:r>
              <a:rPr spc="-455" dirty="0"/>
              <a:t> </a:t>
            </a:r>
            <a:r>
              <a:rPr spc="-75" dirty="0"/>
              <a:t>Closing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8364" y="1243341"/>
            <a:ext cx="1543621" cy="405853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23744" y="1146047"/>
            <a:ext cx="6217920" cy="55747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90"/>
              </a:lnSpc>
              <a:spcBef>
                <a:spcPts val="100"/>
              </a:spcBef>
            </a:pPr>
            <a:r>
              <a:rPr spc="-170" dirty="0"/>
              <a:t>Applications</a:t>
            </a:r>
            <a:r>
              <a:rPr spc="-440" dirty="0"/>
              <a:t> </a:t>
            </a:r>
            <a:r>
              <a:rPr spc="-265" dirty="0"/>
              <a:t>of</a:t>
            </a:r>
            <a:r>
              <a:rPr spc="-420" dirty="0"/>
              <a:t> </a:t>
            </a:r>
            <a:r>
              <a:rPr spc="-170" dirty="0"/>
              <a:t>Morphological</a:t>
            </a:r>
            <a:r>
              <a:rPr spc="-455" dirty="0"/>
              <a:t> </a:t>
            </a:r>
            <a:r>
              <a:rPr spc="-235" dirty="0"/>
              <a:t>Image</a:t>
            </a:r>
            <a:r>
              <a:rPr spc="-420" dirty="0"/>
              <a:t> </a:t>
            </a:r>
            <a:r>
              <a:rPr spc="-75" dirty="0"/>
              <a:t>Processing</a:t>
            </a:r>
          </a:p>
          <a:p>
            <a:pPr marL="12700">
              <a:lnSpc>
                <a:spcPts val="4130"/>
              </a:lnSpc>
            </a:pPr>
            <a:r>
              <a:rPr sz="3600" i="1" spc="-165" dirty="0">
                <a:latin typeface="Trebuchet MS"/>
                <a:cs typeface="Trebuchet MS"/>
              </a:rPr>
              <a:t>Boundary</a:t>
            </a:r>
            <a:r>
              <a:rPr sz="3600" i="1" spc="-340" dirty="0">
                <a:latin typeface="Trebuchet MS"/>
                <a:cs typeface="Trebuchet MS"/>
              </a:rPr>
              <a:t> </a:t>
            </a:r>
            <a:r>
              <a:rPr sz="3600" i="1" spc="-114" dirty="0">
                <a:latin typeface="Trebuchet MS"/>
                <a:cs typeface="Trebuchet MS"/>
              </a:rPr>
              <a:t>Extraction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7910" y="989318"/>
            <a:ext cx="1515744" cy="19562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72795" y="996559"/>
            <a:ext cx="3799911" cy="253939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53400" y="3926101"/>
            <a:ext cx="1344167" cy="19956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74135" y="3919728"/>
            <a:ext cx="4664964" cy="277977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90"/>
              </a:lnSpc>
              <a:spcBef>
                <a:spcPts val="100"/>
              </a:spcBef>
            </a:pPr>
            <a:r>
              <a:rPr spc="-170" dirty="0"/>
              <a:t>Applications</a:t>
            </a:r>
            <a:r>
              <a:rPr spc="-440" dirty="0"/>
              <a:t> </a:t>
            </a:r>
            <a:r>
              <a:rPr spc="-265" dirty="0"/>
              <a:t>of</a:t>
            </a:r>
            <a:r>
              <a:rPr spc="-420" dirty="0"/>
              <a:t> </a:t>
            </a:r>
            <a:r>
              <a:rPr spc="-170" dirty="0"/>
              <a:t>Morphological</a:t>
            </a:r>
            <a:r>
              <a:rPr spc="-455" dirty="0"/>
              <a:t> </a:t>
            </a:r>
            <a:r>
              <a:rPr spc="-235" dirty="0"/>
              <a:t>Image</a:t>
            </a:r>
            <a:r>
              <a:rPr spc="-420" dirty="0"/>
              <a:t> </a:t>
            </a:r>
            <a:r>
              <a:rPr spc="-75" dirty="0"/>
              <a:t>Processing</a:t>
            </a:r>
          </a:p>
          <a:p>
            <a:pPr marL="12700">
              <a:lnSpc>
                <a:spcPts val="4130"/>
              </a:lnSpc>
            </a:pPr>
            <a:r>
              <a:rPr sz="3600" i="1" spc="-140" dirty="0">
                <a:latin typeface="Trebuchet MS"/>
                <a:cs typeface="Trebuchet MS"/>
              </a:rPr>
              <a:t>Hole</a:t>
            </a:r>
            <a:r>
              <a:rPr sz="3600" i="1" spc="-370" dirty="0">
                <a:latin typeface="Trebuchet MS"/>
                <a:cs typeface="Trebuchet MS"/>
              </a:rPr>
              <a:t> </a:t>
            </a:r>
            <a:r>
              <a:rPr sz="3600" i="1" spc="-270" dirty="0">
                <a:latin typeface="Trebuchet MS"/>
                <a:cs typeface="Trebuchet MS"/>
              </a:rPr>
              <a:t>Filling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2244" y="913183"/>
            <a:ext cx="1338782" cy="440140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32147" y="876298"/>
            <a:ext cx="3683507" cy="58734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685" y="3554984"/>
            <a:ext cx="3996067" cy="28346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90"/>
              </a:lnSpc>
              <a:spcBef>
                <a:spcPts val="100"/>
              </a:spcBef>
            </a:pPr>
            <a:r>
              <a:rPr spc="-170" dirty="0"/>
              <a:t>Applications</a:t>
            </a:r>
            <a:r>
              <a:rPr spc="-440" dirty="0"/>
              <a:t> </a:t>
            </a:r>
            <a:r>
              <a:rPr spc="-265" dirty="0"/>
              <a:t>of</a:t>
            </a:r>
            <a:r>
              <a:rPr spc="-420" dirty="0"/>
              <a:t> </a:t>
            </a:r>
            <a:r>
              <a:rPr spc="-170" dirty="0"/>
              <a:t>Morphological</a:t>
            </a:r>
            <a:r>
              <a:rPr spc="-455" dirty="0"/>
              <a:t> </a:t>
            </a:r>
            <a:r>
              <a:rPr spc="-235" dirty="0"/>
              <a:t>Image</a:t>
            </a:r>
            <a:r>
              <a:rPr spc="-420" dirty="0"/>
              <a:t> </a:t>
            </a:r>
            <a:r>
              <a:rPr spc="-75" dirty="0"/>
              <a:t>Processing</a:t>
            </a:r>
          </a:p>
          <a:p>
            <a:pPr marL="12700">
              <a:lnSpc>
                <a:spcPts val="4130"/>
              </a:lnSpc>
            </a:pPr>
            <a:r>
              <a:rPr sz="3600" i="1" spc="-140" dirty="0">
                <a:latin typeface="Trebuchet MS"/>
                <a:cs typeface="Trebuchet MS"/>
              </a:rPr>
              <a:t>Hole</a:t>
            </a:r>
            <a:r>
              <a:rPr sz="3600" i="1" spc="-370" dirty="0">
                <a:latin typeface="Trebuchet MS"/>
                <a:cs typeface="Trebuchet MS"/>
              </a:rPr>
              <a:t> </a:t>
            </a:r>
            <a:r>
              <a:rPr sz="3600" i="1" spc="-270" dirty="0">
                <a:latin typeface="Trebuchet MS"/>
                <a:cs typeface="Trebuchet MS"/>
              </a:rPr>
              <a:t>Filling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8026" y="2468943"/>
            <a:ext cx="1604338" cy="28253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7107" y="2438400"/>
            <a:ext cx="6568645" cy="323717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90"/>
              </a:lnSpc>
              <a:spcBef>
                <a:spcPts val="100"/>
              </a:spcBef>
            </a:pPr>
            <a:r>
              <a:rPr spc="-170" dirty="0"/>
              <a:t>Applications</a:t>
            </a:r>
            <a:r>
              <a:rPr spc="-440" dirty="0"/>
              <a:t> </a:t>
            </a:r>
            <a:r>
              <a:rPr spc="-265" dirty="0"/>
              <a:t>of</a:t>
            </a:r>
            <a:r>
              <a:rPr spc="-420" dirty="0"/>
              <a:t> </a:t>
            </a:r>
            <a:r>
              <a:rPr spc="-170" dirty="0"/>
              <a:t>Morphological</a:t>
            </a:r>
            <a:r>
              <a:rPr spc="-455" dirty="0"/>
              <a:t> </a:t>
            </a:r>
            <a:r>
              <a:rPr spc="-235" dirty="0"/>
              <a:t>Image</a:t>
            </a:r>
            <a:r>
              <a:rPr spc="-420" dirty="0"/>
              <a:t> </a:t>
            </a:r>
            <a:r>
              <a:rPr spc="-75" dirty="0"/>
              <a:t>Processing</a:t>
            </a:r>
          </a:p>
          <a:p>
            <a:pPr marL="12700">
              <a:lnSpc>
                <a:spcPts val="4130"/>
              </a:lnSpc>
            </a:pPr>
            <a:r>
              <a:rPr sz="3600" i="1" spc="-120" dirty="0">
                <a:latin typeface="Trebuchet MS"/>
                <a:cs typeface="Trebuchet MS"/>
              </a:rPr>
              <a:t>Connected</a:t>
            </a:r>
            <a:r>
              <a:rPr sz="3600" i="1" spc="-305" dirty="0">
                <a:latin typeface="Trebuchet MS"/>
                <a:cs typeface="Trebuchet MS"/>
              </a:rPr>
              <a:t> </a:t>
            </a:r>
            <a:r>
              <a:rPr sz="3600" i="1" spc="-150" dirty="0">
                <a:latin typeface="Trebuchet MS"/>
                <a:cs typeface="Trebuchet MS"/>
              </a:rPr>
              <a:t>Component</a:t>
            </a:r>
            <a:r>
              <a:rPr sz="3600" i="1" spc="-295" dirty="0">
                <a:latin typeface="Trebuchet MS"/>
                <a:cs typeface="Trebuchet MS"/>
              </a:rPr>
              <a:t> </a:t>
            </a:r>
            <a:r>
              <a:rPr sz="3600" i="1" spc="-45" dirty="0">
                <a:latin typeface="Trebuchet MS"/>
                <a:cs typeface="Trebuchet MS"/>
              </a:rPr>
              <a:t>Detection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483" y="1533026"/>
            <a:ext cx="3510855" cy="2532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04919" y="1880498"/>
            <a:ext cx="1406591" cy="36210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58439" y="1842514"/>
            <a:ext cx="5722620" cy="493013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90"/>
              </a:lnSpc>
              <a:spcBef>
                <a:spcPts val="100"/>
              </a:spcBef>
            </a:pPr>
            <a:r>
              <a:rPr spc="-170" dirty="0"/>
              <a:t>Applications</a:t>
            </a:r>
            <a:r>
              <a:rPr spc="-440" dirty="0"/>
              <a:t> </a:t>
            </a:r>
            <a:r>
              <a:rPr spc="-265" dirty="0"/>
              <a:t>of</a:t>
            </a:r>
            <a:r>
              <a:rPr spc="-420" dirty="0"/>
              <a:t> </a:t>
            </a:r>
            <a:r>
              <a:rPr spc="-170" dirty="0"/>
              <a:t>Morphological</a:t>
            </a:r>
            <a:r>
              <a:rPr spc="-455" dirty="0"/>
              <a:t> </a:t>
            </a:r>
            <a:r>
              <a:rPr spc="-235" dirty="0"/>
              <a:t>Image</a:t>
            </a:r>
            <a:r>
              <a:rPr spc="-420" dirty="0"/>
              <a:t> </a:t>
            </a:r>
            <a:r>
              <a:rPr spc="-75" dirty="0"/>
              <a:t>Processing</a:t>
            </a:r>
          </a:p>
          <a:p>
            <a:pPr marL="12700">
              <a:lnSpc>
                <a:spcPts val="4130"/>
              </a:lnSpc>
            </a:pPr>
            <a:r>
              <a:rPr sz="3600" i="1" spc="-120" dirty="0">
                <a:latin typeface="Trebuchet MS"/>
                <a:cs typeface="Trebuchet MS"/>
              </a:rPr>
              <a:t>Connected</a:t>
            </a:r>
            <a:r>
              <a:rPr sz="3600" i="1" spc="-305" dirty="0">
                <a:latin typeface="Trebuchet MS"/>
                <a:cs typeface="Trebuchet MS"/>
              </a:rPr>
              <a:t> </a:t>
            </a:r>
            <a:r>
              <a:rPr sz="3600" i="1" spc="-150" dirty="0">
                <a:latin typeface="Trebuchet MS"/>
                <a:cs typeface="Trebuchet MS"/>
              </a:rPr>
              <a:t>Component</a:t>
            </a:r>
            <a:r>
              <a:rPr sz="3600" i="1" spc="-295" dirty="0">
                <a:latin typeface="Trebuchet MS"/>
                <a:cs typeface="Trebuchet MS"/>
              </a:rPr>
              <a:t> </a:t>
            </a:r>
            <a:r>
              <a:rPr sz="3600" i="1" spc="-45" dirty="0">
                <a:latin typeface="Trebuchet MS"/>
                <a:cs typeface="Trebuchet MS"/>
              </a:rPr>
              <a:t>Detection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8168" y="1894720"/>
            <a:ext cx="1337472" cy="46199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9567" y="1993392"/>
            <a:ext cx="5195315" cy="46954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90"/>
              </a:lnSpc>
              <a:spcBef>
                <a:spcPts val="100"/>
              </a:spcBef>
            </a:pPr>
            <a:r>
              <a:rPr spc="-170" dirty="0"/>
              <a:t>Applications</a:t>
            </a:r>
            <a:r>
              <a:rPr spc="-440" dirty="0"/>
              <a:t> </a:t>
            </a:r>
            <a:r>
              <a:rPr spc="-265" dirty="0"/>
              <a:t>of</a:t>
            </a:r>
            <a:r>
              <a:rPr spc="-420" dirty="0"/>
              <a:t> </a:t>
            </a:r>
            <a:r>
              <a:rPr spc="-170" dirty="0"/>
              <a:t>Morphological</a:t>
            </a:r>
            <a:r>
              <a:rPr spc="-455" dirty="0"/>
              <a:t> </a:t>
            </a:r>
            <a:r>
              <a:rPr spc="-235" dirty="0"/>
              <a:t>Image</a:t>
            </a:r>
            <a:r>
              <a:rPr spc="-420" dirty="0"/>
              <a:t> </a:t>
            </a:r>
            <a:r>
              <a:rPr spc="-75" dirty="0"/>
              <a:t>Processing</a:t>
            </a:r>
          </a:p>
          <a:p>
            <a:pPr marL="12700">
              <a:lnSpc>
                <a:spcPts val="4130"/>
              </a:lnSpc>
            </a:pPr>
            <a:r>
              <a:rPr sz="3600" i="1" spc="-140" dirty="0">
                <a:latin typeface="Trebuchet MS"/>
                <a:cs typeface="Trebuchet MS"/>
              </a:rPr>
              <a:t>Hole</a:t>
            </a:r>
            <a:r>
              <a:rPr sz="3600" i="1" spc="-370" dirty="0">
                <a:latin typeface="Trebuchet MS"/>
                <a:cs typeface="Trebuchet MS"/>
              </a:rPr>
              <a:t> </a:t>
            </a:r>
            <a:r>
              <a:rPr sz="3600" i="1" spc="-270" dirty="0">
                <a:latin typeface="Trebuchet MS"/>
                <a:cs typeface="Trebuchet MS"/>
              </a:rPr>
              <a:t>Filling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3778" y="2058940"/>
            <a:ext cx="1441559" cy="25389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3367" y="2051304"/>
            <a:ext cx="6002750" cy="295779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Words>1028</Words>
  <Application>Microsoft Office PowerPoint</Application>
  <PresentationFormat>Widescreen</PresentationFormat>
  <Paragraphs>128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Cambria Math</vt:lpstr>
      <vt:lpstr>Lucida Sans Unicode</vt:lpstr>
      <vt:lpstr>Symbol</vt:lpstr>
      <vt:lpstr>Times New Roman</vt:lpstr>
      <vt:lpstr>Trebuchet MS</vt:lpstr>
      <vt:lpstr>Office Theme</vt:lpstr>
      <vt:lpstr>PowerPoint Presentation</vt:lpstr>
      <vt:lpstr>Preliminaries: Morphology</vt:lpstr>
      <vt:lpstr>Preliminaries: Set Theory Fundamentals</vt:lpstr>
      <vt:lpstr>Preliminaries: Set Theory Fundamentals</vt:lpstr>
      <vt:lpstr>Preliminaries: Set Theory Fundamentals</vt:lpstr>
      <vt:lpstr>Reflection and Translation of a Set</vt:lpstr>
      <vt:lpstr>Preliminaries</vt:lpstr>
      <vt:lpstr>Preliminaries</vt:lpstr>
      <vt:lpstr>Preliminaries</vt:lpstr>
      <vt:lpstr>Erosion</vt:lpstr>
      <vt:lpstr>Erosion</vt:lpstr>
      <vt:lpstr>PowerPoint Presentation</vt:lpstr>
      <vt:lpstr>Dilation</vt:lpstr>
      <vt:lpstr>Dilation</vt:lpstr>
      <vt:lpstr>Opening</vt:lpstr>
      <vt:lpstr>Closing</vt:lpstr>
      <vt:lpstr>Opening Vs Closing</vt:lpstr>
      <vt:lpstr>Opening s Closing</vt:lpstr>
      <vt:lpstr>Applications of Morphological Image Processing Boundary Extraction</vt:lpstr>
      <vt:lpstr>Applications of Morphological Image Processing Hole Filling</vt:lpstr>
      <vt:lpstr>Applications of Morphological Image Processing Hole Filling</vt:lpstr>
      <vt:lpstr>Applications of Morphological Image Processing Connected Component Detection</vt:lpstr>
      <vt:lpstr>Applications of Morphological Image Processing Connected Component Detection</vt:lpstr>
      <vt:lpstr>Applications of Morphological Image Processing Hole Filling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CPE415 Digital Image Processing</dc:title>
  <dc:creator>Dr. Ikram Ullah Khosa</dc:creator>
  <cp:lastModifiedBy>Riaz Ahmad</cp:lastModifiedBy>
  <cp:revision>2</cp:revision>
  <dcterms:created xsi:type="dcterms:W3CDTF">2026-05-01T17:58:19Z</dcterms:created>
  <dcterms:modified xsi:type="dcterms:W3CDTF">2026-05-05T07:22:05Z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2024-04-29T00:00:00Z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2026-05-01T00:00:00Z</vt:filetime>
  </property>
  <property fmtid="{D5CDD505-2E9C-101B-9397-08002B2CF9AE}" pid="5" name="Producer">
    <vt:lpwstr>Microsoft® PowerPoint® for Microsoft 365</vt:lpwstr>
  </property>
</Properties>
</file>