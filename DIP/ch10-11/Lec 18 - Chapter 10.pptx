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31791" y="1687957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28574"/>
            <a:ext cx="12034520" cy="1297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pn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png"/><Relationship Id="rId12" Type="http://schemas.openxmlformats.org/officeDocument/2006/relationships/image" Target="../media/image32.jpg"/><Relationship Id="rId13" Type="http://schemas.openxmlformats.org/officeDocument/2006/relationships/image" Target="../media/image3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7539" y="956005"/>
            <a:ext cx="4836160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5400" spc="-280">
                <a:latin typeface="Trebuchet MS"/>
                <a:cs typeface="Trebuchet MS"/>
              </a:rPr>
              <a:t>Lecture</a:t>
            </a:r>
            <a:r>
              <a:rPr dirty="0" sz="5400" spc="-595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65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18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65" b="1">
                <a:latin typeface="Trebuchet MS"/>
                <a:cs typeface="Trebuchet MS"/>
              </a:rPr>
              <a:t> </a:t>
            </a:r>
            <a:r>
              <a:rPr dirty="0" sz="5400" spc="-285" b="1">
                <a:latin typeface="Trebuchet MS"/>
                <a:cs typeface="Trebuchet MS"/>
              </a:rPr>
              <a:t>10</a:t>
            </a:r>
            <a:endParaRPr sz="5400">
              <a:latin typeface="Trebuchet MS"/>
              <a:cs typeface="Trebuchet MS"/>
            </a:endParaRPr>
          </a:p>
          <a:p>
            <a:pPr algn="ctr" marL="12065" marR="5080" indent="1905">
              <a:lnSpc>
                <a:spcPts val="5840"/>
              </a:lnSpc>
              <a:spcBef>
                <a:spcPts val="5915"/>
              </a:spcBef>
            </a:pPr>
            <a:r>
              <a:rPr dirty="0" sz="5400" spc="-10" b="1">
                <a:latin typeface="Trebuchet MS"/>
                <a:cs typeface="Trebuchet MS"/>
              </a:rPr>
              <a:t>IMAGE </a:t>
            </a:r>
            <a:r>
              <a:rPr dirty="0" sz="5400" spc="-110" b="1">
                <a:latin typeface="Trebuchet MS"/>
                <a:cs typeface="Trebuchet MS"/>
              </a:rPr>
              <a:t>SEGMENTATION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8661"/>
            <a:ext cx="38989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Hough</a:t>
            </a:r>
            <a:r>
              <a:rPr dirty="0" spc="-215"/>
              <a:t> </a:t>
            </a:r>
            <a:r>
              <a:rPr dirty="0" spc="-70"/>
              <a:t>Transform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039" y="582768"/>
            <a:ext cx="8950960" cy="2275840"/>
          </a:xfrm>
          <a:prstGeom prst="rect">
            <a:avLst/>
          </a:prstGeom>
        </p:spPr>
        <p:txBody>
          <a:bodyPr wrap="square" lIns="0" tIns="18796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480"/>
              </a:spcBef>
            </a:pPr>
            <a:r>
              <a:rPr dirty="0" sz="2400">
                <a:latin typeface="Calibri"/>
                <a:cs typeface="Calibri"/>
              </a:rPr>
              <a:t>Global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Edge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Linking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  <a:p>
            <a:pPr marL="2840990" marR="1937385">
              <a:lnSpc>
                <a:spcPct val="123000"/>
              </a:lnSpc>
              <a:spcBef>
                <a:spcPts val="955"/>
              </a:spcBef>
            </a:pP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-15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40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11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-3527" sz="4725" spc="-1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&amp;</a:t>
            </a:r>
            <a:r>
              <a:rPr dirty="0" sz="2400" spc="-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400" spc="-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ax</a:t>
            </a:r>
            <a:r>
              <a:rPr dirty="0" sz="2400" spc="-18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400" spc="-2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sz="2400" spc="-1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</a:t>
            </a:r>
            <a:r>
              <a:rPr dirty="0" sz="2400" spc="1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71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400" spc="-8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ax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50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400" spc="-2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50" i="1">
                <a:solidFill>
                  <a:srgbClr val="0000FF"/>
                </a:solidFill>
                <a:latin typeface="Times New Roman"/>
                <a:cs typeface="Times New Roman"/>
              </a:rPr>
              <a:t>b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sz="2400" spc="-5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4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2400" spc="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20576" sz="2025" spc="7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sz="2400" spc="50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2400" spc="-11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400" spc="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25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spc="-37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baseline="-20576" sz="2025">
              <a:latin typeface="Times New Roman"/>
              <a:cs typeface="Times New Roman"/>
            </a:endParaRPr>
          </a:p>
          <a:p>
            <a:pPr marL="2851785">
              <a:lnSpc>
                <a:spcPct val="100000"/>
              </a:lnSpc>
              <a:spcBef>
                <a:spcPts val="320"/>
              </a:spcBef>
            </a:pP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All</a:t>
            </a:r>
            <a:r>
              <a:rPr dirty="0" sz="2400" spc="19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-15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400" spc="-11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's</a:t>
            </a:r>
            <a:r>
              <a:rPr dirty="0" sz="24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dirty="0" sz="2400" spc="-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2400" spc="-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line</a:t>
            </a:r>
            <a:r>
              <a:rPr dirty="0" sz="2400" spc="-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intersect</a:t>
            </a:r>
            <a:r>
              <a:rPr dirty="0" sz="240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each</a:t>
            </a:r>
            <a:r>
              <a:rPr dirty="0" sz="2400" spc="-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other</a:t>
            </a:r>
            <a:r>
              <a:rPr dirty="0" sz="24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at</a:t>
            </a:r>
            <a:r>
              <a:rPr dirty="0" sz="2400" spc="2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spc="-10">
                <a:solidFill>
                  <a:srgbClr val="0000FF"/>
                </a:solidFill>
                <a:latin typeface="Times New Roman"/>
                <a:cs typeface="Times New Roman"/>
              </a:rPr>
              <a:t>a,b</a:t>
            </a: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605124" y="3321396"/>
            <a:ext cx="6898005" cy="2473960"/>
            <a:chOff x="2605124" y="3321396"/>
            <a:chExt cx="6898005" cy="24739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0890" y="3456077"/>
              <a:ext cx="1312164" cy="104869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5124" y="3321396"/>
              <a:ext cx="5548275" cy="247347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571" rIns="0" bIns="0" rtlCol="0" vert="horz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dirty="0"/>
              <a:t>Hough</a:t>
            </a:r>
            <a:r>
              <a:rPr dirty="0" spc="-215"/>
              <a:t> </a:t>
            </a:r>
            <a:r>
              <a:rPr dirty="0" spc="-70"/>
              <a:t>Transform</a:t>
            </a:r>
          </a:p>
          <a:p>
            <a:pPr marL="12700">
              <a:lnSpc>
                <a:spcPts val="2795"/>
              </a:lnSpc>
            </a:pPr>
            <a:r>
              <a:rPr dirty="0" sz="2400"/>
              <a:t>Global</a:t>
            </a:r>
            <a:r>
              <a:rPr dirty="0" sz="2400" spc="-100"/>
              <a:t> </a:t>
            </a:r>
            <a:r>
              <a:rPr dirty="0" sz="2400" spc="-10"/>
              <a:t>Edge</a:t>
            </a:r>
            <a:r>
              <a:rPr dirty="0" sz="2400" spc="-100"/>
              <a:t> </a:t>
            </a:r>
            <a:r>
              <a:rPr dirty="0" sz="2400" spc="-10"/>
              <a:t>Linking</a:t>
            </a:r>
            <a:r>
              <a:rPr dirty="0" sz="2400" spc="-100"/>
              <a:t> </a:t>
            </a:r>
            <a:r>
              <a:rPr dirty="0" sz="2400" spc="-10"/>
              <a:t>Method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535635" y="1505383"/>
            <a:ext cx="4805045" cy="98361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800"/>
              </a:spcBef>
              <a:buFont typeface="Trebuchet MS"/>
              <a:buChar char="•"/>
              <a:tabLst>
                <a:tab pos="354330" algn="l"/>
              </a:tabLst>
            </a:pPr>
            <a:r>
              <a:rPr dirty="0" sz="2800">
                <a:latin typeface="Times New Roman"/>
                <a:cs typeface="Times New Roman"/>
              </a:rPr>
              <a:t>Hough</a:t>
            </a:r>
            <a:r>
              <a:rPr dirty="0" sz="2800" spc="-1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Transform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Cartesian: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  <a:tabLst>
                <a:tab pos="777240" algn="l"/>
              </a:tabLst>
            </a:pPr>
            <a:r>
              <a:rPr dirty="0" sz="2400" spc="-50">
                <a:latin typeface="Times New Roman"/>
                <a:cs typeface="Times New Roman"/>
              </a:rPr>
              <a:t>–</a:t>
            </a:r>
            <a:r>
              <a:rPr dirty="0" sz="2400">
                <a:latin typeface="Times New Roman"/>
                <a:cs typeface="Times New Roman"/>
              </a:rPr>
              <a:t>	Scan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parameter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space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595" y="3151632"/>
            <a:ext cx="3078479" cy="295351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599944" y="3363467"/>
            <a:ext cx="2264410" cy="2337435"/>
          </a:xfrm>
          <a:custGeom>
            <a:avLst/>
            <a:gdLst/>
            <a:ahLst/>
            <a:cxnLst/>
            <a:rect l="l" t="t" r="r" b="b"/>
            <a:pathLst>
              <a:path w="2264410" h="2337435">
                <a:moveTo>
                  <a:pt x="507745" y="2003806"/>
                </a:moveTo>
                <a:lnTo>
                  <a:pt x="2264283" y="217551"/>
                </a:lnTo>
              </a:path>
              <a:path w="2264410" h="2337435">
                <a:moveTo>
                  <a:pt x="0" y="565277"/>
                </a:moveTo>
                <a:lnTo>
                  <a:pt x="2061209" y="2207006"/>
                </a:lnTo>
              </a:path>
              <a:path w="2264410" h="2337435">
                <a:moveTo>
                  <a:pt x="1001141" y="2337206"/>
                </a:moveTo>
                <a:lnTo>
                  <a:pt x="1175766" y="0"/>
                </a:lnTo>
              </a:path>
              <a:path w="2264410" h="2337435">
                <a:moveTo>
                  <a:pt x="320548" y="1479804"/>
                </a:moveTo>
                <a:lnTo>
                  <a:pt x="2132584" y="134962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789678" y="3039236"/>
            <a:ext cx="995044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spc="-1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r>
              <a:rPr dirty="0" baseline="-19841" sz="2100" spc="-15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r>
              <a:rPr dirty="0" sz="2400" spc="-10">
                <a:solidFill>
                  <a:srgbClr val="0000FF"/>
                </a:solidFill>
                <a:latin typeface="Arial MT"/>
                <a:cs typeface="Arial MT"/>
              </a:rPr>
              <a:t>,</a:t>
            </a:r>
            <a:r>
              <a:rPr dirty="0" sz="2400" spc="-39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00FF"/>
                </a:solidFill>
                <a:latin typeface="Arial MT"/>
                <a:cs typeface="Arial MT"/>
              </a:rPr>
              <a:t>y</a:t>
            </a:r>
            <a:r>
              <a:rPr dirty="0" baseline="-19841" sz="210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r>
              <a:rPr dirty="0" baseline="-19841" sz="2100" spc="-187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baseline="-3527" sz="4725" spc="-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36569" y="4419091"/>
            <a:ext cx="2232025" cy="17106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94435">
              <a:lnSpc>
                <a:spcPct val="100000"/>
              </a:lnSpc>
              <a:spcBef>
                <a:spcPts val="105"/>
              </a:spcBef>
            </a:pPr>
            <a:r>
              <a:rPr dirty="0" baseline="-3527" sz="4725" spc="82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spc="55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r>
              <a:rPr dirty="0" baseline="-19841" sz="2100" spc="82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r>
              <a:rPr dirty="0" sz="2400" spc="55">
                <a:solidFill>
                  <a:srgbClr val="0000FF"/>
                </a:solidFill>
                <a:latin typeface="Arial MT"/>
                <a:cs typeface="Arial MT"/>
              </a:rPr>
              <a:t>,</a:t>
            </a:r>
            <a:r>
              <a:rPr dirty="0" sz="2400" spc="-40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2400" spc="50">
                <a:solidFill>
                  <a:srgbClr val="0000FF"/>
                </a:solidFill>
                <a:latin typeface="Arial MT"/>
                <a:cs typeface="Arial MT"/>
              </a:rPr>
              <a:t>y</a:t>
            </a:r>
            <a:r>
              <a:rPr dirty="0" baseline="-19841" sz="2100" spc="75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r>
              <a:rPr dirty="0" baseline="-19841" sz="2100" spc="209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baseline="-3527" sz="4725" spc="-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  <a:p>
            <a:pPr marL="1122680">
              <a:lnSpc>
                <a:spcPts val="3540"/>
              </a:lnSpc>
              <a:spcBef>
                <a:spcPts val="2400"/>
              </a:spcBef>
            </a:pPr>
            <a:r>
              <a:rPr dirty="0" baseline="-3527" sz="4725" spc="7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spc="50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r>
              <a:rPr dirty="0" baseline="-19841" sz="2100" spc="75">
                <a:solidFill>
                  <a:srgbClr val="0000FF"/>
                </a:solidFill>
                <a:latin typeface="Arial MT"/>
                <a:cs typeface="Arial MT"/>
              </a:rPr>
              <a:t>3</a:t>
            </a:r>
            <a:r>
              <a:rPr dirty="0" sz="2400" spc="50">
                <a:solidFill>
                  <a:srgbClr val="0000FF"/>
                </a:solidFill>
                <a:latin typeface="Arial MT"/>
                <a:cs typeface="Arial MT"/>
              </a:rPr>
              <a:t>,</a:t>
            </a:r>
            <a:r>
              <a:rPr dirty="0" sz="2400" spc="-37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2400" spc="45">
                <a:solidFill>
                  <a:srgbClr val="0000FF"/>
                </a:solidFill>
                <a:latin typeface="Arial MT"/>
                <a:cs typeface="Arial MT"/>
              </a:rPr>
              <a:t>y</a:t>
            </a:r>
            <a:r>
              <a:rPr dirty="0" baseline="-19841" sz="2100" spc="67">
                <a:solidFill>
                  <a:srgbClr val="0000FF"/>
                </a:solidFill>
                <a:latin typeface="Arial MT"/>
                <a:cs typeface="Arial MT"/>
              </a:rPr>
              <a:t>3</a:t>
            </a:r>
            <a:r>
              <a:rPr dirty="0" baseline="-19841" sz="2100" spc="1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baseline="-3527" sz="4725" spc="-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  <a:p>
            <a:pPr marL="38100">
              <a:lnSpc>
                <a:spcPts val="3540"/>
              </a:lnSpc>
            </a:pPr>
            <a:r>
              <a:rPr dirty="0" baseline="-3527" sz="4725" spc="82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spc="55">
                <a:solidFill>
                  <a:srgbClr val="0000FF"/>
                </a:solidFill>
                <a:latin typeface="Arial MT"/>
                <a:cs typeface="Arial MT"/>
              </a:rPr>
              <a:t>x</a:t>
            </a:r>
            <a:r>
              <a:rPr dirty="0" baseline="-19841" sz="2100" spc="82">
                <a:solidFill>
                  <a:srgbClr val="0000FF"/>
                </a:solidFill>
                <a:latin typeface="Arial MT"/>
                <a:cs typeface="Arial MT"/>
              </a:rPr>
              <a:t>4</a:t>
            </a:r>
            <a:r>
              <a:rPr dirty="0" sz="2400" spc="55">
                <a:solidFill>
                  <a:srgbClr val="0000FF"/>
                </a:solidFill>
                <a:latin typeface="Arial MT"/>
                <a:cs typeface="Arial MT"/>
              </a:rPr>
              <a:t>,</a:t>
            </a:r>
            <a:r>
              <a:rPr dirty="0" sz="2400" spc="-38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2400" spc="50">
                <a:solidFill>
                  <a:srgbClr val="0000FF"/>
                </a:solidFill>
                <a:latin typeface="Arial MT"/>
                <a:cs typeface="Arial MT"/>
              </a:rPr>
              <a:t>y</a:t>
            </a:r>
            <a:r>
              <a:rPr dirty="0" baseline="-19841" sz="2100" spc="75">
                <a:solidFill>
                  <a:srgbClr val="0000FF"/>
                </a:solidFill>
                <a:latin typeface="Arial MT"/>
                <a:cs typeface="Arial MT"/>
              </a:rPr>
              <a:t>4</a:t>
            </a:r>
            <a:r>
              <a:rPr dirty="0" baseline="-19841" sz="2100" spc="209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baseline="-3527" sz="4725" spc="-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39314" y="3024885"/>
            <a:ext cx="71056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spc="-10">
                <a:solidFill>
                  <a:srgbClr val="0000FF"/>
                </a:solidFill>
                <a:latin typeface="Arial MT"/>
                <a:cs typeface="Arial MT"/>
              </a:rPr>
              <a:t>a,b</a:t>
            </a: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093720" y="3573779"/>
            <a:ext cx="496570" cy="1022985"/>
            <a:chOff x="3093720" y="3573779"/>
            <a:chExt cx="496570" cy="102298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4057" y="4489703"/>
              <a:ext cx="86105" cy="10655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093720" y="3573779"/>
              <a:ext cx="467995" cy="943610"/>
            </a:xfrm>
            <a:custGeom>
              <a:avLst/>
              <a:gdLst/>
              <a:ahLst/>
              <a:cxnLst/>
              <a:rect l="l" t="t" r="r" b="b"/>
              <a:pathLst>
                <a:path w="467995" h="943610">
                  <a:moveTo>
                    <a:pt x="28702" y="0"/>
                  </a:moveTo>
                  <a:lnTo>
                    <a:pt x="0" y="13589"/>
                  </a:lnTo>
                  <a:lnTo>
                    <a:pt x="438912" y="943102"/>
                  </a:lnTo>
                  <a:lnTo>
                    <a:pt x="467614" y="929513"/>
                  </a:lnTo>
                  <a:lnTo>
                    <a:pt x="28702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8661"/>
            <a:ext cx="38989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Hough</a:t>
            </a:r>
            <a:r>
              <a:rPr dirty="0" spc="-215"/>
              <a:t> </a:t>
            </a:r>
            <a:r>
              <a:rPr dirty="0" spc="-70"/>
              <a:t>Transform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039" y="587838"/>
            <a:ext cx="5395595" cy="1755139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Calibri"/>
                <a:cs typeface="Calibri"/>
              </a:rPr>
              <a:t>Global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Edge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Linking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  <a:p>
            <a:pPr algn="r" marL="341630" marR="55244" indent="-341630">
              <a:lnSpc>
                <a:spcPct val="100000"/>
              </a:lnSpc>
              <a:spcBef>
                <a:spcPts val="1565"/>
              </a:spcBef>
              <a:buFont typeface="Trebuchet MS"/>
              <a:buChar char="•"/>
              <a:tabLst>
                <a:tab pos="341630" algn="l"/>
              </a:tabLst>
            </a:pPr>
            <a:r>
              <a:rPr dirty="0" sz="2800">
                <a:latin typeface="Times New Roman"/>
                <a:cs typeface="Times New Roman"/>
              </a:rPr>
              <a:t>Hough</a:t>
            </a:r>
            <a:r>
              <a:rPr dirty="0" sz="2800" spc="-1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Transform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Polar:</a:t>
            </a:r>
            <a:endParaRPr sz="2800">
              <a:latin typeface="Times New Roman"/>
              <a:cs typeface="Times New Roman"/>
            </a:endParaRPr>
          </a:p>
          <a:p>
            <a:pPr algn="r" marR="17780">
              <a:lnSpc>
                <a:spcPct val="100000"/>
              </a:lnSpc>
              <a:spcBef>
                <a:spcPts val="690"/>
              </a:spcBef>
            </a:pP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-15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400" spc="-1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-3527" sz="4725" spc="-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&amp;</a:t>
            </a:r>
            <a:r>
              <a:rPr dirty="0" sz="2400" spc="-1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0000FF"/>
                </a:solidFill>
                <a:latin typeface="Symbol"/>
                <a:cs typeface="Symbol"/>
              </a:rPr>
              <a:t></a:t>
            </a:r>
            <a:r>
              <a:rPr dirty="0" sz="2500" spc="-1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500" spc="-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400" spc="-2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cos</a:t>
            </a:r>
            <a:r>
              <a:rPr dirty="0" sz="260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2600" spc="-8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4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400" spc="-2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600" spc="-2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35116" y="1903223"/>
            <a:ext cx="295783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08634" algn="l"/>
              </a:tabLst>
            </a:pPr>
            <a:r>
              <a:rPr dirty="0" sz="2400" spc="-50">
                <a:solidFill>
                  <a:srgbClr val="0000FF"/>
                </a:solidFill>
                <a:latin typeface="Symbol"/>
                <a:cs typeface="Symbol"/>
              </a:rPr>
              <a:t>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0000FF"/>
                </a:solidFill>
                <a:latin typeface="Symbol"/>
                <a:cs typeface="Symbol"/>
              </a:rPr>
              <a:t></a:t>
            </a:r>
            <a:r>
              <a:rPr dirty="0" sz="2600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600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20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cos</a:t>
            </a:r>
            <a:r>
              <a:rPr dirty="0" sz="260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2600" spc="-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24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15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600" spc="-2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50973" y="2354707"/>
            <a:ext cx="629475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762885" algn="l"/>
              </a:tabLst>
            </a:pP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All</a:t>
            </a:r>
            <a:r>
              <a:rPr dirty="0" sz="2400" spc="2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-17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400" spc="-10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20576" sz="2025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20576" sz="2025" spc="11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's</a:t>
            </a:r>
            <a:r>
              <a:rPr dirty="0" sz="24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dirty="0" sz="24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2400" spc="2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00FF"/>
                </a:solidFill>
                <a:latin typeface="Times New Roman"/>
                <a:cs typeface="Times New Roman"/>
              </a:rPr>
              <a:t>sin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	intersect</a:t>
            </a:r>
            <a:r>
              <a:rPr dirty="0" sz="2400" spc="-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each</a:t>
            </a:r>
            <a:r>
              <a:rPr dirty="0" sz="2400" spc="-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other</a:t>
            </a:r>
            <a:r>
              <a:rPr dirty="0" sz="24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00FF"/>
                </a:solidFill>
                <a:latin typeface="Times New Roman"/>
                <a:cs typeface="Times New Roman"/>
              </a:rPr>
              <a:t>at</a:t>
            </a:r>
            <a:r>
              <a:rPr dirty="0" sz="2400" spc="3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600" spc="-10">
                <a:solidFill>
                  <a:srgbClr val="0000FF"/>
                </a:solidFill>
                <a:latin typeface="Symbol"/>
                <a:cs typeface="Symbol"/>
              </a:rPr>
              <a:t></a:t>
            </a:r>
            <a:r>
              <a:rPr dirty="0" sz="2400" spc="-1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600" spc="-1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baseline="-3527" sz="4725" spc="-1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3527" sz="4725">
              <a:latin typeface="Symbol"/>
              <a:cs typeface="Symbo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9383" y="5804915"/>
            <a:ext cx="8590788" cy="105308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3828" y="3110483"/>
            <a:ext cx="7895752" cy="263033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13842"/>
            <a:ext cx="3533140" cy="1499235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/>
              <a:t>Hough</a:t>
            </a:r>
            <a:r>
              <a:rPr dirty="0" sz="4000" spc="-220"/>
              <a:t> </a:t>
            </a:r>
            <a:r>
              <a:rPr dirty="0" sz="4000" spc="-80"/>
              <a:t>Transform </a:t>
            </a:r>
            <a:r>
              <a:rPr dirty="0" sz="4000" spc="-10"/>
              <a:t>(example)</a:t>
            </a:r>
            <a:endParaRPr sz="4000"/>
          </a:p>
          <a:p>
            <a:pPr marL="12700">
              <a:lnSpc>
                <a:spcPts val="2420"/>
              </a:lnSpc>
            </a:pPr>
            <a:r>
              <a:rPr dirty="0" sz="2200"/>
              <a:t>Global</a:t>
            </a:r>
            <a:r>
              <a:rPr dirty="0" sz="2200" spc="-105"/>
              <a:t> </a:t>
            </a:r>
            <a:r>
              <a:rPr dirty="0" sz="2200" spc="-10"/>
              <a:t>Edge</a:t>
            </a:r>
            <a:r>
              <a:rPr dirty="0" sz="2200" spc="-75"/>
              <a:t> </a:t>
            </a:r>
            <a:r>
              <a:rPr dirty="0" sz="2200" spc="-10"/>
              <a:t>Linking</a:t>
            </a:r>
            <a:r>
              <a:rPr dirty="0" sz="2200" spc="-95"/>
              <a:t> </a:t>
            </a:r>
            <a:r>
              <a:rPr dirty="0" sz="2200" spc="-10"/>
              <a:t>Method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9947" y="515938"/>
            <a:ext cx="1651832" cy="255127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2211" y="470916"/>
            <a:ext cx="5212080" cy="624992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8661"/>
            <a:ext cx="6246495" cy="104140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dirty="0"/>
              <a:t>Hough</a:t>
            </a:r>
            <a:r>
              <a:rPr dirty="0" spc="-165"/>
              <a:t> </a:t>
            </a:r>
            <a:r>
              <a:rPr dirty="0" spc="-85"/>
              <a:t>Transform</a:t>
            </a:r>
            <a:r>
              <a:rPr dirty="0" spc="-165"/>
              <a:t> </a:t>
            </a:r>
            <a:r>
              <a:rPr dirty="0" spc="-10"/>
              <a:t>(example)</a:t>
            </a:r>
          </a:p>
          <a:p>
            <a:pPr marL="12700">
              <a:lnSpc>
                <a:spcPts val="2795"/>
              </a:lnSpc>
            </a:pPr>
            <a:r>
              <a:rPr dirty="0" sz="2400"/>
              <a:t>Global</a:t>
            </a:r>
            <a:r>
              <a:rPr dirty="0" sz="2400" spc="-100"/>
              <a:t> </a:t>
            </a:r>
            <a:r>
              <a:rPr dirty="0" sz="2400" spc="-10"/>
              <a:t>Edge</a:t>
            </a:r>
            <a:r>
              <a:rPr dirty="0" sz="2400" spc="-100"/>
              <a:t> </a:t>
            </a:r>
            <a:r>
              <a:rPr dirty="0" sz="2400" spc="-10"/>
              <a:t>Linking</a:t>
            </a:r>
            <a:r>
              <a:rPr dirty="0" sz="2400" spc="-100"/>
              <a:t> </a:t>
            </a:r>
            <a:r>
              <a:rPr dirty="0" sz="2400" spc="-10"/>
              <a:t>Method</a:t>
            </a:r>
            <a:endParaRPr sz="24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3451" y="5727191"/>
            <a:ext cx="7656576" cy="113080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4035" y="1210055"/>
            <a:ext cx="7372431" cy="443788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dirty="0" spc="-204"/>
              <a:t> </a:t>
            </a:r>
            <a:r>
              <a:rPr dirty="0" spc="-25"/>
              <a:t>Intensity</a:t>
            </a:r>
            <a:r>
              <a:rPr dirty="0" spc="-210"/>
              <a:t> </a:t>
            </a:r>
            <a:r>
              <a:rPr dirty="0" spc="-20"/>
              <a:t>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5122" y="4518473"/>
            <a:ext cx="2473839" cy="53371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6294" y="4500154"/>
            <a:ext cx="2880503" cy="7909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19456" y="1801981"/>
            <a:ext cx="1314827" cy="17603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97586" y="1778254"/>
            <a:ext cx="6383259" cy="243662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8055609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</a:t>
            </a:r>
            <a:r>
              <a:rPr dirty="0" spc="-175"/>
              <a:t> </a:t>
            </a:r>
            <a:r>
              <a:rPr dirty="0"/>
              <a:t>of</a:t>
            </a:r>
            <a:r>
              <a:rPr dirty="0" spc="-170"/>
              <a:t> </a:t>
            </a:r>
            <a:r>
              <a:rPr dirty="0"/>
              <a:t>Noise</a:t>
            </a:r>
            <a:r>
              <a:rPr dirty="0" spc="-170"/>
              <a:t> </a:t>
            </a:r>
            <a:r>
              <a:rPr dirty="0"/>
              <a:t>in</a:t>
            </a:r>
            <a:r>
              <a:rPr dirty="0" spc="-170"/>
              <a:t> </a:t>
            </a:r>
            <a:r>
              <a:rPr dirty="0" spc="-10"/>
              <a:t>Image</a:t>
            </a:r>
            <a:r>
              <a:rPr dirty="0" spc="-170"/>
              <a:t> </a:t>
            </a:r>
            <a:r>
              <a:rPr dirty="0" spc="-10"/>
              <a:t>Thresholding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50720" y="1197863"/>
            <a:ext cx="8529955" cy="5660390"/>
            <a:chOff x="1950720" y="1197863"/>
            <a:chExt cx="8529955" cy="56603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5292" y="5754622"/>
              <a:ext cx="7872983" cy="11033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0720" y="1197863"/>
              <a:ext cx="8529828" cy="454761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Role</a:t>
            </a:r>
            <a:r>
              <a:rPr dirty="0" spc="-170"/>
              <a:t> </a:t>
            </a:r>
            <a:r>
              <a:rPr dirty="0"/>
              <a:t>of</a:t>
            </a:r>
            <a:r>
              <a:rPr dirty="0" spc="-170"/>
              <a:t> </a:t>
            </a:r>
            <a:r>
              <a:rPr dirty="0" spc="-25"/>
              <a:t>Illumination</a:t>
            </a:r>
            <a:r>
              <a:rPr dirty="0" spc="-160"/>
              <a:t> </a:t>
            </a:r>
            <a:r>
              <a:rPr dirty="0"/>
              <a:t>and</a:t>
            </a:r>
            <a:r>
              <a:rPr dirty="0" spc="-170"/>
              <a:t> </a:t>
            </a:r>
            <a:r>
              <a:rPr dirty="0" spc="-20"/>
              <a:t>Reflectance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7795" y="5660134"/>
            <a:ext cx="8595360" cy="117043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7795" y="1283208"/>
            <a:ext cx="8107680" cy="432206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dirty="0" spc="-240"/>
              <a:t> </a:t>
            </a:r>
            <a:r>
              <a:rPr dirty="0"/>
              <a:t>Global</a:t>
            </a:r>
            <a:r>
              <a:rPr dirty="0" spc="-240"/>
              <a:t> </a:t>
            </a:r>
            <a:r>
              <a:rPr dirty="0" spc="-20"/>
              <a:t>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5106" y="1793329"/>
            <a:ext cx="7318221" cy="308564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dirty="0" spc="-240"/>
              <a:t> </a:t>
            </a:r>
            <a:r>
              <a:rPr dirty="0"/>
              <a:t>Global</a:t>
            </a:r>
            <a:r>
              <a:rPr dirty="0" spc="-240"/>
              <a:t> </a:t>
            </a:r>
            <a:r>
              <a:rPr dirty="0" spc="-20"/>
              <a:t>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0060" y="4968521"/>
            <a:ext cx="8896326" cy="75953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2432" y="1668779"/>
            <a:ext cx="8083296" cy="319582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Optimum</a:t>
            </a:r>
            <a:r>
              <a:rPr dirty="0" spc="-204"/>
              <a:t> </a:t>
            </a:r>
            <a:r>
              <a:rPr dirty="0"/>
              <a:t>Global</a:t>
            </a:r>
            <a:r>
              <a:rPr dirty="0" spc="-190"/>
              <a:t> </a:t>
            </a:r>
            <a:r>
              <a:rPr dirty="0" spc="-30"/>
              <a:t>Thresholding</a:t>
            </a:r>
            <a:r>
              <a:rPr dirty="0" spc="-200"/>
              <a:t> </a:t>
            </a:r>
            <a:r>
              <a:rPr dirty="0"/>
              <a:t>using</a:t>
            </a:r>
            <a:r>
              <a:rPr dirty="0" spc="-190"/>
              <a:t> </a:t>
            </a:r>
            <a:r>
              <a:rPr dirty="0" spc="-85"/>
              <a:t>OTSU’s</a:t>
            </a:r>
            <a:r>
              <a:rPr dirty="0" spc="-165"/>
              <a:t> </a:t>
            </a:r>
            <a:r>
              <a:rPr dirty="0" spc="-10"/>
              <a:t>Method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77" y="1375854"/>
            <a:ext cx="6927994" cy="311001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6678" y="1275249"/>
            <a:ext cx="1641149" cy="47115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79889" y="1867543"/>
            <a:ext cx="3802742" cy="47115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02286" y="2506653"/>
            <a:ext cx="3793409" cy="45328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64746" y="3129788"/>
            <a:ext cx="3781298" cy="457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51177" y="3844374"/>
            <a:ext cx="3799945" cy="42306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82063" y="5434648"/>
            <a:ext cx="988217" cy="78242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679704" y="4759450"/>
            <a:ext cx="8004175" cy="2068195"/>
            <a:chOff x="679704" y="4759450"/>
            <a:chExt cx="8004175" cy="2068195"/>
          </a:xfrm>
        </p:grpSpPr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9704" y="4759450"/>
              <a:ext cx="5827776" cy="20680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7480" y="6129527"/>
              <a:ext cx="2176272" cy="544068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88463" y="4408678"/>
            <a:ext cx="4165365" cy="52527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20392" y="5034343"/>
            <a:ext cx="2068906" cy="34175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36830" y="6339243"/>
            <a:ext cx="1222536" cy="207727"/>
          </a:xfrm>
          <a:prstGeom prst="rect">
            <a:avLst/>
          </a:prstGeom>
        </p:spPr>
      </p:pic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Optimum</a:t>
            </a:r>
            <a:r>
              <a:rPr dirty="0" spc="-204"/>
              <a:t> </a:t>
            </a:r>
            <a:r>
              <a:rPr dirty="0"/>
              <a:t>Global</a:t>
            </a:r>
            <a:r>
              <a:rPr dirty="0" spc="-190"/>
              <a:t> </a:t>
            </a:r>
            <a:r>
              <a:rPr dirty="0" spc="-30"/>
              <a:t>Thresholding</a:t>
            </a:r>
            <a:r>
              <a:rPr dirty="0" spc="-200"/>
              <a:t> </a:t>
            </a:r>
            <a:r>
              <a:rPr dirty="0"/>
              <a:t>using</a:t>
            </a:r>
            <a:r>
              <a:rPr dirty="0" spc="-190"/>
              <a:t> </a:t>
            </a:r>
            <a:r>
              <a:rPr dirty="0" spc="-85"/>
              <a:t>OTSU’s</a:t>
            </a:r>
            <a:r>
              <a:rPr dirty="0" spc="-165"/>
              <a:t> </a:t>
            </a:r>
            <a:r>
              <a:rPr dirty="0" spc="-10"/>
              <a:t>Method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4739" y="1353676"/>
            <a:ext cx="1332404" cy="43240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3704" y="1290827"/>
            <a:ext cx="5882640" cy="543001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20"/>
              </a:spcBef>
            </a:pPr>
            <a:r>
              <a:rPr dirty="0"/>
              <a:t>Using</a:t>
            </a:r>
            <a:r>
              <a:rPr dirty="0" spc="-180"/>
              <a:t> </a:t>
            </a:r>
            <a:r>
              <a:rPr dirty="0" spc="-10"/>
              <a:t>Image</a:t>
            </a:r>
            <a:r>
              <a:rPr dirty="0" spc="-190"/>
              <a:t> </a:t>
            </a:r>
            <a:r>
              <a:rPr dirty="0" spc="-20"/>
              <a:t>Smoothing</a:t>
            </a:r>
            <a:r>
              <a:rPr dirty="0" spc="-190"/>
              <a:t> </a:t>
            </a:r>
            <a:r>
              <a:rPr dirty="0"/>
              <a:t>to</a:t>
            </a:r>
            <a:r>
              <a:rPr dirty="0" spc="-175"/>
              <a:t> </a:t>
            </a:r>
            <a:r>
              <a:rPr dirty="0" spc="-30"/>
              <a:t>Improve</a:t>
            </a:r>
            <a:r>
              <a:rPr dirty="0" spc="-190"/>
              <a:t> </a:t>
            </a:r>
            <a:r>
              <a:rPr dirty="0" spc="-10"/>
              <a:t>Global 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8172" y="5614414"/>
            <a:ext cx="8186928" cy="118872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0655" y="1374647"/>
            <a:ext cx="7820567" cy="418033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190"/>
              <a:t> </a:t>
            </a:r>
            <a:r>
              <a:rPr dirty="0" spc="-20"/>
              <a:t>Edges</a:t>
            </a:r>
            <a:r>
              <a:rPr dirty="0" spc="-210"/>
              <a:t> </a:t>
            </a:r>
            <a:r>
              <a:rPr dirty="0"/>
              <a:t>to</a:t>
            </a:r>
            <a:r>
              <a:rPr dirty="0" spc="-190"/>
              <a:t> </a:t>
            </a:r>
            <a:r>
              <a:rPr dirty="0" spc="-30"/>
              <a:t>Improve</a:t>
            </a:r>
            <a:r>
              <a:rPr dirty="0" spc="-190"/>
              <a:t> </a:t>
            </a:r>
            <a:r>
              <a:rPr dirty="0"/>
              <a:t>Global</a:t>
            </a:r>
            <a:r>
              <a:rPr dirty="0" spc="-204"/>
              <a:t> </a:t>
            </a:r>
            <a:r>
              <a:rPr dirty="0" spc="-10"/>
              <a:t>Thresholding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29383" y="1200911"/>
            <a:ext cx="8613775" cy="5628640"/>
            <a:chOff x="1929383" y="1200911"/>
            <a:chExt cx="8613775" cy="56286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9383" y="5583934"/>
              <a:ext cx="8613648" cy="124510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6147" y="1200911"/>
              <a:ext cx="8171688" cy="436930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190"/>
              <a:t> </a:t>
            </a:r>
            <a:r>
              <a:rPr dirty="0" spc="-20"/>
              <a:t>Edges</a:t>
            </a:r>
            <a:r>
              <a:rPr dirty="0" spc="-210"/>
              <a:t> </a:t>
            </a:r>
            <a:r>
              <a:rPr dirty="0"/>
              <a:t>to</a:t>
            </a:r>
            <a:r>
              <a:rPr dirty="0" spc="-190"/>
              <a:t> </a:t>
            </a:r>
            <a:r>
              <a:rPr dirty="0" spc="-30"/>
              <a:t>Improve</a:t>
            </a:r>
            <a:r>
              <a:rPr dirty="0" spc="-190"/>
              <a:t> </a:t>
            </a:r>
            <a:r>
              <a:rPr dirty="0"/>
              <a:t>Global</a:t>
            </a:r>
            <a:r>
              <a:rPr dirty="0" spc="-204"/>
              <a:t> </a:t>
            </a:r>
            <a:r>
              <a:rPr dirty="0" spc="-10"/>
              <a:t>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6027" y="1961521"/>
            <a:ext cx="7997680" cy="296585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190"/>
              <a:t> </a:t>
            </a:r>
            <a:r>
              <a:rPr dirty="0" spc="-20"/>
              <a:t>Edges</a:t>
            </a:r>
            <a:r>
              <a:rPr dirty="0" spc="-210"/>
              <a:t> </a:t>
            </a:r>
            <a:r>
              <a:rPr dirty="0"/>
              <a:t>to</a:t>
            </a:r>
            <a:r>
              <a:rPr dirty="0" spc="-190"/>
              <a:t> </a:t>
            </a:r>
            <a:r>
              <a:rPr dirty="0" spc="-30"/>
              <a:t>Improve</a:t>
            </a:r>
            <a:r>
              <a:rPr dirty="0" spc="-190"/>
              <a:t> </a:t>
            </a:r>
            <a:r>
              <a:rPr dirty="0"/>
              <a:t>Global</a:t>
            </a:r>
            <a:r>
              <a:rPr dirty="0" spc="-204"/>
              <a:t> </a:t>
            </a:r>
            <a:r>
              <a:rPr dirty="0" spc="-10"/>
              <a:t>Thresholding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29383" y="1175003"/>
            <a:ext cx="9304020" cy="5683250"/>
            <a:chOff x="1929383" y="1175003"/>
            <a:chExt cx="9304020" cy="56832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9383" y="5414771"/>
              <a:ext cx="8918448" cy="144322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4995" y="1175003"/>
              <a:ext cx="8598408" cy="458419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46405"/>
            <a:ext cx="3463925" cy="1901189"/>
          </a:xfrm>
          <a:prstGeom prst="rect"/>
        </p:spPr>
        <p:txBody>
          <a:bodyPr wrap="square" lIns="0" tIns="81915" rIns="0" bIns="0" rtlCol="0" vert="horz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645"/>
              </a:spcBef>
            </a:pPr>
            <a:r>
              <a:rPr dirty="0"/>
              <a:t>Using</a:t>
            </a:r>
            <a:r>
              <a:rPr dirty="0" spc="-195"/>
              <a:t> </a:t>
            </a:r>
            <a:r>
              <a:rPr dirty="0" spc="-20"/>
              <a:t>Edges</a:t>
            </a:r>
            <a:r>
              <a:rPr dirty="0" spc="-215"/>
              <a:t> </a:t>
            </a:r>
            <a:r>
              <a:rPr dirty="0" spc="-25"/>
              <a:t>to </a:t>
            </a:r>
            <a:r>
              <a:rPr dirty="0" spc="-30"/>
              <a:t>Improve</a:t>
            </a:r>
            <a:r>
              <a:rPr dirty="0" spc="-200"/>
              <a:t> </a:t>
            </a:r>
            <a:r>
              <a:rPr dirty="0" spc="-20"/>
              <a:t>Global </a:t>
            </a:r>
            <a:r>
              <a:rPr dirty="0" spc="-10"/>
              <a:t>Thresholding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977895" y="28955"/>
            <a:ext cx="7984490" cy="6829425"/>
            <a:chOff x="2977895" y="28955"/>
            <a:chExt cx="7984490" cy="68294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7895" y="5743954"/>
              <a:ext cx="7362444" cy="111404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6847" y="28955"/>
              <a:ext cx="7225283" cy="588416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1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190"/>
              <a:t> </a:t>
            </a:r>
            <a:r>
              <a:rPr dirty="0" spc="-20"/>
              <a:t>Edges</a:t>
            </a:r>
            <a:r>
              <a:rPr dirty="0" spc="-210"/>
              <a:t> </a:t>
            </a:r>
            <a:r>
              <a:rPr dirty="0"/>
              <a:t>to</a:t>
            </a:r>
            <a:r>
              <a:rPr dirty="0" spc="-190"/>
              <a:t> </a:t>
            </a:r>
            <a:r>
              <a:rPr dirty="0" spc="-30"/>
              <a:t>Improve</a:t>
            </a:r>
            <a:r>
              <a:rPr dirty="0" spc="-190"/>
              <a:t> </a:t>
            </a:r>
            <a:r>
              <a:rPr dirty="0"/>
              <a:t>Global</a:t>
            </a:r>
            <a:r>
              <a:rPr dirty="0" spc="-204"/>
              <a:t> </a:t>
            </a:r>
            <a:r>
              <a:rPr dirty="0" spc="-10"/>
              <a:t>Thresholding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0895" y="1731801"/>
            <a:ext cx="1622721" cy="258640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364" y="1673352"/>
            <a:ext cx="3319271" cy="381457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2026-05-01T17:59:25Z</dcterms:created>
  <dcterms:modified xsi:type="dcterms:W3CDTF">2026-05-01T17:59:25Z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for Microsoft 365</vt:lpwstr>
  </property>
</Properties>
</file>