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31791" y="1687957"/>
            <a:ext cx="3327400" cy="17145"/>
          </a:xfrm>
          <a:custGeom>
            <a:avLst/>
            <a:gdLst/>
            <a:ahLst/>
            <a:cxnLst/>
            <a:rect l="l" t="t" r="r" b="b"/>
            <a:pathLst>
              <a:path w="3327400" h="17144">
                <a:moveTo>
                  <a:pt x="3326891" y="0"/>
                </a:moveTo>
                <a:lnTo>
                  <a:pt x="0" y="0"/>
                </a:lnTo>
                <a:lnTo>
                  <a:pt x="0" y="16763"/>
                </a:lnTo>
                <a:lnTo>
                  <a:pt x="3326891" y="16763"/>
                </a:lnTo>
                <a:lnTo>
                  <a:pt x="33268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108661"/>
            <a:ext cx="10549255" cy="104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267961" y="6433082"/>
            <a:ext cx="3658234" cy="212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image" Target="../media/image21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677539" y="956005"/>
            <a:ext cx="4836160" cy="4552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5400" spc="-280">
                <a:latin typeface="Trebuchet MS"/>
                <a:cs typeface="Trebuchet MS"/>
              </a:rPr>
              <a:t>Lecture</a:t>
            </a:r>
            <a:r>
              <a:rPr dirty="0" sz="5400" spc="-595">
                <a:latin typeface="Trebuchet MS"/>
                <a:cs typeface="Trebuchet MS"/>
              </a:rPr>
              <a:t> </a:t>
            </a:r>
            <a:r>
              <a:rPr dirty="0" sz="5400" spc="-125">
                <a:latin typeface="Trebuchet MS"/>
                <a:cs typeface="Trebuchet MS"/>
              </a:rPr>
              <a:t>-</a:t>
            </a:r>
            <a:r>
              <a:rPr dirty="0" sz="5400" spc="-565">
                <a:latin typeface="Trebuchet MS"/>
                <a:cs typeface="Trebuchet MS"/>
              </a:rPr>
              <a:t> </a:t>
            </a:r>
            <a:r>
              <a:rPr dirty="0" sz="5400" spc="-25">
                <a:latin typeface="Trebuchet MS"/>
                <a:cs typeface="Trebuchet MS"/>
              </a:rPr>
              <a:t>16</a:t>
            </a:r>
            <a:endParaRPr sz="5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185"/>
              </a:spcBef>
            </a:pPr>
            <a:r>
              <a:rPr dirty="0" sz="5400" spc="-235" b="1">
                <a:latin typeface="Trebuchet MS"/>
                <a:cs typeface="Trebuchet MS"/>
              </a:rPr>
              <a:t>Chapter</a:t>
            </a:r>
            <a:r>
              <a:rPr dirty="0" sz="5400" spc="-565" b="1">
                <a:latin typeface="Trebuchet MS"/>
                <a:cs typeface="Trebuchet MS"/>
              </a:rPr>
              <a:t> </a:t>
            </a:r>
            <a:r>
              <a:rPr dirty="0" sz="5400" spc="-285" b="1">
                <a:latin typeface="Trebuchet MS"/>
                <a:cs typeface="Trebuchet MS"/>
              </a:rPr>
              <a:t>10</a:t>
            </a:r>
            <a:endParaRPr sz="5400">
              <a:latin typeface="Trebuchet MS"/>
              <a:cs typeface="Trebuchet MS"/>
            </a:endParaRPr>
          </a:p>
          <a:p>
            <a:pPr algn="ctr" marL="12065" marR="5080" indent="1905">
              <a:lnSpc>
                <a:spcPts val="5840"/>
              </a:lnSpc>
              <a:spcBef>
                <a:spcPts val="5915"/>
              </a:spcBef>
            </a:pPr>
            <a:r>
              <a:rPr dirty="0" sz="5400" spc="-10" b="1">
                <a:latin typeface="Trebuchet MS"/>
                <a:cs typeface="Trebuchet MS"/>
              </a:rPr>
              <a:t>IMAGE </a:t>
            </a:r>
            <a:r>
              <a:rPr dirty="0" sz="5400" spc="-110" b="1">
                <a:latin typeface="Trebuchet MS"/>
                <a:cs typeface="Trebuchet MS"/>
              </a:rPr>
              <a:t>SEGMENTATION</a:t>
            </a:r>
            <a:endParaRPr sz="5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416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Multiple</a:t>
            </a:r>
            <a:r>
              <a:rPr dirty="0" spc="-200"/>
              <a:t> </a:t>
            </a:r>
            <a:r>
              <a:rPr dirty="0" spc="-25"/>
              <a:t>Thresholds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3815" y="5470112"/>
            <a:ext cx="7425102" cy="6236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0720" y="2895600"/>
            <a:ext cx="8026908" cy="247040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30276" y="768641"/>
            <a:ext cx="2628068" cy="86021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41474" y="1944882"/>
            <a:ext cx="1774060" cy="565547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5195"/>
              </a:lnSpc>
              <a:spcBef>
                <a:spcPts val="105"/>
              </a:spcBef>
            </a:pPr>
            <a:r>
              <a:rPr dirty="0" spc="-45"/>
              <a:t>Variable</a:t>
            </a:r>
            <a:r>
              <a:rPr dirty="0" spc="-204"/>
              <a:t> </a:t>
            </a:r>
            <a:r>
              <a:rPr dirty="0" spc="-20"/>
              <a:t>Thresholding</a:t>
            </a:r>
          </a:p>
          <a:p>
            <a:pPr marL="12700">
              <a:lnSpc>
                <a:spcPts val="2795"/>
              </a:lnSpc>
            </a:pPr>
            <a:r>
              <a:rPr dirty="0" sz="2400" spc="-20"/>
              <a:t>using</a:t>
            </a:r>
            <a:r>
              <a:rPr dirty="0" sz="2400" spc="-105"/>
              <a:t> </a:t>
            </a:r>
            <a:r>
              <a:rPr dirty="0" sz="2400" spc="-20"/>
              <a:t>local</a:t>
            </a:r>
            <a:r>
              <a:rPr dirty="0" sz="2400" spc="-105"/>
              <a:t> </a:t>
            </a:r>
            <a:r>
              <a:rPr dirty="0" sz="2400" spc="-20"/>
              <a:t>image</a:t>
            </a:r>
            <a:r>
              <a:rPr dirty="0" sz="2400" spc="-100"/>
              <a:t> </a:t>
            </a:r>
            <a:r>
              <a:rPr dirty="0" sz="2400" spc="-10"/>
              <a:t>properties</a:t>
            </a:r>
            <a:endParaRPr sz="24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806" y="4502130"/>
            <a:ext cx="4377252" cy="449404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4963667" y="1054608"/>
            <a:ext cx="6258560" cy="5602605"/>
            <a:chOff x="4963667" y="1054608"/>
            <a:chExt cx="6258560" cy="560260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61568" y="1105959"/>
              <a:ext cx="1360647" cy="329932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63667" y="1054608"/>
              <a:ext cx="4872228" cy="5602224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288" y="2244207"/>
            <a:ext cx="2040059" cy="48228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9564" y="3394043"/>
            <a:ext cx="3540321" cy="464343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5195"/>
              </a:lnSpc>
              <a:spcBef>
                <a:spcPts val="105"/>
              </a:spcBef>
            </a:pPr>
            <a:r>
              <a:rPr dirty="0" spc="-45"/>
              <a:t>Variable</a:t>
            </a:r>
            <a:r>
              <a:rPr dirty="0" spc="-204"/>
              <a:t> </a:t>
            </a:r>
            <a:r>
              <a:rPr dirty="0" spc="-20"/>
              <a:t>Thresholding</a:t>
            </a:r>
          </a:p>
          <a:p>
            <a:pPr marL="12700">
              <a:lnSpc>
                <a:spcPts val="2795"/>
              </a:lnSpc>
            </a:pPr>
            <a:r>
              <a:rPr dirty="0" sz="2400" spc="-20"/>
              <a:t>using</a:t>
            </a:r>
            <a:r>
              <a:rPr dirty="0" sz="2400" spc="-95"/>
              <a:t> </a:t>
            </a:r>
            <a:r>
              <a:rPr dirty="0" sz="2400" spc="-25"/>
              <a:t>moving</a:t>
            </a:r>
            <a:r>
              <a:rPr dirty="0" sz="2400" spc="-80"/>
              <a:t> </a:t>
            </a:r>
            <a:r>
              <a:rPr dirty="0" sz="2400" spc="-10"/>
              <a:t>averages</a:t>
            </a:r>
            <a:endParaRPr sz="24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190" y="1593238"/>
            <a:ext cx="4834917" cy="116014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8067" y="5815584"/>
            <a:ext cx="8311896" cy="85496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94688" y="3005327"/>
            <a:ext cx="9206483" cy="2671572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5195"/>
              </a:lnSpc>
              <a:spcBef>
                <a:spcPts val="105"/>
              </a:spcBef>
            </a:pPr>
            <a:r>
              <a:rPr dirty="0" spc="-45"/>
              <a:t>Variable</a:t>
            </a:r>
            <a:r>
              <a:rPr dirty="0" spc="-204"/>
              <a:t> </a:t>
            </a:r>
            <a:r>
              <a:rPr dirty="0" spc="-20"/>
              <a:t>Thresholding</a:t>
            </a:r>
          </a:p>
          <a:p>
            <a:pPr marL="12700">
              <a:lnSpc>
                <a:spcPts val="2795"/>
              </a:lnSpc>
            </a:pPr>
            <a:r>
              <a:rPr dirty="0" sz="2400" spc="-20"/>
              <a:t>using</a:t>
            </a:r>
            <a:r>
              <a:rPr dirty="0" sz="2400" spc="-95"/>
              <a:t> </a:t>
            </a:r>
            <a:r>
              <a:rPr dirty="0" sz="2400" spc="-25"/>
              <a:t>moving</a:t>
            </a:r>
            <a:r>
              <a:rPr dirty="0" sz="2400" spc="-80"/>
              <a:t> </a:t>
            </a:r>
            <a:r>
              <a:rPr dirty="0" sz="2400" spc="-10"/>
              <a:t>averages</a:t>
            </a:r>
            <a:endParaRPr sz="24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190" y="1593238"/>
            <a:ext cx="4834917" cy="116014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5272" y="5792723"/>
            <a:ext cx="8496300" cy="88544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95272" y="3005327"/>
            <a:ext cx="9041892" cy="2624328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416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Region</a:t>
            </a:r>
            <a:r>
              <a:rPr dirty="0" spc="-215"/>
              <a:t> </a:t>
            </a:r>
            <a:r>
              <a:rPr dirty="0" spc="-25"/>
              <a:t>Growing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5301" y="4814594"/>
            <a:ext cx="5706206" cy="85238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5708" y="1789564"/>
            <a:ext cx="8320062" cy="235494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416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Region</a:t>
            </a:r>
            <a:r>
              <a:rPr dirty="0" spc="-215"/>
              <a:t> </a:t>
            </a:r>
            <a:r>
              <a:rPr dirty="0" spc="-25"/>
              <a:t>Growing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009900" y="137160"/>
            <a:ext cx="7749540" cy="6720840"/>
            <a:chOff x="3009900" y="137160"/>
            <a:chExt cx="7749540" cy="672084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09900" y="5225795"/>
              <a:ext cx="7749540" cy="163220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9811" y="137160"/>
              <a:ext cx="6495288" cy="5550408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416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Region</a:t>
            </a:r>
            <a:r>
              <a:rPr dirty="0" spc="-175"/>
              <a:t> </a:t>
            </a:r>
            <a:r>
              <a:rPr dirty="0" spc="-25"/>
              <a:t>Splitting</a:t>
            </a:r>
            <a:r>
              <a:rPr dirty="0" spc="-155"/>
              <a:t> </a:t>
            </a:r>
            <a:r>
              <a:rPr dirty="0"/>
              <a:t>and</a:t>
            </a:r>
            <a:r>
              <a:rPr dirty="0" spc="-170"/>
              <a:t> </a:t>
            </a:r>
            <a:r>
              <a:rPr dirty="0" spc="-10"/>
              <a:t>Merging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2876" y="3198134"/>
            <a:ext cx="1689186" cy="218258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7088" y="3105911"/>
            <a:ext cx="6373368" cy="232406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0667" y="1855957"/>
            <a:ext cx="3890175" cy="490941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416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Region</a:t>
            </a:r>
            <a:r>
              <a:rPr dirty="0" spc="-185"/>
              <a:t> </a:t>
            </a:r>
            <a:r>
              <a:rPr dirty="0" spc="-25"/>
              <a:t>Splitting</a:t>
            </a:r>
            <a:r>
              <a:rPr dirty="0" spc="-155"/>
              <a:t> </a:t>
            </a:r>
            <a:r>
              <a:rPr dirty="0"/>
              <a:t>and</a:t>
            </a:r>
            <a:r>
              <a:rPr dirty="0" spc="-170"/>
              <a:t> </a:t>
            </a:r>
            <a:r>
              <a:rPr dirty="0" spc="-10"/>
              <a:t>Merging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551" y="3143737"/>
            <a:ext cx="3891638" cy="49094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18921" y="1232882"/>
            <a:ext cx="1371970" cy="407530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82440" y="1207008"/>
            <a:ext cx="5439156" cy="5439156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416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Region</a:t>
            </a:r>
            <a:r>
              <a:rPr dirty="0" spc="-195"/>
              <a:t> </a:t>
            </a:r>
            <a:r>
              <a:rPr dirty="0" spc="-35"/>
              <a:t>Segmentation</a:t>
            </a:r>
            <a:r>
              <a:rPr dirty="0" spc="-180"/>
              <a:t> </a:t>
            </a:r>
            <a:r>
              <a:rPr dirty="0"/>
              <a:t>using</a:t>
            </a:r>
            <a:r>
              <a:rPr dirty="0" spc="-204"/>
              <a:t> </a:t>
            </a:r>
            <a:r>
              <a:rPr dirty="0" spc="-35"/>
              <a:t>K-</a:t>
            </a:r>
            <a:r>
              <a:rPr dirty="0"/>
              <a:t>means</a:t>
            </a:r>
            <a:r>
              <a:rPr dirty="0" spc="-190"/>
              <a:t> </a:t>
            </a:r>
            <a:r>
              <a:rPr dirty="0" spc="-10"/>
              <a:t>Clustering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855" y="1637640"/>
            <a:ext cx="6405334" cy="338799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9345" y="5315513"/>
            <a:ext cx="2280619" cy="518690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416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Region</a:t>
            </a:r>
            <a:r>
              <a:rPr dirty="0" spc="-200"/>
              <a:t> </a:t>
            </a:r>
            <a:r>
              <a:rPr dirty="0" spc="-35"/>
              <a:t>Segmentation</a:t>
            </a:r>
            <a:r>
              <a:rPr dirty="0" spc="-185"/>
              <a:t> </a:t>
            </a:r>
            <a:r>
              <a:rPr dirty="0"/>
              <a:t>using</a:t>
            </a:r>
            <a:r>
              <a:rPr dirty="0" spc="-200"/>
              <a:t> </a:t>
            </a:r>
            <a:r>
              <a:rPr dirty="0" spc="-30"/>
              <a:t>K-</a:t>
            </a:r>
            <a:r>
              <a:rPr dirty="0"/>
              <a:t>means</a:t>
            </a:r>
            <a:r>
              <a:rPr dirty="0" spc="-195"/>
              <a:t> </a:t>
            </a:r>
            <a:r>
              <a:rPr dirty="0" spc="-10"/>
              <a:t>Clustering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9325" y="2121563"/>
            <a:ext cx="1554292" cy="209929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3935" y="2066544"/>
            <a:ext cx="7274052" cy="3578352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416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Region</a:t>
            </a:r>
            <a:r>
              <a:rPr dirty="0" spc="-200"/>
              <a:t> </a:t>
            </a:r>
            <a:r>
              <a:rPr dirty="0" spc="-35"/>
              <a:t>Segmentation</a:t>
            </a:r>
            <a:r>
              <a:rPr dirty="0" spc="-175"/>
              <a:t> </a:t>
            </a:r>
            <a:r>
              <a:rPr dirty="0"/>
              <a:t>using</a:t>
            </a:r>
            <a:r>
              <a:rPr dirty="0" spc="-185"/>
              <a:t> </a:t>
            </a:r>
            <a:r>
              <a:rPr dirty="0" spc="-10"/>
              <a:t>Superpixels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7940" y="4494035"/>
            <a:ext cx="7694794" cy="82464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4147" y="1944623"/>
            <a:ext cx="9643872" cy="2362200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416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Region</a:t>
            </a:r>
            <a:r>
              <a:rPr dirty="0" spc="-200"/>
              <a:t> </a:t>
            </a:r>
            <a:r>
              <a:rPr dirty="0" spc="-35"/>
              <a:t>Segmentation</a:t>
            </a:r>
            <a:r>
              <a:rPr dirty="0" spc="-175"/>
              <a:t> </a:t>
            </a:r>
            <a:r>
              <a:rPr dirty="0"/>
              <a:t>using</a:t>
            </a:r>
            <a:r>
              <a:rPr dirty="0" spc="-185"/>
              <a:t> </a:t>
            </a:r>
            <a:r>
              <a:rPr dirty="0" spc="-10"/>
              <a:t>Superpixels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4355" y="1235963"/>
            <a:ext cx="9782556" cy="491794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4355" y="6254494"/>
            <a:ext cx="8700516" cy="568452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 Ikram Ullah Khosa</dc:creator>
  <dc:title>CPE415 Digital Image Processing</dc:title>
  <dcterms:created xsi:type="dcterms:W3CDTF">2026-05-01T17:59:41Z</dcterms:created>
  <dcterms:modified xsi:type="dcterms:W3CDTF">2026-05-01T17:59:41Z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2024-05-16T00:00:00Z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2026-05-01T00:00:00Z</vt:filetime>
  </property>
  <property fmtid="{D5CDD505-2E9C-101B-9397-08002B2CF9AE}" pid="5" name="Producer">
    <vt:lpwstr>Microsoft® PowerPoint® for Microsoft 365</vt:lpwstr>
  </property>
</Properties>
</file>