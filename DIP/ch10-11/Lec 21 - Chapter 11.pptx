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8739" y="270128"/>
            <a:ext cx="520954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81229"/>
            <a:ext cx="7726680" cy="1092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267961" y="6433082"/>
            <a:ext cx="3658234" cy="212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jpg"/><Relationship Id="rId6" Type="http://schemas.openxmlformats.org/officeDocument/2006/relationships/image" Target="../media/image28.png"/><Relationship Id="rId7" Type="http://schemas.openxmlformats.org/officeDocument/2006/relationships/image" Target="../media/image29.jpg"/><Relationship Id="rId8" Type="http://schemas.openxmlformats.org/officeDocument/2006/relationships/image" Target="../media/image30.png"/><Relationship Id="rId9" Type="http://schemas.openxmlformats.org/officeDocument/2006/relationships/image" Target="../media/image31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png"/><Relationship Id="rId3" Type="http://schemas.openxmlformats.org/officeDocument/2006/relationships/image" Target="../media/image33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4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5.jpg"/><Relationship Id="rId3" Type="http://schemas.openxmlformats.org/officeDocument/2006/relationships/image" Target="../media/image37.jpg"/><Relationship Id="rId4" Type="http://schemas.openxmlformats.org/officeDocument/2006/relationships/image" Target="../media/image38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9.jpg"/><Relationship Id="rId3" Type="http://schemas.openxmlformats.org/officeDocument/2006/relationships/image" Target="../media/image35.jpg"/><Relationship Id="rId4" Type="http://schemas.openxmlformats.org/officeDocument/2006/relationships/image" Target="../media/image40.png"/><Relationship Id="rId5" Type="http://schemas.openxmlformats.org/officeDocument/2006/relationships/image" Target="../media/image41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431791" y="2428620"/>
            <a:ext cx="3327400" cy="17145"/>
          </a:xfrm>
          <a:custGeom>
            <a:avLst/>
            <a:gdLst/>
            <a:ahLst/>
            <a:cxnLst/>
            <a:rect l="l" t="t" r="r" b="b"/>
            <a:pathLst>
              <a:path w="3327400" h="17144">
                <a:moveTo>
                  <a:pt x="3326891" y="0"/>
                </a:moveTo>
                <a:lnTo>
                  <a:pt x="0" y="0"/>
                </a:lnTo>
                <a:lnTo>
                  <a:pt x="0" y="16763"/>
                </a:lnTo>
                <a:lnTo>
                  <a:pt x="3326891" y="16763"/>
                </a:lnTo>
                <a:lnTo>
                  <a:pt x="33268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19727" y="1697228"/>
            <a:ext cx="3353435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spc="-290">
                <a:latin typeface="Trebuchet MS"/>
                <a:cs typeface="Trebuchet MS"/>
              </a:rPr>
              <a:t>Lecture</a:t>
            </a:r>
            <a:r>
              <a:rPr dirty="0" sz="5400" spc="-600">
                <a:latin typeface="Trebuchet MS"/>
                <a:cs typeface="Trebuchet MS"/>
              </a:rPr>
              <a:t> </a:t>
            </a:r>
            <a:r>
              <a:rPr dirty="0" sz="5400" spc="-125">
                <a:latin typeface="Trebuchet MS"/>
                <a:cs typeface="Trebuchet MS"/>
              </a:rPr>
              <a:t>-</a:t>
            </a:r>
            <a:r>
              <a:rPr dirty="0" sz="5400" spc="-570">
                <a:latin typeface="Trebuchet MS"/>
                <a:cs typeface="Trebuchet MS"/>
              </a:rPr>
              <a:t> </a:t>
            </a:r>
            <a:r>
              <a:rPr dirty="0" sz="5400" spc="-25">
                <a:latin typeface="Trebuchet MS"/>
                <a:cs typeface="Trebuchet MS"/>
              </a:rPr>
              <a:t>21</a:t>
            </a:r>
            <a:endParaRPr sz="54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717038" y="3178810"/>
            <a:ext cx="6755765" cy="2330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5400" spc="-235" b="1">
                <a:latin typeface="Trebuchet MS"/>
                <a:cs typeface="Trebuchet MS"/>
              </a:rPr>
              <a:t>Chapter</a:t>
            </a:r>
            <a:r>
              <a:rPr dirty="0" sz="5400" spc="-555" b="1">
                <a:latin typeface="Trebuchet MS"/>
                <a:cs typeface="Trebuchet MS"/>
              </a:rPr>
              <a:t> </a:t>
            </a:r>
            <a:r>
              <a:rPr dirty="0" sz="5400" spc="-295" b="1">
                <a:latin typeface="Trebuchet MS"/>
                <a:cs typeface="Trebuchet MS"/>
              </a:rPr>
              <a:t>11</a:t>
            </a:r>
            <a:endParaRPr sz="5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185"/>
              </a:spcBef>
            </a:pPr>
            <a:r>
              <a:rPr dirty="0" sz="5400" spc="-254" b="1">
                <a:latin typeface="Trebuchet MS"/>
                <a:cs typeface="Trebuchet MS"/>
              </a:rPr>
              <a:t>FEATURE</a:t>
            </a:r>
            <a:r>
              <a:rPr dirty="0" sz="5400" spc="-570" b="1">
                <a:latin typeface="Trebuchet MS"/>
                <a:cs typeface="Trebuchet MS"/>
              </a:rPr>
              <a:t> </a:t>
            </a:r>
            <a:r>
              <a:rPr dirty="0" sz="5400" spc="-105" b="1">
                <a:latin typeface="Trebuchet MS"/>
                <a:cs typeface="Trebuchet MS"/>
              </a:rPr>
              <a:t>EXTRACTION</a:t>
            </a:r>
            <a:endParaRPr sz="5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270128"/>
            <a:ext cx="710565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45"/>
              <a:t>Representation</a:t>
            </a:r>
            <a:r>
              <a:rPr dirty="0" sz="4400" spc="-160"/>
              <a:t> </a:t>
            </a:r>
            <a:r>
              <a:rPr dirty="0" sz="4400"/>
              <a:t>and</a:t>
            </a:r>
            <a:r>
              <a:rPr dirty="0" sz="4400" spc="-120"/>
              <a:t> </a:t>
            </a:r>
            <a:r>
              <a:rPr dirty="0" sz="4400" spc="-10"/>
              <a:t>Description</a:t>
            </a:r>
            <a:endParaRPr sz="4400"/>
          </a:p>
        </p:txBody>
      </p:sp>
      <p:sp>
        <p:nvSpPr>
          <p:cNvPr id="3" name="object 3" descr=""/>
          <p:cNvSpPr txBox="1"/>
          <p:nvPr/>
        </p:nvSpPr>
        <p:spPr>
          <a:xfrm>
            <a:off x="928522" y="1095315"/>
            <a:ext cx="5626100" cy="509905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6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Times New Roman"/>
                <a:cs typeface="Times New Roman"/>
              </a:rPr>
              <a:t>Boundary-based</a:t>
            </a:r>
            <a:r>
              <a:rPr dirty="0" sz="3200" spc="-9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Descriptors</a:t>
            </a:r>
            <a:endParaRPr sz="3200">
              <a:latin typeface="Times New Roman"/>
              <a:cs typeface="Times New Roman"/>
            </a:endParaRPr>
          </a:p>
          <a:p>
            <a:pPr lvl="1" marL="753745" indent="-283845">
              <a:lnSpc>
                <a:spcPct val="100000"/>
              </a:lnSpc>
              <a:spcBef>
                <a:spcPts val="720"/>
              </a:spcBef>
              <a:buFont typeface="Arial MT"/>
              <a:buChar char="–"/>
              <a:tabLst>
                <a:tab pos="753745" algn="l"/>
              </a:tabLst>
            </a:pPr>
            <a:r>
              <a:rPr dirty="0" sz="2400">
                <a:latin typeface="Times New Roman"/>
                <a:cs typeface="Times New Roman"/>
              </a:rPr>
              <a:t>Freeman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chain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code</a:t>
            </a:r>
            <a:endParaRPr sz="2400">
              <a:latin typeface="Times New Roman"/>
              <a:cs typeface="Times New Roman"/>
            </a:endParaRPr>
          </a:p>
          <a:p>
            <a:pPr lvl="1" marL="753745" indent="-283845">
              <a:lnSpc>
                <a:spcPct val="100000"/>
              </a:lnSpc>
              <a:spcBef>
                <a:spcPts val="705"/>
              </a:spcBef>
              <a:buFont typeface="Arial MT"/>
              <a:buChar char="–"/>
              <a:tabLst>
                <a:tab pos="753745" algn="l"/>
              </a:tabLst>
            </a:pPr>
            <a:r>
              <a:rPr dirty="0" sz="2400" spc="-10">
                <a:latin typeface="Times New Roman"/>
                <a:cs typeface="Times New Roman"/>
              </a:rPr>
              <a:t>Signature</a:t>
            </a:r>
            <a:endParaRPr sz="2400">
              <a:latin typeface="Times New Roman"/>
              <a:cs typeface="Times New Roman"/>
            </a:endParaRPr>
          </a:p>
          <a:p>
            <a:pPr lvl="1" marL="753745" indent="-283845">
              <a:lnSpc>
                <a:spcPct val="100000"/>
              </a:lnSpc>
              <a:spcBef>
                <a:spcPts val="695"/>
              </a:spcBef>
              <a:buFont typeface="Arial MT"/>
              <a:buChar char="–"/>
              <a:tabLst>
                <a:tab pos="753745" algn="l"/>
              </a:tabLst>
            </a:pPr>
            <a:r>
              <a:rPr dirty="0" sz="2400">
                <a:latin typeface="Times New Roman"/>
                <a:cs typeface="Times New Roman"/>
              </a:rPr>
              <a:t>Shape</a:t>
            </a:r>
            <a:r>
              <a:rPr dirty="0" sz="2400" spc="-10">
                <a:latin typeface="Times New Roman"/>
                <a:cs typeface="Times New Roman"/>
              </a:rPr>
              <a:t> number</a:t>
            </a:r>
            <a:endParaRPr sz="2400">
              <a:latin typeface="Times New Roman"/>
              <a:cs typeface="Times New Roman"/>
            </a:endParaRPr>
          </a:p>
          <a:p>
            <a:pPr lvl="1" marL="753745" indent="-283845">
              <a:lnSpc>
                <a:spcPts val="2870"/>
              </a:lnSpc>
              <a:spcBef>
                <a:spcPts val="700"/>
              </a:spcBef>
              <a:buFont typeface="Arial MT"/>
              <a:buChar char="–"/>
              <a:tabLst>
                <a:tab pos="753745" algn="l"/>
              </a:tabLst>
            </a:pPr>
            <a:r>
              <a:rPr dirty="0" sz="2400">
                <a:latin typeface="Times New Roman"/>
                <a:cs typeface="Times New Roman"/>
              </a:rPr>
              <a:t>Fourier </a:t>
            </a:r>
            <a:r>
              <a:rPr dirty="0" sz="2400" spc="-10">
                <a:latin typeface="Times New Roman"/>
                <a:cs typeface="Times New Roman"/>
              </a:rPr>
              <a:t>descriptor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ts val="3829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3200" spc="-10">
                <a:solidFill>
                  <a:srgbClr val="006FC0"/>
                </a:solidFill>
                <a:latin typeface="Times New Roman"/>
                <a:cs typeface="Times New Roman"/>
              </a:rPr>
              <a:t>Region-</a:t>
            </a:r>
            <a:r>
              <a:rPr dirty="0" sz="3200">
                <a:solidFill>
                  <a:srgbClr val="006FC0"/>
                </a:solidFill>
                <a:latin typeface="Times New Roman"/>
                <a:cs typeface="Times New Roman"/>
              </a:rPr>
              <a:t>based</a:t>
            </a:r>
            <a:r>
              <a:rPr dirty="0" sz="3200" spc="-75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006FC0"/>
                </a:solidFill>
                <a:latin typeface="Times New Roman"/>
                <a:cs typeface="Times New Roman"/>
              </a:rPr>
              <a:t>Descriptors</a:t>
            </a:r>
            <a:endParaRPr sz="3200">
              <a:latin typeface="Times New Roman"/>
              <a:cs typeface="Times New Roman"/>
            </a:endParaRPr>
          </a:p>
          <a:p>
            <a:pPr lvl="1" marL="753745" indent="-283845">
              <a:lnSpc>
                <a:spcPct val="100000"/>
              </a:lnSpc>
              <a:spcBef>
                <a:spcPts val="730"/>
              </a:spcBef>
              <a:buFont typeface="Arial MT"/>
              <a:buChar char="–"/>
              <a:tabLst>
                <a:tab pos="753745" algn="l"/>
              </a:tabLst>
            </a:pPr>
            <a:r>
              <a:rPr dirty="0" sz="2400">
                <a:solidFill>
                  <a:srgbClr val="006FC0"/>
                </a:solidFill>
                <a:latin typeface="Times New Roman"/>
                <a:cs typeface="Times New Roman"/>
              </a:rPr>
              <a:t>Some</a:t>
            </a:r>
            <a:r>
              <a:rPr dirty="0" sz="2400" spc="-1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6FC0"/>
                </a:solidFill>
                <a:latin typeface="Times New Roman"/>
                <a:cs typeface="Times New Roman"/>
              </a:rPr>
              <a:t>basic</a:t>
            </a:r>
            <a:r>
              <a:rPr dirty="0" sz="2400" spc="-10">
                <a:solidFill>
                  <a:srgbClr val="006FC0"/>
                </a:solidFill>
                <a:latin typeface="Times New Roman"/>
                <a:cs typeface="Times New Roman"/>
              </a:rPr>
              <a:t> descriptors</a:t>
            </a:r>
            <a:endParaRPr sz="2400">
              <a:latin typeface="Times New Roman"/>
              <a:cs typeface="Times New Roman"/>
            </a:endParaRPr>
          </a:p>
          <a:p>
            <a:pPr lvl="1" marL="753745" indent="-283845">
              <a:lnSpc>
                <a:spcPct val="100000"/>
              </a:lnSpc>
              <a:spcBef>
                <a:spcPts val="695"/>
              </a:spcBef>
              <a:buFont typeface="Arial MT"/>
              <a:buChar char="–"/>
              <a:tabLst>
                <a:tab pos="753745" algn="l"/>
              </a:tabLst>
            </a:pPr>
            <a:r>
              <a:rPr dirty="0" sz="2400" spc="-10">
                <a:solidFill>
                  <a:srgbClr val="006FC0"/>
                </a:solidFill>
                <a:latin typeface="Times New Roman"/>
                <a:cs typeface="Times New Roman"/>
              </a:rPr>
              <a:t>Topological</a:t>
            </a:r>
            <a:r>
              <a:rPr dirty="0" sz="2400" spc="-9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006FC0"/>
                </a:solidFill>
                <a:latin typeface="Times New Roman"/>
                <a:cs typeface="Times New Roman"/>
              </a:rPr>
              <a:t>descriptors</a:t>
            </a:r>
            <a:endParaRPr sz="2400">
              <a:latin typeface="Times New Roman"/>
              <a:cs typeface="Times New Roman"/>
            </a:endParaRPr>
          </a:p>
          <a:p>
            <a:pPr lvl="1" marL="753745" indent="-283845">
              <a:lnSpc>
                <a:spcPct val="100000"/>
              </a:lnSpc>
              <a:spcBef>
                <a:spcPts val="700"/>
              </a:spcBef>
              <a:buFont typeface="Arial MT"/>
              <a:buChar char="–"/>
              <a:tabLst>
                <a:tab pos="753745" algn="l"/>
              </a:tabLst>
            </a:pPr>
            <a:r>
              <a:rPr dirty="0" sz="2400" spc="-10">
                <a:solidFill>
                  <a:srgbClr val="006FC0"/>
                </a:solidFill>
                <a:latin typeface="Times New Roman"/>
                <a:cs typeface="Times New Roman"/>
              </a:rPr>
              <a:t>Texture</a:t>
            </a:r>
            <a:endParaRPr sz="2400">
              <a:latin typeface="Times New Roman"/>
              <a:cs typeface="Times New Roman"/>
            </a:endParaRPr>
          </a:p>
          <a:p>
            <a:pPr lvl="2" marL="1270000" indent="-34290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1270000" algn="l"/>
              </a:tabLst>
            </a:pPr>
            <a:r>
              <a:rPr dirty="0" sz="2000">
                <a:solidFill>
                  <a:srgbClr val="006FC0"/>
                </a:solidFill>
                <a:latin typeface="Times New Roman"/>
                <a:cs typeface="Times New Roman"/>
              </a:rPr>
              <a:t>Statistical</a:t>
            </a:r>
            <a:r>
              <a:rPr dirty="0" sz="2000" spc="-55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06FC0"/>
                </a:solidFill>
                <a:latin typeface="Times New Roman"/>
                <a:cs typeface="Times New Roman"/>
              </a:rPr>
              <a:t>approaches</a:t>
            </a:r>
            <a:endParaRPr sz="2000">
              <a:latin typeface="Times New Roman"/>
              <a:cs typeface="Times New Roman"/>
            </a:endParaRPr>
          </a:p>
          <a:p>
            <a:pPr lvl="2" marL="1270000" indent="-342900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1270000" algn="l"/>
              </a:tabLst>
            </a:pPr>
            <a:r>
              <a:rPr dirty="0" sz="2000">
                <a:solidFill>
                  <a:srgbClr val="006FC0"/>
                </a:solidFill>
                <a:latin typeface="Times New Roman"/>
                <a:cs typeface="Times New Roman"/>
              </a:rPr>
              <a:t>Gray</a:t>
            </a:r>
            <a:r>
              <a:rPr dirty="0" sz="2000" spc="-35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6FC0"/>
                </a:solidFill>
                <a:latin typeface="Times New Roman"/>
                <a:cs typeface="Times New Roman"/>
              </a:rPr>
              <a:t>level</a:t>
            </a:r>
            <a:r>
              <a:rPr dirty="0" sz="2000" spc="-15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6FC0"/>
                </a:solidFill>
                <a:latin typeface="Times New Roman"/>
                <a:cs typeface="Times New Roman"/>
              </a:rPr>
              <a:t>Co-occurrence</a:t>
            </a:r>
            <a:r>
              <a:rPr dirty="0" sz="2000" spc="-5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6FC0"/>
                </a:solidFill>
                <a:latin typeface="Times New Roman"/>
                <a:cs typeface="Times New Roman"/>
              </a:rPr>
              <a:t>Matrix</a:t>
            </a:r>
            <a:r>
              <a:rPr dirty="0" sz="2000" spc="-2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06FC0"/>
                </a:solidFill>
                <a:latin typeface="Times New Roman"/>
                <a:cs typeface="Times New Roman"/>
              </a:rPr>
              <a:t>(GLCM)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159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/>
              <a:t>Some</a:t>
            </a:r>
            <a:r>
              <a:rPr dirty="0" sz="4400" spc="-210"/>
              <a:t> </a:t>
            </a:r>
            <a:r>
              <a:rPr dirty="0" sz="4400"/>
              <a:t>Basic</a:t>
            </a:r>
            <a:r>
              <a:rPr dirty="0" sz="4400" spc="-190"/>
              <a:t> </a:t>
            </a:r>
            <a:r>
              <a:rPr dirty="0" sz="4400" spc="-25"/>
              <a:t>Descriptors</a:t>
            </a:r>
            <a:endParaRPr sz="44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063" y="1294238"/>
            <a:ext cx="1649041" cy="482382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336932" y="1943312"/>
            <a:ext cx="9342120" cy="2277110"/>
            <a:chOff x="336932" y="1943312"/>
            <a:chExt cx="9342120" cy="227711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6932" y="1943312"/>
              <a:ext cx="1625121" cy="479528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1284" y="2118359"/>
              <a:ext cx="7787640" cy="2101596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7482" y="4362466"/>
            <a:ext cx="4828208" cy="56186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36325" y="1547113"/>
            <a:ext cx="2511160" cy="44805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26628" y="1501671"/>
            <a:ext cx="1027067" cy="514048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00399" y="5226876"/>
            <a:ext cx="3066597" cy="909731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50535" y="6245350"/>
            <a:ext cx="6914388" cy="51815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992126" y="2493463"/>
            <a:ext cx="1400679" cy="1700561"/>
          </a:xfrm>
          <a:prstGeom prst="rect">
            <a:avLst/>
          </a:prstGeom>
        </p:spPr>
      </p:pic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159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/>
              <a:t>Some</a:t>
            </a:r>
            <a:r>
              <a:rPr dirty="0" sz="4400" spc="-210"/>
              <a:t> </a:t>
            </a:r>
            <a:r>
              <a:rPr dirty="0" sz="4400"/>
              <a:t>Basic</a:t>
            </a:r>
            <a:r>
              <a:rPr dirty="0" sz="4400" spc="-190"/>
              <a:t> </a:t>
            </a:r>
            <a:r>
              <a:rPr dirty="0" sz="4400" spc="-25"/>
              <a:t>Descriptors</a:t>
            </a:r>
            <a:endParaRPr sz="44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0235" y="1133855"/>
            <a:ext cx="6431279" cy="199034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76115" y="1178216"/>
            <a:ext cx="1397605" cy="149928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31820" y="3698746"/>
            <a:ext cx="4800600" cy="304342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72779" y="3738151"/>
            <a:ext cx="1353072" cy="2180341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159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/>
              <a:t>Some</a:t>
            </a:r>
            <a:r>
              <a:rPr dirty="0" sz="4400" spc="-210"/>
              <a:t> </a:t>
            </a:r>
            <a:r>
              <a:rPr dirty="0" sz="4400"/>
              <a:t>Basic</a:t>
            </a:r>
            <a:r>
              <a:rPr dirty="0" sz="4400" spc="-190"/>
              <a:t> </a:t>
            </a:r>
            <a:r>
              <a:rPr dirty="0" sz="4400" spc="-25"/>
              <a:t>Descriptors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5678423" y="190498"/>
            <a:ext cx="6044565" cy="6559550"/>
            <a:chOff x="5678423" y="190498"/>
            <a:chExt cx="6044565" cy="655955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78423" y="190498"/>
              <a:ext cx="4799076" cy="6559296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66020" y="691895"/>
              <a:ext cx="1656587" cy="1161288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70"/>
              <a:t>Topological</a:t>
            </a:r>
            <a:r>
              <a:rPr dirty="0" sz="4400" spc="-145"/>
              <a:t> </a:t>
            </a:r>
            <a:r>
              <a:rPr dirty="0" sz="4400" spc="-20"/>
              <a:t>Descriptors</a:t>
            </a:r>
            <a:endParaRPr sz="44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2959" y="1357883"/>
            <a:ext cx="4719828" cy="167792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18057" y="1421379"/>
            <a:ext cx="1100586" cy="116451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18659" y="4046220"/>
            <a:ext cx="3634740" cy="1962912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85328" y="4058649"/>
            <a:ext cx="1234759" cy="114346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60121" y="3107817"/>
            <a:ext cx="36125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13610" algn="l"/>
              </a:tabLst>
            </a:pPr>
            <a:r>
              <a:rPr dirty="0" sz="2800">
                <a:latin typeface="Times New Roman"/>
                <a:cs typeface="Times New Roman"/>
              </a:rPr>
              <a:t>Euler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Number</a:t>
            </a:r>
            <a:r>
              <a:rPr dirty="0" sz="2800">
                <a:latin typeface="Times New Roman"/>
                <a:cs typeface="Times New Roman"/>
              </a:rPr>
              <a:t>	E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=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-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0">
                <a:latin typeface="Times New Roman"/>
                <a:cs typeface="Times New Roman"/>
              </a:rPr>
              <a:t>H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159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70"/>
              <a:t>Topological</a:t>
            </a:r>
            <a:r>
              <a:rPr dirty="0" sz="4400" spc="-145"/>
              <a:t> </a:t>
            </a:r>
            <a:r>
              <a:rPr dirty="0" sz="4400" spc="-20"/>
              <a:t>Descriptors</a:t>
            </a:r>
            <a:endParaRPr sz="4400"/>
          </a:p>
        </p:txBody>
      </p:sp>
      <p:sp>
        <p:nvSpPr>
          <p:cNvPr id="3" name="object 3" descr=""/>
          <p:cNvSpPr txBox="1"/>
          <p:nvPr/>
        </p:nvSpPr>
        <p:spPr>
          <a:xfrm>
            <a:off x="368909" y="1747773"/>
            <a:ext cx="3671570" cy="1305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13610" algn="l"/>
              </a:tabLst>
            </a:pPr>
            <a:r>
              <a:rPr dirty="0" sz="2800">
                <a:latin typeface="Times New Roman"/>
                <a:cs typeface="Times New Roman"/>
              </a:rPr>
              <a:t>Euler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Number</a:t>
            </a:r>
            <a:r>
              <a:rPr dirty="0" sz="2800">
                <a:latin typeface="Times New Roman"/>
                <a:cs typeface="Times New Roman"/>
              </a:rPr>
              <a:t>	E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=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–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0">
                <a:latin typeface="Times New Roman"/>
                <a:cs typeface="Times New Roman"/>
              </a:rPr>
              <a:t>H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800">
                <a:latin typeface="Times New Roman"/>
                <a:cs typeface="Times New Roman"/>
              </a:rPr>
              <a:t>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=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V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–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Q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–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0"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5344" y="2523744"/>
            <a:ext cx="4401311" cy="304037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41691" y="2596972"/>
            <a:ext cx="1245513" cy="890777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159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70"/>
              <a:t>Topological</a:t>
            </a:r>
            <a:r>
              <a:rPr dirty="0" sz="4400" spc="-145"/>
              <a:t> </a:t>
            </a:r>
            <a:r>
              <a:rPr dirty="0" sz="4400" spc="-20"/>
              <a:t>Descriptors</a:t>
            </a:r>
            <a:endParaRPr sz="44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9860" y="1231391"/>
            <a:ext cx="5522976" cy="548944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67147" y="1263840"/>
            <a:ext cx="1801730" cy="3244880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591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90"/>
              <a:t>Texture</a:t>
            </a:r>
            <a:r>
              <a:rPr dirty="0" sz="4400" spc="-105"/>
              <a:t> </a:t>
            </a:r>
            <a:r>
              <a:rPr dirty="0" spc="-40"/>
              <a:t>(Statistical</a:t>
            </a:r>
            <a:r>
              <a:rPr dirty="0" spc="-75"/>
              <a:t> </a:t>
            </a:r>
            <a:r>
              <a:rPr dirty="0" spc="-20"/>
              <a:t>Approaches)</a:t>
            </a:r>
            <a:endParaRPr sz="44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006" y="2724573"/>
            <a:ext cx="2429691" cy="54620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025" y="1919275"/>
            <a:ext cx="1426952" cy="5519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6730" y="3543300"/>
            <a:ext cx="2015611" cy="52863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3926" y="4250560"/>
            <a:ext cx="1597792" cy="54304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0332" y="5071533"/>
            <a:ext cx="2597205" cy="54620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09288" y="1179575"/>
            <a:ext cx="6105144" cy="330555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413266" y="1238211"/>
            <a:ext cx="1524318" cy="334220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547871" y="4922518"/>
            <a:ext cx="8014716" cy="1819656"/>
          </a:xfrm>
          <a:prstGeom prst="rect">
            <a:avLst/>
          </a:prstGeom>
        </p:spPr>
      </p:pic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591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90"/>
              <a:t>Texture</a:t>
            </a:r>
            <a:r>
              <a:rPr dirty="0" sz="4400" spc="-130"/>
              <a:t> </a:t>
            </a:r>
            <a:r>
              <a:rPr dirty="0" spc="-35"/>
              <a:t>(Gray</a:t>
            </a:r>
            <a:r>
              <a:rPr dirty="0" spc="-110"/>
              <a:t> </a:t>
            </a:r>
            <a:r>
              <a:rPr dirty="0" spc="-20"/>
              <a:t>Level</a:t>
            </a:r>
            <a:r>
              <a:rPr dirty="0" spc="-125"/>
              <a:t> </a:t>
            </a:r>
            <a:r>
              <a:rPr dirty="0" spc="-40"/>
              <a:t>Co-</a:t>
            </a:r>
            <a:r>
              <a:rPr dirty="0" spc="-30"/>
              <a:t>occurrence</a:t>
            </a:r>
            <a:r>
              <a:rPr dirty="0" spc="-70"/>
              <a:t> </a:t>
            </a:r>
            <a:r>
              <a:rPr dirty="0" spc="-25"/>
              <a:t>Matrix</a:t>
            </a:r>
            <a:r>
              <a:rPr dirty="0" spc="-80"/>
              <a:t> </a:t>
            </a:r>
            <a:r>
              <a:rPr dirty="0"/>
              <a:t>-</a:t>
            </a:r>
            <a:r>
              <a:rPr dirty="0" spc="-85"/>
              <a:t> </a:t>
            </a:r>
            <a:r>
              <a:rPr dirty="0" spc="-10"/>
              <a:t>GLCM)</a:t>
            </a:r>
            <a:endParaRPr sz="44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1951" y="1969977"/>
            <a:ext cx="4815592" cy="273475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08668" y="2004983"/>
            <a:ext cx="1139148" cy="664671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591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90"/>
              <a:t>Texture</a:t>
            </a:r>
            <a:r>
              <a:rPr dirty="0" sz="4400" spc="-130"/>
              <a:t> </a:t>
            </a:r>
            <a:r>
              <a:rPr dirty="0" spc="-35"/>
              <a:t>(Gray</a:t>
            </a:r>
            <a:r>
              <a:rPr dirty="0" spc="-110"/>
              <a:t> </a:t>
            </a:r>
            <a:r>
              <a:rPr dirty="0" spc="-20"/>
              <a:t>Level</a:t>
            </a:r>
            <a:r>
              <a:rPr dirty="0" spc="-125"/>
              <a:t> </a:t>
            </a:r>
            <a:r>
              <a:rPr dirty="0" spc="-40"/>
              <a:t>Co-</a:t>
            </a:r>
            <a:r>
              <a:rPr dirty="0" spc="-30"/>
              <a:t>occurrence</a:t>
            </a:r>
            <a:r>
              <a:rPr dirty="0" spc="-70"/>
              <a:t> </a:t>
            </a:r>
            <a:r>
              <a:rPr dirty="0" spc="-25"/>
              <a:t>Matrix</a:t>
            </a:r>
            <a:r>
              <a:rPr dirty="0" spc="-80"/>
              <a:t> </a:t>
            </a:r>
            <a:r>
              <a:rPr dirty="0"/>
              <a:t>-</a:t>
            </a:r>
            <a:r>
              <a:rPr dirty="0" spc="-85"/>
              <a:t> </a:t>
            </a:r>
            <a:r>
              <a:rPr dirty="0" spc="-10"/>
              <a:t>GLCM)</a:t>
            </a:r>
            <a:endParaRPr sz="44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4373" y="1497929"/>
            <a:ext cx="7139367" cy="4693338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591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90"/>
              <a:t>Texture</a:t>
            </a:r>
            <a:r>
              <a:rPr dirty="0" sz="4400" spc="-130"/>
              <a:t> </a:t>
            </a:r>
            <a:r>
              <a:rPr dirty="0" spc="-35"/>
              <a:t>(Gray</a:t>
            </a:r>
            <a:r>
              <a:rPr dirty="0" spc="-110"/>
              <a:t> </a:t>
            </a:r>
            <a:r>
              <a:rPr dirty="0" spc="-20"/>
              <a:t>Level</a:t>
            </a:r>
            <a:r>
              <a:rPr dirty="0" spc="-125"/>
              <a:t> </a:t>
            </a:r>
            <a:r>
              <a:rPr dirty="0" spc="-40"/>
              <a:t>Co-</a:t>
            </a:r>
            <a:r>
              <a:rPr dirty="0" spc="-30"/>
              <a:t>occurrence</a:t>
            </a:r>
            <a:r>
              <a:rPr dirty="0" spc="-70"/>
              <a:t> </a:t>
            </a:r>
            <a:r>
              <a:rPr dirty="0" spc="-25"/>
              <a:t>Matrix</a:t>
            </a:r>
            <a:r>
              <a:rPr dirty="0" spc="-80"/>
              <a:t> </a:t>
            </a:r>
            <a:r>
              <a:rPr dirty="0"/>
              <a:t>-</a:t>
            </a:r>
            <a:r>
              <a:rPr dirty="0" spc="-85"/>
              <a:t> </a:t>
            </a:r>
            <a:r>
              <a:rPr dirty="0" spc="-10"/>
              <a:t>GLCM)</a:t>
            </a:r>
            <a:endParaRPr sz="44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9876" y="1397508"/>
            <a:ext cx="4274820" cy="442264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20881" y="1450947"/>
            <a:ext cx="1321895" cy="2297893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5155"/>
              </a:lnSpc>
              <a:spcBef>
                <a:spcPts val="105"/>
              </a:spcBef>
            </a:pPr>
            <a:r>
              <a:rPr dirty="0" sz="4400" spc="-90"/>
              <a:t>Texture</a:t>
            </a:r>
            <a:r>
              <a:rPr dirty="0" sz="4400" spc="-140"/>
              <a:t> </a:t>
            </a:r>
            <a:r>
              <a:rPr dirty="0" spc="-35"/>
              <a:t>(Gray</a:t>
            </a:r>
            <a:r>
              <a:rPr dirty="0" spc="-114"/>
              <a:t> </a:t>
            </a:r>
            <a:r>
              <a:rPr dirty="0" spc="-10"/>
              <a:t>Level</a:t>
            </a:r>
            <a:endParaRPr sz="4400"/>
          </a:p>
          <a:p>
            <a:pPr marL="12700">
              <a:lnSpc>
                <a:spcPts val="3235"/>
              </a:lnSpc>
            </a:pPr>
            <a:r>
              <a:rPr dirty="0" spc="-40"/>
              <a:t>Co-</a:t>
            </a:r>
            <a:r>
              <a:rPr dirty="0" spc="-30"/>
              <a:t>occurrence</a:t>
            </a:r>
            <a:r>
              <a:rPr dirty="0" spc="-60"/>
              <a:t> </a:t>
            </a:r>
            <a:r>
              <a:rPr dirty="0" spc="-25"/>
              <a:t>Matrix</a:t>
            </a:r>
            <a:r>
              <a:rPr dirty="0" spc="-75"/>
              <a:t> </a:t>
            </a:r>
            <a:r>
              <a:rPr dirty="0"/>
              <a:t>-</a:t>
            </a:r>
            <a:r>
              <a:rPr dirty="0" spc="-65"/>
              <a:t> </a:t>
            </a:r>
            <a:r>
              <a:rPr dirty="0" spc="-10"/>
              <a:t>GLCM)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62900" y="222504"/>
            <a:ext cx="3846576" cy="3979164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309372" y="4308347"/>
            <a:ext cx="8799830" cy="2413000"/>
            <a:chOff x="309372" y="4308347"/>
            <a:chExt cx="8799830" cy="241300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372" y="4376927"/>
              <a:ext cx="7185659" cy="2343912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95031" y="4308347"/>
              <a:ext cx="1613916" cy="2327148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5155"/>
              </a:lnSpc>
              <a:spcBef>
                <a:spcPts val="105"/>
              </a:spcBef>
            </a:pPr>
            <a:r>
              <a:rPr dirty="0" sz="4400" spc="-90"/>
              <a:t>Texture</a:t>
            </a:r>
            <a:r>
              <a:rPr dirty="0" sz="4400" spc="-140"/>
              <a:t> </a:t>
            </a:r>
            <a:r>
              <a:rPr dirty="0" spc="-35"/>
              <a:t>(Gray</a:t>
            </a:r>
            <a:r>
              <a:rPr dirty="0" spc="-114"/>
              <a:t> </a:t>
            </a:r>
            <a:r>
              <a:rPr dirty="0" spc="-10"/>
              <a:t>Level</a:t>
            </a:r>
            <a:endParaRPr sz="4400"/>
          </a:p>
          <a:p>
            <a:pPr marL="12700">
              <a:lnSpc>
                <a:spcPts val="3235"/>
              </a:lnSpc>
            </a:pPr>
            <a:r>
              <a:rPr dirty="0" spc="-40"/>
              <a:t>Co-</a:t>
            </a:r>
            <a:r>
              <a:rPr dirty="0" spc="-30"/>
              <a:t>occurrence</a:t>
            </a:r>
            <a:r>
              <a:rPr dirty="0" spc="-60"/>
              <a:t> </a:t>
            </a:r>
            <a:r>
              <a:rPr dirty="0" spc="-25"/>
              <a:t>Matrix</a:t>
            </a:r>
            <a:r>
              <a:rPr dirty="0" spc="-75"/>
              <a:t> </a:t>
            </a:r>
            <a:r>
              <a:rPr dirty="0"/>
              <a:t>-</a:t>
            </a:r>
            <a:r>
              <a:rPr dirty="0" spc="-65"/>
              <a:t> </a:t>
            </a:r>
            <a:r>
              <a:rPr dirty="0" spc="-10"/>
              <a:t>GLCM)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59494" y="333756"/>
            <a:ext cx="11694795" cy="6495415"/>
            <a:chOff x="259494" y="333756"/>
            <a:chExt cx="11694795" cy="649541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494" y="1887558"/>
              <a:ext cx="7025504" cy="179514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07680" y="333756"/>
              <a:ext cx="3846576" cy="397916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4555" y="4301136"/>
              <a:ext cx="6523429" cy="1920128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9015" y="6051803"/>
              <a:ext cx="8662416" cy="777237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Dr. Ikram Ullah Khosa</dc:creator>
  <dc:title>CPE415 Digital Image Processing</dc:title>
  <dcterms:created xsi:type="dcterms:W3CDTF">2026-05-01T18:00:22Z</dcterms:created>
  <dcterms:modified xsi:type="dcterms:W3CDTF">2026-05-01T18:00:22Z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2026-05-01T00:00:00Z</vt:filetime>
  </property>
  <property fmtid="{D5CDD505-2E9C-101B-9397-08002B2CF9AE}" pid="5" name="Producer">
    <vt:lpwstr>Microsoft® PowerPoint® for Microsoft 365</vt:lpwstr>
  </property>
</Properties>
</file>