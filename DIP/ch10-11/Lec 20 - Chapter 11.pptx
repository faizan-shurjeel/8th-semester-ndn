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74446"/>
            <a:ext cx="791590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635" y="1487733"/>
            <a:ext cx="7289165" cy="4776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31791" y="2428620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19727" y="1697228"/>
            <a:ext cx="33528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90">
                <a:latin typeface="Trebuchet MS"/>
                <a:cs typeface="Trebuchet MS"/>
              </a:rPr>
              <a:t>Lecture</a:t>
            </a:r>
            <a:r>
              <a:rPr dirty="0" sz="5400" spc="-600">
                <a:latin typeface="Trebuchet MS"/>
                <a:cs typeface="Trebuchet MS"/>
              </a:rPr>
              <a:t> </a:t>
            </a:r>
            <a:r>
              <a:rPr dirty="0" sz="5400" spc="-125">
                <a:latin typeface="Trebuchet MS"/>
                <a:cs typeface="Trebuchet MS"/>
              </a:rPr>
              <a:t>-</a:t>
            </a:r>
            <a:r>
              <a:rPr dirty="0" sz="5400" spc="-570">
                <a:latin typeface="Trebuchet MS"/>
                <a:cs typeface="Trebuchet MS"/>
              </a:rPr>
              <a:t> </a:t>
            </a:r>
            <a:r>
              <a:rPr dirty="0" sz="5400" spc="-25">
                <a:latin typeface="Trebuchet MS"/>
                <a:cs typeface="Trebuchet MS"/>
              </a:rPr>
              <a:t>20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7038" y="3178810"/>
            <a:ext cx="6755765" cy="2330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5400" spc="-235" b="1">
                <a:latin typeface="Trebuchet MS"/>
                <a:cs typeface="Trebuchet MS"/>
              </a:rPr>
              <a:t>Chapter</a:t>
            </a:r>
            <a:r>
              <a:rPr dirty="0" sz="5400" spc="-555" b="1">
                <a:latin typeface="Trebuchet MS"/>
                <a:cs typeface="Trebuchet MS"/>
              </a:rPr>
              <a:t> </a:t>
            </a:r>
            <a:r>
              <a:rPr dirty="0" sz="5400" spc="-295" b="1">
                <a:latin typeface="Trebuchet MS"/>
                <a:cs typeface="Trebuchet MS"/>
              </a:rPr>
              <a:t>11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dirty="0" sz="5400" spc="-254" b="1">
                <a:latin typeface="Trebuchet MS"/>
                <a:cs typeface="Trebuchet MS"/>
              </a:rPr>
              <a:t>FEATURE</a:t>
            </a:r>
            <a:r>
              <a:rPr dirty="0" sz="5400" spc="-570" b="1">
                <a:latin typeface="Trebuchet MS"/>
                <a:cs typeface="Trebuchet MS"/>
              </a:rPr>
              <a:t> </a:t>
            </a:r>
            <a:r>
              <a:rPr dirty="0" sz="5400" spc="-105" b="1">
                <a:latin typeface="Trebuchet MS"/>
                <a:cs typeface="Trebuchet MS"/>
              </a:rPr>
              <a:t>EXTRACTION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Representation</a:t>
            </a:r>
            <a:r>
              <a:rPr dirty="0" spc="-160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7961" y="6423761"/>
            <a:ext cx="3658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dirty="0" sz="1200" spc="-95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dirty="0" sz="1200" spc="-5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767676"/>
                </a:solidFill>
                <a:latin typeface="Trebuchet MS"/>
                <a:cs typeface="Trebuchet MS"/>
              </a:rPr>
              <a:t>Image</a:t>
            </a:r>
            <a:r>
              <a:rPr dirty="0" sz="1200" spc="-25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767676"/>
                </a:solidFill>
                <a:latin typeface="Trebuchet MS"/>
                <a:cs typeface="Trebuchet MS"/>
              </a:rPr>
              <a:t>Processing</a:t>
            </a:r>
            <a:r>
              <a:rPr dirty="0" sz="1200" spc="-7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31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dirty="0" sz="1200" spc="-6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65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dirty="0" sz="1200" spc="-5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dirty="0" sz="1200" spc="-3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35" y="1487733"/>
            <a:ext cx="7629525" cy="318770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10" i="1">
                <a:solidFill>
                  <a:srgbClr val="006FC0"/>
                </a:solidFill>
                <a:latin typeface="Times New Roman"/>
                <a:cs typeface="Times New Roman"/>
              </a:rPr>
              <a:t>Representation</a:t>
            </a:r>
            <a:r>
              <a:rPr dirty="0" sz="3200" spc="-125" i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-8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Description</a:t>
            </a:r>
            <a:endParaRPr sz="32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715"/>
              </a:spcBef>
              <a:buFont typeface="Arial MT"/>
              <a:buChar char="–"/>
              <a:tabLst>
                <a:tab pos="755650" algn="l"/>
              </a:tabLst>
            </a:pPr>
            <a:r>
              <a:rPr dirty="0" sz="2800">
                <a:latin typeface="Times New Roman"/>
                <a:cs typeface="Times New Roman"/>
              </a:rPr>
              <a:t>Representing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regions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2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ways:</a:t>
            </a:r>
            <a:endParaRPr sz="2800">
              <a:latin typeface="Times New Roman"/>
              <a:cs typeface="Times New Roman"/>
            </a:endParaRPr>
          </a:p>
          <a:p>
            <a:pPr lvl="2" marL="1154430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1154430" algn="l"/>
              </a:tabLst>
            </a:pP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their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external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characteristics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(its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boundary):</a:t>
            </a:r>
            <a:endParaRPr sz="2400">
              <a:latin typeface="Times New Roman"/>
              <a:cs typeface="Times New Roman"/>
            </a:endParaRPr>
          </a:p>
          <a:p>
            <a:pPr lvl="3" marL="1609725" indent="-225425">
              <a:lnSpc>
                <a:spcPct val="100000"/>
              </a:lnSpc>
              <a:spcBef>
                <a:spcPts val="509"/>
              </a:spcBef>
              <a:buFont typeface="Arial MT"/>
              <a:buChar char="–"/>
              <a:tabLst>
                <a:tab pos="1609725" algn="l"/>
              </a:tabLst>
            </a:pPr>
            <a:r>
              <a:rPr dirty="0" sz="2000">
                <a:latin typeface="Times New Roman"/>
                <a:cs typeface="Times New Roman"/>
              </a:rPr>
              <a:t>Shape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characteristics</a:t>
            </a:r>
            <a:endParaRPr sz="2000">
              <a:latin typeface="Times New Roman"/>
              <a:cs typeface="Times New Roman"/>
            </a:endParaRPr>
          </a:p>
          <a:p>
            <a:pPr lvl="2" marL="1154430" indent="-227329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1154430" algn="l"/>
              </a:tabLst>
            </a:pP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their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internal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characteristics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(its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region):</a:t>
            </a:r>
            <a:endParaRPr sz="2400">
              <a:latin typeface="Times New Roman"/>
              <a:cs typeface="Times New Roman"/>
            </a:endParaRPr>
          </a:p>
          <a:p>
            <a:pPr lvl="3" marL="1610360" indent="-226060">
              <a:lnSpc>
                <a:spcPct val="100000"/>
              </a:lnSpc>
              <a:spcBef>
                <a:spcPts val="520"/>
              </a:spcBef>
              <a:buFont typeface="Arial MT"/>
              <a:buChar char="–"/>
              <a:tabLst>
                <a:tab pos="1610360" algn="l"/>
              </a:tabLst>
            </a:pPr>
            <a:r>
              <a:rPr dirty="0" sz="2000">
                <a:latin typeface="Times New Roman"/>
                <a:cs typeface="Times New Roman"/>
              </a:rPr>
              <a:t>Regional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properties: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color,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100">
                <a:latin typeface="Times New Roman"/>
                <a:cs typeface="Times New Roman"/>
              </a:rPr>
              <a:t>texture,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  <a:p>
            <a:pPr lvl="2" marL="1154430" indent="-227329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1154430" algn="l"/>
              </a:tabLst>
            </a:pPr>
            <a:r>
              <a:rPr dirty="0" sz="2400" spc="-20">
                <a:latin typeface="Times New Roman"/>
                <a:cs typeface="Times New Roman"/>
              </a:rPr>
              <a:t>Both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Representation</a:t>
            </a:r>
            <a:r>
              <a:rPr dirty="0" spc="-160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7961" y="6423761"/>
            <a:ext cx="3658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dirty="0" sz="1200" spc="-95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dirty="0" sz="1200" spc="-5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767676"/>
                </a:solidFill>
                <a:latin typeface="Trebuchet MS"/>
                <a:cs typeface="Trebuchet MS"/>
              </a:rPr>
              <a:t>Image</a:t>
            </a:r>
            <a:r>
              <a:rPr dirty="0" sz="1200" spc="-25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767676"/>
                </a:solidFill>
                <a:latin typeface="Trebuchet MS"/>
                <a:cs typeface="Trebuchet MS"/>
              </a:rPr>
              <a:t>Processing</a:t>
            </a:r>
            <a:r>
              <a:rPr dirty="0" sz="1200" spc="-7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31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dirty="0" sz="1200" spc="-6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65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dirty="0" sz="1200" spc="-5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dirty="0" sz="1200" spc="-3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pc="-10"/>
              <a:t>Representation</a:t>
            </a:r>
            <a:r>
              <a:rPr dirty="0" spc="-10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 i="1">
                <a:solidFill>
                  <a:srgbClr val="006FC0"/>
                </a:solidFill>
                <a:latin typeface="Times New Roman"/>
                <a:cs typeface="Times New Roman"/>
              </a:rPr>
              <a:t>Description</a:t>
            </a:r>
          </a:p>
          <a:p>
            <a:pPr lvl="1" marL="753745" marR="830580" indent="-284480">
              <a:lnSpc>
                <a:spcPct val="100000"/>
              </a:lnSpc>
              <a:spcBef>
                <a:spcPts val="71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Times New Roman"/>
                <a:cs typeface="Times New Roman"/>
              </a:rPr>
              <a:t>Describes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region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based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selected 	representation:</a:t>
            </a:r>
            <a:endParaRPr sz="2800">
              <a:latin typeface="Times New Roman"/>
              <a:cs typeface="Times New Roman"/>
            </a:endParaRPr>
          </a:p>
          <a:p>
            <a:pPr lvl="2" marL="1154430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1154430" algn="l"/>
              </a:tabLst>
            </a:pPr>
            <a:r>
              <a:rPr dirty="0" sz="2400">
                <a:latin typeface="Times New Roman"/>
                <a:cs typeface="Times New Roman"/>
              </a:rPr>
              <a:t>Representation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&gt;&gt;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boundary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textural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 lvl="2" marL="1154430" marR="5080" indent="-227329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400">
                <a:latin typeface="Times New Roman"/>
                <a:cs typeface="Times New Roman"/>
              </a:rPr>
              <a:t>Description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&gt;&gt;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length,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orientation,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number </a:t>
            </a:r>
            <a:r>
              <a:rPr dirty="0" sz="2400" spc="-25">
                <a:latin typeface="Times New Roman"/>
                <a:cs typeface="Times New Roman"/>
              </a:rPr>
              <a:t>of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concavities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boundary,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statistical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measures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of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region.</a:t>
            </a:r>
            <a:endParaRPr sz="24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725"/>
              </a:spcBef>
              <a:buFont typeface="Arial MT"/>
              <a:buChar char="•"/>
            </a:pPr>
            <a:endParaRPr sz="2400"/>
          </a:p>
          <a:p>
            <a:pPr lvl="3" marL="1726564" indent="-342265">
              <a:lnSpc>
                <a:spcPct val="100000"/>
              </a:lnSpc>
              <a:buFont typeface="Arial MT"/>
              <a:buChar char="•"/>
              <a:tabLst>
                <a:tab pos="1726564" algn="l"/>
              </a:tabLst>
            </a:pPr>
            <a:r>
              <a:rPr dirty="0" sz="2400">
                <a:latin typeface="Times New Roman"/>
                <a:cs typeface="Times New Roman"/>
              </a:rPr>
              <a:t>Invariant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Description:</a:t>
            </a:r>
            <a:endParaRPr sz="2400">
              <a:latin typeface="Times New Roman"/>
              <a:cs typeface="Times New Roman"/>
            </a:endParaRPr>
          </a:p>
          <a:p>
            <a:pPr lvl="4" marL="2125980" indent="-284480">
              <a:lnSpc>
                <a:spcPct val="100000"/>
              </a:lnSpc>
              <a:spcBef>
                <a:spcPts val="715"/>
              </a:spcBef>
              <a:buFont typeface="Arial MT"/>
              <a:buChar char="–"/>
              <a:tabLst>
                <a:tab pos="2125980" algn="l"/>
              </a:tabLst>
            </a:pPr>
            <a:r>
              <a:rPr dirty="0" sz="2000">
                <a:latin typeface="Times New Roman"/>
                <a:cs typeface="Times New Roman"/>
              </a:rPr>
              <a:t>Size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(Scaling)</a:t>
            </a:r>
            <a:endParaRPr sz="2000">
              <a:latin typeface="Times New Roman"/>
              <a:cs typeface="Times New Roman"/>
            </a:endParaRPr>
          </a:p>
          <a:p>
            <a:pPr lvl="4" marL="2125980" indent="-284480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2125980" algn="l"/>
              </a:tabLst>
            </a:pPr>
            <a:r>
              <a:rPr dirty="0" sz="2000" spc="-10">
                <a:latin typeface="Times New Roman"/>
                <a:cs typeface="Times New Roman"/>
              </a:rPr>
              <a:t>Translation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485" y="6327444"/>
            <a:ext cx="117665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10">
                <a:latin typeface="Arial MT"/>
                <a:cs typeface="Arial MT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Rotation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Representation</a:t>
            </a:r>
            <a:r>
              <a:rPr dirty="0" spc="-160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8522" y="1095315"/>
            <a:ext cx="5626100" cy="509905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solidFill>
                  <a:srgbClr val="006FC0"/>
                </a:solidFill>
                <a:latin typeface="Times New Roman"/>
                <a:cs typeface="Times New Roman"/>
              </a:rPr>
              <a:t>Boundary-based</a:t>
            </a:r>
            <a:r>
              <a:rPr dirty="0" sz="3200" spc="-9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006FC0"/>
                </a:solidFill>
                <a:latin typeface="Times New Roman"/>
                <a:cs typeface="Times New Roman"/>
              </a:rPr>
              <a:t>Descriptors</a:t>
            </a:r>
            <a:endParaRPr sz="32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720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>
                <a:solidFill>
                  <a:srgbClr val="006FC0"/>
                </a:solidFill>
                <a:latin typeface="Times New Roman"/>
                <a:cs typeface="Times New Roman"/>
              </a:rPr>
              <a:t>Freeman</a:t>
            </a: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6FC0"/>
                </a:solidFill>
                <a:latin typeface="Times New Roman"/>
                <a:cs typeface="Times New Roman"/>
              </a:rPr>
              <a:t>chain</a:t>
            </a:r>
            <a:r>
              <a:rPr dirty="0" sz="2400" spc="-2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006FC0"/>
                </a:solidFill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705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Signature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>
                <a:solidFill>
                  <a:srgbClr val="006FC0"/>
                </a:solidFill>
                <a:latin typeface="Times New Roman"/>
                <a:cs typeface="Times New Roman"/>
              </a:rPr>
              <a:t>Shape</a:t>
            </a: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 number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ts val="2870"/>
              </a:lnSpc>
              <a:spcBef>
                <a:spcPts val="700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>
                <a:solidFill>
                  <a:srgbClr val="006FC0"/>
                </a:solidFill>
                <a:latin typeface="Times New Roman"/>
                <a:cs typeface="Times New Roman"/>
              </a:rPr>
              <a:t>Fourier </a:t>
            </a:r>
            <a:r>
              <a:rPr dirty="0" sz="2400" spc="-10">
                <a:solidFill>
                  <a:srgbClr val="006FC0"/>
                </a:solidFill>
                <a:latin typeface="Times New Roman"/>
                <a:cs typeface="Times New Roman"/>
              </a:rPr>
              <a:t>descriptor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3829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3200" spc="-10">
                <a:latin typeface="Times New Roman"/>
                <a:cs typeface="Times New Roman"/>
              </a:rPr>
              <a:t>Region-</a:t>
            </a:r>
            <a:r>
              <a:rPr dirty="0" sz="3200">
                <a:latin typeface="Times New Roman"/>
                <a:cs typeface="Times New Roman"/>
              </a:rPr>
              <a:t>based</a:t>
            </a:r>
            <a:r>
              <a:rPr dirty="0" sz="3200" spc="-7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Descriptors</a:t>
            </a:r>
            <a:endParaRPr sz="32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730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>
                <a:latin typeface="Times New Roman"/>
                <a:cs typeface="Times New Roman"/>
              </a:rPr>
              <a:t>Some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basic</a:t>
            </a:r>
            <a:r>
              <a:rPr dirty="0" sz="2400" spc="-10">
                <a:latin typeface="Times New Roman"/>
                <a:cs typeface="Times New Roman"/>
              </a:rPr>
              <a:t> descriptors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 spc="-10">
                <a:latin typeface="Times New Roman"/>
                <a:cs typeface="Times New Roman"/>
              </a:rPr>
              <a:t>Topological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descriptors</a:t>
            </a:r>
            <a:endParaRPr sz="2400">
              <a:latin typeface="Times New Roman"/>
              <a:cs typeface="Times New Roman"/>
            </a:endParaRPr>
          </a:p>
          <a:p>
            <a:pPr lvl="1" marL="753745" indent="-283845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3745" algn="l"/>
              </a:tabLst>
            </a:pPr>
            <a:r>
              <a:rPr dirty="0" sz="2400" spc="-10">
                <a:latin typeface="Times New Roman"/>
                <a:cs typeface="Times New Roman"/>
              </a:rPr>
              <a:t>Texture</a:t>
            </a:r>
            <a:endParaRPr sz="2400">
              <a:latin typeface="Times New Roman"/>
              <a:cs typeface="Times New Roman"/>
            </a:endParaRPr>
          </a:p>
          <a:p>
            <a:pPr lvl="2" marL="12700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1270000" algn="l"/>
              </a:tabLst>
            </a:pPr>
            <a:r>
              <a:rPr dirty="0" sz="2000">
                <a:latin typeface="Times New Roman"/>
                <a:cs typeface="Times New Roman"/>
              </a:rPr>
              <a:t>Statistical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approaches</a:t>
            </a:r>
            <a:endParaRPr sz="2000">
              <a:latin typeface="Times New Roman"/>
              <a:cs typeface="Times New Roman"/>
            </a:endParaRPr>
          </a:p>
          <a:p>
            <a:pPr lvl="2" marL="1270000" indent="-3429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1270000" algn="l"/>
              </a:tabLst>
            </a:pPr>
            <a:r>
              <a:rPr dirty="0" sz="2000">
                <a:latin typeface="Times New Roman"/>
                <a:cs typeface="Times New Roman"/>
              </a:rPr>
              <a:t>Gray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level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Co-occurrence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Matrix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(GLCM)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Moore</a:t>
            </a:r>
            <a:r>
              <a:rPr dirty="0" spc="-185"/>
              <a:t> </a:t>
            </a:r>
            <a:r>
              <a:rPr dirty="0" spc="-10"/>
              <a:t>Boundary</a:t>
            </a:r>
            <a:r>
              <a:rPr dirty="0" spc="-190"/>
              <a:t> </a:t>
            </a:r>
            <a:r>
              <a:rPr dirty="0" spc="-80"/>
              <a:t>Tracing</a:t>
            </a:r>
            <a:r>
              <a:rPr dirty="0" spc="-160"/>
              <a:t> </a:t>
            </a:r>
            <a:r>
              <a:rPr dirty="0" spc="-1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453" y="1723451"/>
            <a:ext cx="8822090" cy="37466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Moore</a:t>
            </a:r>
            <a:r>
              <a:rPr dirty="0" spc="-185"/>
              <a:t> </a:t>
            </a:r>
            <a:r>
              <a:rPr dirty="0" spc="-10"/>
              <a:t>Boundary</a:t>
            </a:r>
            <a:r>
              <a:rPr dirty="0" spc="-190"/>
              <a:t> </a:t>
            </a:r>
            <a:r>
              <a:rPr dirty="0" spc="-80"/>
              <a:t>Tracing</a:t>
            </a:r>
            <a:r>
              <a:rPr dirty="0" spc="-160"/>
              <a:t> </a:t>
            </a:r>
            <a:r>
              <a:rPr dirty="0" spc="-1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2284476"/>
            <a:ext cx="10952988" cy="16901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436" y="4168140"/>
            <a:ext cx="8836236" cy="9526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Moore</a:t>
            </a:r>
            <a:r>
              <a:rPr dirty="0" spc="-185"/>
              <a:t> </a:t>
            </a:r>
            <a:r>
              <a:rPr dirty="0" spc="-10"/>
              <a:t>Boundary</a:t>
            </a:r>
            <a:r>
              <a:rPr dirty="0" spc="-190"/>
              <a:t> </a:t>
            </a:r>
            <a:r>
              <a:rPr dirty="0" spc="-80"/>
              <a:t>Tracing</a:t>
            </a:r>
            <a:r>
              <a:rPr dirty="0" spc="-160"/>
              <a:t> </a:t>
            </a:r>
            <a:r>
              <a:rPr dirty="0" spc="-1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5016" y="2164079"/>
            <a:ext cx="6307835" cy="20299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3621" y="4356322"/>
            <a:ext cx="6979797" cy="9281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Freeman</a:t>
            </a:r>
            <a:r>
              <a:rPr dirty="0" spc="-215"/>
              <a:t> </a:t>
            </a:r>
            <a:r>
              <a:rPr dirty="0"/>
              <a:t>Chain</a:t>
            </a:r>
            <a:r>
              <a:rPr dirty="0" spc="-204"/>
              <a:t> </a:t>
            </a:r>
            <a:r>
              <a:rPr dirty="0" spc="-2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8564" y="2419884"/>
            <a:ext cx="4317492" cy="20097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5343" y="2453951"/>
            <a:ext cx="1568512" cy="18863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Freeman</a:t>
            </a:r>
            <a:r>
              <a:rPr dirty="0" spc="-215"/>
              <a:t> </a:t>
            </a:r>
            <a:r>
              <a:rPr dirty="0"/>
              <a:t>Chain</a:t>
            </a:r>
            <a:r>
              <a:rPr dirty="0" spc="-204"/>
              <a:t> </a:t>
            </a:r>
            <a:r>
              <a:rPr dirty="0" spc="-2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0" y="2347282"/>
            <a:ext cx="5355336" cy="23527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48416" y="2365229"/>
            <a:ext cx="1506041" cy="24217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Freeman</a:t>
            </a:r>
            <a:r>
              <a:rPr dirty="0" spc="-215"/>
              <a:t> </a:t>
            </a:r>
            <a:r>
              <a:rPr dirty="0"/>
              <a:t>Chain</a:t>
            </a:r>
            <a:r>
              <a:rPr dirty="0" spc="-204"/>
              <a:t> </a:t>
            </a:r>
            <a:r>
              <a:rPr dirty="0" spc="-20"/>
              <a:t>Code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00783" y="1143424"/>
            <a:ext cx="8373109" cy="5715000"/>
            <a:chOff x="1700783" y="1143424"/>
            <a:chExt cx="8373109" cy="5715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5259" y="1143424"/>
              <a:ext cx="6919055" cy="45783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0783" y="5759194"/>
              <a:ext cx="8372856" cy="1098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28574"/>
            <a:ext cx="11623040" cy="1297305"/>
          </a:xfrm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20"/>
              </a:spcBef>
            </a:pPr>
            <a:r>
              <a:rPr dirty="0" spc="-10"/>
              <a:t>Boundary</a:t>
            </a:r>
            <a:r>
              <a:rPr dirty="0" spc="-190"/>
              <a:t> </a:t>
            </a:r>
            <a:r>
              <a:rPr dirty="0" spc="-45"/>
              <a:t>Approximation</a:t>
            </a:r>
            <a:r>
              <a:rPr dirty="0" spc="-180"/>
              <a:t> </a:t>
            </a:r>
            <a:r>
              <a:rPr dirty="0"/>
              <a:t>using</a:t>
            </a:r>
            <a:r>
              <a:rPr dirty="0" spc="-165"/>
              <a:t> </a:t>
            </a:r>
            <a:r>
              <a:rPr dirty="0" spc="-10"/>
              <a:t>Minimum</a:t>
            </a:r>
            <a:r>
              <a:rPr dirty="0" spc="-170"/>
              <a:t> </a:t>
            </a:r>
            <a:r>
              <a:rPr dirty="0" spc="-10"/>
              <a:t>Perimeter </a:t>
            </a:r>
            <a:r>
              <a:rPr dirty="0" spc="-40"/>
              <a:t>Polygon</a:t>
            </a:r>
            <a:r>
              <a:rPr dirty="0" spc="-190"/>
              <a:t> </a:t>
            </a:r>
            <a:r>
              <a:rPr dirty="0" spc="-10"/>
              <a:t>(MPP)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9286" y="1671124"/>
            <a:ext cx="7813427" cy="32284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7786" y="5064724"/>
            <a:ext cx="8670824" cy="8916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28574"/>
            <a:ext cx="11623040" cy="1297305"/>
          </a:xfrm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20"/>
              </a:spcBef>
            </a:pPr>
            <a:r>
              <a:rPr dirty="0" spc="-10"/>
              <a:t>Boundary</a:t>
            </a:r>
            <a:r>
              <a:rPr dirty="0" spc="-190"/>
              <a:t> </a:t>
            </a:r>
            <a:r>
              <a:rPr dirty="0" spc="-45"/>
              <a:t>Approximation</a:t>
            </a:r>
            <a:r>
              <a:rPr dirty="0" spc="-180"/>
              <a:t> </a:t>
            </a:r>
            <a:r>
              <a:rPr dirty="0"/>
              <a:t>using</a:t>
            </a:r>
            <a:r>
              <a:rPr dirty="0" spc="-165"/>
              <a:t> </a:t>
            </a:r>
            <a:r>
              <a:rPr dirty="0" spc="-10"/>
              <a:t>Minimum</a:t>
            </a:r>
            <a:r>
              <a:rPr dirty="0" spc="-170"/>
              <a:t> </a:t>
            </a:r>
            <a:r>
              <a:rPr dirty="0" spc="-10"/>
              <a:t>Perimeter </a:t>
            </a:r>
            <a:r>
              <a:rPr dirty="0" spc="-40"/>
              <a:t>Polygon</a:t>
            </a:r>
            <a:r>
              <a:rPr dirty="0" spc="-190"/>
              <a:t> </a:t>
            </a:r>
            <a:r>
              <a:rPr dirty="0" spc="-10"/>
              <a:t>(MPP)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23" y="1530316"/>
            <a:ext cx="8445552" cy="3487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0804" y="5195315"/>
            <a:ext cx="9183624" cy="15255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28574"/>
            <a:ext cx="11623040" cy="1297305"/>
          </a:xfrm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20"/>
              </a:spcBef>
            </a:pPr>
            <a:r>
              <a:rPr dirty="0" spc="-10"/>
              <a:t>Boundary</a:t>
            </a:r>
            <a:r>
              <a:rPr dirty="0" spc="-190"/>
              <a:t> </a:t>
            </a:r>
            <a:r>
              <a:rPr dirty="0" spc="-45"/>
              <a:t>Approximation</a:t>
            </a:r>
            <a:r>
              <a:rPr dirty="0" spc="-180"/>
              <a:t> </a:t>
            </a:r>
            <a:r>
              <a:rPr dirty="0"/>
              <a:t>using</a:t>
            </a:r>
            <a:r>
              <a:rPr dirty="0" spc="-165"/>
              <a:t> </a:t>
            </a:r>
            <a:r>
              <a:rPr dirty="0" spc="-10"/>
              <a:t>Minimum</a:t>
            </a:r>
            <a:r>
              <a:rPr dirty="0" spc="-170"/>
              <a:t> </a:t>
            </a:r>
            <a:r>
              <a:rPr dirty="0" spc="-10"/>
              <a:t>Perimeter </a:t>
            </a:r>
            <a:r>
              <a:rPr dirty="0" spc="-40"/>
              <a:t>Polygon</a:t>
            </a:r>
            <a:r>
              <a:rPr dirty="0" spc="-190"/>
              <a:t> </a:t>
            </a:r>
            <a:r>
              <a:rPr dirty="0" spc="-10"/>
              <a:t>(MPP)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06523" y="1491632"/>
            <a:ext cx="9202420" cy="5366385"/>
            <a:chOff x="1906523" y="1491632"/>
            <a:chExt cx="9202420" cy="5366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4816" y="1491632"/>
              <a:ext cx="7799258" cy="38747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6523" y="5402578"/>
              <a:ext cx="9201912" cy="145541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70128"/>
            <a:ext cx="23717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Signatures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679" y="1722120"/>
            <a:ext cx="5649468" cy="33696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843" y="1737629"/>
            <a:ext cx="1504777" cy="31019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70128"/>
            <a:ext cx="23717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Signatures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9383" y="1354836"/>
            <a:ext cx="6667500" cy="44074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5332" y="1385523"/>
            <a:ext cx="1582333" cy="34830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Shape</a:t>
            </a:r>
            <a:r>
              <a:rPr dirty="0" spc="-210"/>
              <a:t> </a:t>
            </a:r>
            <a:r>
              <a:rPr dirty="0"/>
              <a:t>Number</a:t>
            </a:r>
            <a:r>
              <a:rPr dirty="0" spc="-190"/>
              <a:t> </a:t>
            </a:r>
            <a:r>
              <a:rPr dirty="0" sz="2800" spc="-25"/>
              <a:t>(Boundary</a:t>
            </a:r>
            <a:r>
              <a:rPr dirty="0" sz="2800" spc="-114"/>
              <a:t> </a:t>
            </a:r>
            <a:r>
              <a:rPr dirty="0" sz="2800" spc="-35"/>
              <a:t>Feature</a:t>
            </a:r>
            <a:r>
              <a:rPr dirty="0" sz="2800" spc="-125"/>
              <a:t> </a:t>
            </a:r>
            <a:r>
              <a:rPr dirty="0" sz="2800" spc="-10"/>
              <a:t>Descriptors)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9391" y="1635180"/>
            <a:ext cx="4905900" cy="40478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0151" y="1678907"/>
            <a:ext cx="1330833" cy="15074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Shape</a:t>
            </a:r>
            <a:r>
              <a:rPr dirty="0" spc="-210"/>
              <a:t> </a:t>
            </a:r>
            <a:r>
              <a:rPr dirty="0"/>
              <a:t>Number</a:t>
            </a:r>
            <a:r>
              <a:rPr dirty="0" spc="-190"/>
              <a:t> </a:t>
            </a:r>
            <a:r>
              <a:rPr dirty="0" sz="2800" spc="-25"/>
              <a:t>(Boundary</a:t>
            </a:r>
            <a:r>
              <a:rPr dirty="0" sz="2800" spc="-114"/>
              <a:t> </a:t>
            </a:r>
            <a:r>
              <a:rPr dirty="0" sz="2800" spc="-35"/>
              <a:t>Feature</a:t>
            </a:r>
            <a:r>
              <a:rPr dirty="0" sz="2800" spc="-125"/>
              <a:t> </a:t>
            </a:r>
            <a:r>
              <a:rPr dirty="0" sz="2800" spc="-10"/>
              <a:t>Descriptors)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1164336"/>
            <a:ext cx="3742521" cy="49162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0681" y="1731337"/>
            <a:ext cx="1400185" cy="12986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Fourier</a:t>
            </a:r>
            <a:r>
              <a:rPr dirty="0" spc="-215"/>
              <a:t> </a:t>
            </a:r>
            <a:r>
              <a:rPr dirty="0" spc="-20"/>
              <a:t>Descriptor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4308" y="1263396"/>
            <a:ext cx="1874519" cy="2590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6185" y="1946994"/>
            <a:ext cx="2681826" cy="27395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32120" y="2011935"/>
            <a:ext cx="1421464" cy="22071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00" y="2807499"/>
            <a:ext cx="2261160" cy="5579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747" y="3849115"/>
            <a:ext cx="2259704" cy="5262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344" y="4967223"/>
            <a:ext cx="2258678" cy="5262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31209" y="4923282"/>
            <a:ext cx="19856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>
                <a:latin typeface="Trebuchet MS"/>
                <a:cs typeface="Trebuchet MS"/>
              </a:rPr>
              <a:t>(IDFT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P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75">
                <a:latin typeface="Trebuchet MS"/>
                <a:cs typeface="Trebuchet MS"/>
              </a:rPr>
              <a:t>fourier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Coefficients)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31209" y="3929633"/>
            <a:ext cx="607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latin typeface="Trebuchet MS"/>
                <a:cs typeface="Trebuchet MS"/>
              </a:rPr>
              <a:t>(IDFT)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1845" y="2859151"/>
            <a:ext cx="547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>
                <a:latin typeface="Trebuchet MS"/>
                <a:cs typeface="Trebuchet MS"/>
              </a:rPr>
              <a:t>(DFT)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28574"/>
            <a:ext cx="2364105" cy="1297305"/>
          </a:xfrm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20"/>
              </a:spcBef>
            </a:pPr>
            <a:r>
              <a:rPr dirty="0" spc="-10"/>
              <a:t>Fourier </a:t>
            </a:r>
            <a:r>
              <a:rPr dirty="0" spc="-40"/>
              <a:t>Descriptor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5423" y="546298"/>
            <a:ext cx="7485077" cy="47123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5544" y="5379719"/>
            <a:ext cx="8820912" cy="14782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Fourier</a:t>
            </a:r>
            <a:r>
              <a:rPr dirty="0" spc="-215"/>
              <a:t> </a:t>
            </a:r>
            <a:r>
              <a:rPr dirty="0" spc="-20"/>
              <a:t>Descriptor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4308" y="1263396"/>
            <a:ext cx="1874519" cy="2590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6185" y="1946994"/>
            <a:ext cx="2681826" cy="27395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32120" y="2011935"/>
            <a:ext cx="1421464" cy="22071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00" y="2807499"/>
            <a:ext cx="2261160" cy="5579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747" y="3849115"/>
            <a:ext cx="2259704" cy="5262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344" y="4967223"/>
            <a:ext cx="2258678" cy="5262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31209" y="4923282"/>
            <a:ext cx="19856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>
                <a:latin typeface="Trebuchet MS"/>
                <a:cs typeface="Trebuchet MS"/>
              </a:rPr>
              <a:t>(IDFT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P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75">
                <a:latin typeface="Trebuchet MS"/>
                <a:cs typeface="Trebuchet MS"/>
              </a:rPr>
              <a:t>fourier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Coefficients)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31209" y="3929633"/>
            <a:ext cx="607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latin typeface="Trebuchet MS"/>
                <a:cs typeface="Trebuchet MS"/>
              </a:rPr>
              <a:t>(IDFT)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1845" y="2859151"/>
            <a:ext cx="547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>
                <a:latin typeface="Trebuchet MS"/>
                <a:cs typeface="Trebuchet MS"/>
              </a:rPr>
              <a:t>(DFT)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Ikram Ullah Khosa</dc:creator>
  <dc:title>CPE415 Digital Image Processing</dc:title>
  <dcterms:created xsi:type="dcterms:W3CDTF">2026-05-01T18:00:03Z</dcterms:created>
  <dcterms:modified xsi:type="dcterms:W3CDTF">2026-05-01T18:00:03Z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2024-05-23T00:00:00Z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2026-05-01T00:00:00Z</vt:filetime>
  </property>
  <property fmtid="{D5CDD505-2E9C-101B-9397-08002B2CF9AE}" pid="6" name="Producer">
    <vt:lpwstr>Microsoft® PowerPoint® for Microsoft 365</vt:lpwstr>
  </property>
</Properties>
</file>